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4"/>
  </p:sldMasterIdLst>
  <p:notesMasterIdLst>
    <p:notesMasterId r:id="rId16"/>
  </p:notesMasterIdLst>
  <p:sldIdLst>
    <p:sldId id="295" r:id="rId5"/>
    <p:sldId id="361" r:id="rId6"/>
    <p:sldId id="354" r:id="rId7"/>
    <p:sldId id="362" r:id="rId8"/>
    <p:sldId id="357" r:id="rId9"/>
    <p:sldId id="350" r:id="rId10"/>
    <p:sldId id="360" r:id="rId11"/>
    <p:sldId id="358" r:id="rId12"/>
    <p:sldId id="359" r:id="rId13"/>
    <p:sldId id="355" r:id="rId14"/>
    <p:sldId id="356" r:id="rId15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7"/>
    </p:embeddedFont>
    <p:embeddedFont>
      <p:font typeface="Cambria Math" panose="02040503050406030204" pitchFamily="18" charset="0"/>
      <p:regular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5" orient="horz" pos="1008" userDrawn="1">
          <p15:clr>
            <a:srgbClr val="A4A3A4"/>
          </p15:clr>
        </p15:guide>
        <p15:guide id="7" pos="4921" userDrawn="1">
          <p15:clr>
            <a:srgbClr val="A4A3A4"/>
          </p15:clr>
        </p15:guide>
        <p15:guide id="8" pos="3266" userDrawn="1">
          <p15:clr>
            <a:srgbClr val="A4A3A4"/>
          </p15:clr>
        </p15:guide>
        <p15:guide id="10" orient="horz" pos="1325" userDrawn="1">
          <p15:clr>
            <a:srgbClr val="A4A3A4"/>
          </p15:clr>
        </p15:guide>
        <p15:guide id="14" orient="horz" pos="849" userDrawn="1">
          <p15:clr>
            <a:srgbClr val="A4A3A4"/>
          </p15:clr>
        </p15:guide>
        <p15:guide id="16" orient="horz" pos="2618" userDrawn="1">
          <p15:clr>
            <a:srgbClr val="A4A3A4"/>
          </p15:clr>
        </p15:guide>
        <p15:guide id="17" orient="horz" pos="2867" userDrawn="1">
          <p15:clr>
            <a:srgbClr val="A4A3A4"/>
          </p15:clr>
        </p15:guide>
        <p15:guide id="18" pos="226" userDrawn="1">
          <p15:clr>
            <a:srgbClr val="A4A3A4"/>
          </p15:clr>
        </p15:guide>
        <p15:guide id="19" pos="4377" userDrawn="1">
          <p15:clr>
            <a:srgbClr val="A4A3A4"/>
          </p15:clr>
        </p15:guide>
        <p15:guide id="20" orient="horz" pos="1166" userDrawn="1">
          <p15:clr>
            <a:srgbClr val="A4A3A4"/>
          </p15:clr>
        </p15:guide>
        <p15:guide id="21" orient="horz" pos="3240" userDrawn="1">
          <p15:clr>
            <a:srgbClr val="A4A3A4"/>
          </p15:clr>
        </p15:guide>
        <p15:guide id="22" pos="2767" userDrawn="1">
          <p15:clr>
            <a:srgbClr val="A4A3A4"/>
          </p15:clr>
        </p15:guide>
        <p15:guide id="23" pos="381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7DD8A5-A728-9C7C-F9A6-F26C08135F17}" name="Macdonald, Lucy J" initials="MLJ" userId="S::ade372@abdn.ac.uk::f488a842-baa6-445c-8bd4-613a5949b1d7" providerId="AD"/>
  <p188:author id="{7CAF7BF6-7A11-9674-ED67-4A4149AD6C3E}" name="Law, Karen" initials="LK" userId="S::lls032@abdn.ac.uk::4db01025-f5d7-4169-8d29-d41e4834ac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547"/>
    <a:srgbClr val="593341"/>
    <a:srgbClr val="923038"/>
    <a:srgbClr val="BF2E31"/>
    <a:srgbClr val="E02D2D"/>
    <a:srgbClr val="003F65"/>
    <a:srgbClr val="00457A"/>
    <a:srgbClr val="004E97"/>
    <a:srgbClr val="0056AD"/>
    <a:srgbClr val="005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514"/>
  </p:normalViewPr>
  <p:slideViewPr>
    <p:cSldViewPr snapToGrid="0">
      <p:cViewPr varScale="1">
        <p:scale>
          <a:sx n="198" d="100"/>
          <a:sy n="198" d="100"/>
        </p:scale>
        <p:origin x="684" y="144"/>
      </p:cViewPr>
      <p:guideLst>
        <p:guide orient="horz" pos="3026"/>
        <p:guide orient="horz" pos="1008"/>
        <p:guide pos="4921"/>
        <p:guide pos="3266"/>
        <p:guide orient="horz" pos="1325"/>
        <p:guide orient="horz" pos="849"/>
        <p:guide orient="horz" pos="2618"/>
        <p:guide orient="horz" pos="2867"/>
        <p:guide pos="226"/>
        <p:guide pos="4377"/>
        <p:guide orient="horz" pos="1166"/>
        <p:guide orient="horz" pos="3240"/>
        <p:guide pos="2767"/>
        <p:guide pos="3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4FF7-3648-AA09-3A83-616FE0AE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DC602-FA21-D512-1083-918D656D9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A1B2E-B91E-CDF0-F24F-C3C85089E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8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98B3-7776-D431-46C9-5D26FB42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D9DEF-0C44-FF28-8A6D-2BA389976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A3AE2-E0E7-C91B-CB90-106694700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742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17F6-4B0C-8D69-B62E-CC32F121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48E3B-DF4D-6A25-877D-924514537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0A0A2-C99B-65AF-CD66-0275136B7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2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E86C-5F94-B540-8071-F1A2A659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77811-E452-F531-0974-F7B8E7AD0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70301-6DE1-820D-0A89-8BCF17DF2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718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0C8C-F153-8C80-7EC8-252F13982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0418D-74A4-3002-8715-4638097B0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272E1-7ACC-F8E6-A852-2966F4BA0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64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1A1B-0023-7BDC-167F-ED42C089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63877-D71F-35AA-3D5F-FAAF2C6E4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8556D-A33E-6717-26B9-093C302BF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817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6FDF1-1012-C8B9-6C59-B649C87B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CD803-7B6D-2FA3-1C34-784A9D6D4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F01B5-BD77-1BCE-0534-7A07ED0AC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02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E3CF-C06C-B5A4-367E-D564C4D97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56A2A-FFC5-F851-0FF4-D977F35DE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84064-D20C-81F6-CADA-B5E711149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90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B6A6-9248-707D-CC88-9F8490BB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B953D-A8C5-3919-53C2-15B8F2290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D8C6A-80AE-EA03-F9C4-04A9A0E1D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26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76FB-8EE8-8856-E26B-64627370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B329B-ED20-FB33-DCDE-4D942BC96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53E32-AB82-1342-D076-66F7284B1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4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921616-CEDB-8605-4F34-01BC1E44B671}"/>
              </a:ext>
            </a:extLst>
          </p:cNvPr>
          <p:cNvSpPr txBox="1"/>
          <p:nvPr userDrawn="1"/>
        </p:nvSpPr>
        <p:spPr>
          <a:xfrm>
            <a:off x="295276" y="573637"/>
            <a:ext cx="8448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F1449"/>
                </a:solidFill>
              </a:rPr>
              <a:t>How to use </a:t>
            </a:r>
            <a:r>
              <a:rPr lang="en-GB" sz="2000" dirty="0">
                <a:solidFill>
                  <a:srgbClr val="0F1449"/>
                </a:solidFill>
              </a:rPr>
              <a:t>our PowerPoint template</a:t>
            </a:r>
            <a:endParaRPr lang="en-US" sz="2000" dirty="0">
              <a:solidFill>
                <a:srgbClr val="0F144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EDFD9-FC6E-2F17-9CFC-DD12295FCC8D}"/>
              </a:ext>
            </a:extLst>
          </p:cNvPr>
          <p:cNvSpPr txBox="1"/>
          <p:nvPr/>
        </p:nvSpPr>
        <p:spPr>
          <a:xfrm>
            <a:off x="314326" y="1297537"/>
            <a:ext cx="5391530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867" dirty="0">
                <a:solidFill>
                  <a:srgbClr val="0F1449"/>
                </a:solidFill>
              </a:rPr>
              <a:t>This is an accessible template. Please do not stray from any of the colours used.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GB" sz="1867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b="1" dirty="0">
                <a:solidFill>
                  <a:srgbClr val="0F1449"/>
                </a:solidFill>
              </a:rPr>
              <a:t>How to change a picture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1. Click the picture on the slide, that you wish to replace. The picture frame    will show an outline once selected.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2. Go to the </a:t>
            </a:r>
            <a:r>
              <a:rPr lang="en-GB" sz="1200" b="1" dirty="0">
                <a:solidFill>
                  <a:srgbClr val="0F1449"/>
                </a:solidFill>
              </a:rPr>
              <a:t>Picture Format</a:t>
            </a:r>
            <a:r>
              <a:rPr lang="en-GB" sz="1200" dirty="0">
                <a:solidFill>
                  <a:srgbClr val="0F1449"/>
                </a:solidFill>
              </a:rPr>
              <a:t> tab – located along the top of your window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dirty="0">
                <a:solidFill>
                  <a:srgbClr val="0F1449"/>
                </a:solidFill>
              </a:rPr>
              <a:t>3. Click </a:t>
            </a:r>
            <a:r>
              <a:rPr lang="en-GB" sz="1200" b="1" dirty="0">
                <a:solidFill>
                  <a:srgbClr val="0F1449"/>
                </a:solidFill>
              </a:rPr>
              <a:t>Change Picture</a:t>
            </a:r>
            <a:endParaRPr lang="en-GB" sz="1200" b="0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200" b="0" dirty="0">
                <a:solidFill>
                  <a:srgbClr val="0F1449"/>
                </a:solidFill>
              </a:rPr>
              <a:t>4. From the drop down menu select </a:t>
            </a:r>
            <a:r>
              <a:rPr lang="en-GB" sz="1200" b="1" dirty="0">
                <a:solidFill>
                  <a:srgbClr val="0F1449"/>
                </a:solidFill>
              </a:rPr>
              <a:t>From a file…</a:t>
            </a:r>
            <a:r>
              <a:rPr lang="en-GB" sz="1200" b="0" dirty="0">
                <a:solidFill>
                  <a:srgbClr val="0F1449"/>
                </a:solidFill>
              </a:rPr>
              <a:t> and navigate  to the picture on your computer, that you wish to use.</a:t>
            </a:r>
            <a:endParaRPr lang="en-GB" sz="1200" b="1" dirty="0">
              <a:solidFill>
                <a:srgbClr val="0F1449"/>
              </a:solidFill>
            </a:endParaRP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sz="1867" dirty="0">
                <a:solidFill>
                  <a:srgbClr val="0F1449"/>
                </a:solidFill>
              </a:rPr>
              <a:t> </a:t>
            </a:r>
          </a:p>
          <a:p>
            <a:endParaRPr lang="en-US" sz="1867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BD870E9-9E9D-B9C2-E7ED-78AA868427E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928404" y="3597473"/>
            <a:ext cx="2758395" cy="84694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B577ED3-DB93-4CC9-59D4-E0F4536FF60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4139" y="1993525"/>
            <a:ext cx="2757568" cy="147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8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c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3FD7C8-6591-6AC0-EAB3-CDE70DBC4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63" y="568536"/>
            <a:ext cx="3609837" cy="1535792"/>
          </a:xfrm>
          <a:prstGeom prst="rect">
            <a:avLst/>
          </a:prstGeom>
        </p:spPr>
      </p:pic>
      <p:pic>
        <p:nvPicPr>
          <p:cNvPr id="5" name="Picture 4" descr="Green lights in the sky&#10;&#10;Description automatically generated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1"/>
            <a:ext cx="4328748" cy="402794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8FF3ACE-2EDC-C17C-0E63-50B8A305E974}"/>
              </a:ext>
            </a:extLst>
          </p:cNvPr>
          <p:cNvSpPr txBox="1"/>
          <p:nvPr/>
        </p:nvSpPr>
        <p:spPr>
          <a:xfrm>
            <a:off x="258557" y="1390378"/>
            <a:ext cx="4789714" cy="132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en-US" sz="5000" b="0" dirty="0">
                <a:solidFill>
                  <a:schemeClr val="tx1"/>
                </a:solidFill>
              </a:rPr>
              <a:t>Go</a:t>
            </a:r>
            <a:r>
              <a:rPr lang="en-US" sz="5000" b="1" dirty="0">
                <a:solidFill>
                  <a:schemeClr val="tx1"/>
                </a:solidFill>
              </a:rPr>
              <a:t> Beyond</a:t>
            </a:r>
          </a:p>
          <a:p>
            <a:pPr>
              <a:lnSpc>
                <a:spcPts val="4500"/>
              </a:lnSpc>
            </a:pPr>
            <a:r>
              <a:rPr lang="en-US" sz="5000" b="1" dirty="0">
                <a:solidFill>
                  <a:schemeClr val="tx1"/>
                </a:solidFill>
              </a:rPr>
              <a:t>  Boundaries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2428C7-33A7-3C26-4B51-15FE5D3A298F}"/>
              </a:ext>
            </a:extLst>
          </p:cNvPr>
          <p:cNvGrpSpPr/>
          <p:nvPr/>
        </p:nvGrpSpPr>
        <p:grpSpPr>
          <a:xfrm>
            <a:off x="6389909" y="564417"/>
            <a:ext cx="2206037" cy="1286156"/>
            <a:chOff x="6973622" y="564415"/>
            <a:chExt cx="1622324" cy="10439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5F0E5B-63C6-29A8-3498-586E1A88888E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E61023-286A-E99D-BA06-019201FFBC71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F729B8-41FB-7D6D-AA5F-699CAE24EA9E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8F56B8-4679-BBC0-A8B1-E1FAD3E20DC3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D6D76-8910-F782-7730-80F15F347E3A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477982-DE41-4715-32B6-329DA7EBD574}"/>
              </a:ext>
            </a:extLst>
          </p:cNvPr>
          <p:cNvGrpSpPr/>
          <p:nvPr/>
        </p:nvGrpSpPr>
        <p:grpSpPr>
          <a:xfrm rot="10800000">
            <a:off x="3654041" y="3159389"/>
            <a:ext cx="2735872" cy="1442977"/>
            <a:chOff x="6973622" y="564415"/>
            <a:chExt cx="1622324" cy="10439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7FD06F-0052-0A9F-B503-1335C9958AD0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99FDAA-2913-D6CC-B0D0-4BDFF8EC30A2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93ACB9-44F4-4E0C-615A-EBB817B21066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3C0EAF-5379-0C3D-92BD-A268D884FFF6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BDF492-7BD9-E9B6-502A-4E5B619AE947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67"/>
            </a:p>
          </p:txBody>
        </p:sp>
      </p:grpSp>
    </p:spTree>
    <p:extLst>
      <p:ext uri="{BB962C8B-B14F-4D97-AF65-F5344CB8AC3E}">
        <p14:creationId xmlns:p14="http://schemas.microsoft.com/office/powerpoint/2010/main" val="148488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54">
            <a:extLst>
              <a:ext uri="{FF2B5EF4-FFF2-40B4-BE49-F238E27FC236}">
                <a16:creationId xmlns:a16="http://schemas.microsoft.com/office/drawing/2014/main" id="{21022EE8-9487-F19B-8FED-F26AD3CD1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9" y="2221261"/>
            <a:ext cx="3511317" cy="1937139"/>
          </a:xfrm>
          <a:prstGeom prst="rect">
            <a:avLst/>
          </a:prstGeom>
        </p:spPr>
        <p:txBody>
          <a:bodyPr anchor="t"/>
          <a:lstStyle>
            <a:lvl1pPr>
              <a:lnSpc>
                <a:spcPts val="3825"/>
              </a:lnSpc>
              <a:defRPr/>
            </a:lvl1pPr>
          </a:lstStyle>
          <a:p>
            <a:pPr>
              <a:lnSpc>
                <a:spcPts val="5100"/>
              </a:lnSpc>
            </a:pPr>
            <a:r>
              <a:rPr lang="en-US" sz="3300" b="0" dirty="0">
                <a:solidFill>
                  <a:schemeClr val="tx1"/>
                </a:solidFill>
              </a:rPr>
              <a:t>Title</a:t>
            </a:r>
            <a:endParaRPr lang="en-US" sz="3300" b="1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1C90CCB-4722-4D25-4FA8-FDA1C3408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45614" y="675000"/>
            <a:ext cx="3969737" cy="36924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DE0EF1-2D31-3656-BB42-09B28DF80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02" y="675000"/>
            <a:ext cx="3917411" cy="15482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4D89F58-77A9-CEFB-8FBA-DDEDF7404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00" y="534600"/>
            <a:ext cx="1870382" cy="16334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D784B1A-72F6-9126-C80B-DCE02F3C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139706" y="2733941"/>
            <a:ext cx="1870382" cy="163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9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  <p15:guide id="5" pos="1240">
          <p15:clr>
            <a:srgbClr val="FBAE40"/>
          </p15:clr>
        </p15:guide>
        <p15:guide id="6" pos="4021">
          <p15:clr>
            <a:srgbClr val="FBAE40"/>
          </p15:clr>
        </p15:guide>
        <p15:guide id="7" orient="horz" pos="5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485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C89115-C13B-D5EB-6B6F-7E9181213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96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  <p15:guide id="5" orient="horz" pos="1616">
          <p15:clr>
            <a:srgbClr val="FBAE40"/>
          </p15:clr>
        </p15:guide>
        <p15:guide id="6" orient="horz" pos="8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C3172CFE-7FA6-4B0E-654B-FA106F165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89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6">
          <p15:clr>
            <a:srgbClr val="FBAE40"/>
          </p15:clr>
        </p15:guide>
        <p15:guide id="2" pos="272">
          <p15:clr>
            <a:srgbClr val="FBAE40"/>
          </p15:clr>
        </p15:guide>
        <p15:guide id="3" orient="horz" pos="4035">
          <p15:clr>
            <a:srgbClr val="FBAE40"/>
          </p15:clr>
        </p15:guide>
        <p15:guide id="4" pos="73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11786-CDA1-67C5-BD60-4FA02E06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9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end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7E2B0-D9E8-D83E-AF38-586A0F88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63" y="0"/>
            <a:ext cx="3609837" cy="15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6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lt">
    <p:bg>
      <p:bgPr>
        <a:solidFill>
          <a:srgbClr val="0E4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92EFCC-CF2E-A2D2-D7D9-B0A9434283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C52D8F7E-09E8-26BD-C2F6-417715BF46A8}"/>
              </a:ext>
            </a:extLst>
          </p:cNvPr>
          <p:cNvGrpSpPr/>
          <p:nvPr userDrawn="1"/>
        </p:nvGrpSpPr>
        <p:grpSpPr>
          <a:xfrm>
            <a:off x="2854735" y="831643"/>
            <a:ext cx="1923395" cy="1047136"/>
            <a:chOff x="2854735" y="831643"/>
            <a:chExt cx="1923395" cy="10471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BA26B9-1717-C033-0A59-4B2211D1CE37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00CC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6DBFD7-B56B-75E0-2C49-3CDD73A3945F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00CCCF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D8DEF6-27D4-AE57-B68F-36556D9E8271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00CCCF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28135E2-C088-7A35-48BB-E5DE80513407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00CCCF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A33980-BBD2-BF45-8A05-478208C4D675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00CCCF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CAA420-79F2-D1E7-F814-241061522471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10342A-B19E-983D-A206-936898B6A4F8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00CC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1C363C-E2CD-A3DC-CA9E-D4D4C6ADA52C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00CCCF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3B4330B-0998-9433-5623-B62043F72A84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00CCCF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B134D6-A55A-7CCE-A64A-8ADD920AB841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00CCCF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4F952A-312F-3105-3F3A-56A22A46418F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00CCCF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1E9037-0277-8BB8-0559-4F6A93CEAA11}"/>
              </a:ext>
            </a:extLst>
          </p:cNvPr>
          <p:cNvGrpSpPr/>
          <p:nvPr userDrawn="1"/>
        </p:nvGrpSpPr>
        <p:grpSpPr>
          <a:xfrm>
            <a:off x="14749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82AD1E-9523-8A00-454A-D37460CAA25A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D7DC96-58CC-5BD3-05F0-5478CA0A5755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51240F-F6F1-56AB-5D89-29E458E1CEC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EA3F7-CA25-7CFD-3C37-80B58D40BEDC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D95E4FA-4ED6-E0C0-455F-8469081F97E3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1518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66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Daybreak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FBCB3B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FBCB3B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09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43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Heritage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75E0AA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80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o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7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Google Shape;186;p31">
            <a:extLst>
              <a:ext uri="{FF2B5EF4-FFF2-40B4-BE49-F238E27FC236}">
                <a16:creationId xmlns:a16="http://schemas.microsoft.com/office/drawing/2014/main" id="{4D4F6D7B-5AAF-9440-001C-C5A64F44BE22}"/>
              </a:ext>
            </a:extLst>
          </p:cNvPr>
          <p:cNvSpPr txBox="1">
            <a:spLocks/>
          </p:cNvSpPr>
          <p:nvPr userDrawn="1"/>
        </p:nvSpPr>
        <p:spPr>
          <a:xfrm>
            <a:off x="3719883" y="1224936"/>
            <a:ext cx="4277804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This is body test set at Arial Regular at 14pt.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Within the title you can use bold for emphasis, please use it selectively for greater effectiveness. </a:t>
            </a:r>
            <a:endParaRPr lang="en-GB" sz="1400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Text is presented in white on our foundation coloured backgrounds, this is Midnight foundation.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ea typeface="Navigo Light" panose="02070503070706040303" pitchFamily="18" charset="77"/>
                <a:cs typeface="Arial" panose="020B0604020202020204" pitchFamily="34" charset="0"/>
              </a:rPr>
              <a:t>These fonts sizes have been used to ensure best legibility when presenting on screen. </a:t>
            </a:r>
            <a:endParaRPr lang="en-GB" sz="14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Navigo Light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4" name="Google Shape;185;p31">
            <a:extLst>
              <a:ext uri="{FF2B5EF4-FFF2-40B4-BE49-F238E27FC236}">
                <a16:creationId xmlns:a16="http://schemas.microsoft.com/office/drawing/2014/main" id="{5D445516-44ED-5B5C-EB9B-34C164835319}"/>
              </a:ext>
            </a:extLst>
          </p:cNvPr>
          <p:cNvSpPr txBox="1">
            <a:spLocks/>
          </p:cNvSpPr>
          <p:nvPr userDrawn="1"/>
        </p:nvSpPr>
        <p:spPr>
          <a:xfrm>
            <a:off x="360324" y="1217483"/>
            <a:ext cx="3045027" cy="150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●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F1449"/>
              </a:buClr>
              <a:buSzPts val="1000"/>
              <a:buFont typeface="Montserrat"/>
              <a:buChar char="○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F1449"/>
              </a:buClr>
              <a:buSzPts val="1000"/>
              <a:buFont typeface="Montserrat"/>
              <a:buChar char="■"/>
              <a:defRPr sz="1000" b="0" i="0" u="none" strike="noStrike" cap="none">
                <a:solidFill>
                  <a:srgbClr val="0F1449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Title sits here in Arial </a:t>
            </a: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2400" b="0" i="0" dirty="0">
                <a:solidFill>
                  <a:srgbClr val="00CCCF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Regular at 24pt</a:t>
            </a:r>
          </a:p>
          <a:p>
            <a:pPr marL="0" indent="0">
              <a:lnSpc>
                <a:spcPct val="100000"/>
              </a:lnSpc>
              <a:spcBef>
                <a:spcPts val="1000"/>
              </a:spcBef>
              <a:buFont typeface="Montserrat"/>
              <a:buNone/>
            </a:pPr>
            <a:r>
              <a:rPr lang="en-GB" sz="1800" b="0" i="0" dirty="0">
                <a:solidFill>
                  <a:schemeClr val="bg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Subtitle here Arial Regular   at 18pt</a:t>
            </a:r>
            <a:endParaRPr lang="en-GB" sz="891" b="0" i="0" dirty="0">
              <a:solidFill>
                <a:schemeClr val="bg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30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ic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E1D2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2961389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5" name="Picture 4" descr="Green lights in the sky&#10;&#10;Description automatically generated">
            <a:extLst>
              <a:ext uri="{FF2B5EF4-FFF2-40B4-BE49-F238E27FC236}">
                <a16:creationId xmlns:a16="http://schemas.microsoft.com/office/drawing/2014/main" id="{D8998E38-7B7F-0C9A-943A-08547EF31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7201" y="565830"/>
            <a:ext cx="4328748" cy="402794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FFC6B29-86D6-4F54-7A6A-1689EB1FF804}"/>
              </a:ext>
            </a:extLst>
          </p:cNvPr>
          <p:cNvGrpSpPr/>
          <p:nvPr userDrawn="1"/>
        </p:nvGrpSpPr>
        <p:grpSpPr>
          <a:xfrm>
            <a:off x="537166" y="565830"/>
            <a:ext cx="1585548" cy="1121430"/>
            <a:chOff x="5279444" y="0"/>
            <a:chExt cx="1493102" cy="112143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5F02B4-68FE-6BEE-99A5-B7F916FD4109}"/>
                </a:ext>
              </a:extLst>
            </p:cNvPr>
            <p:cNvSpPr/>
            <p:nvPr/>
          </p:nvSpPr>
          <p:spPr>
            <a:xfrm>
              <a:off x="5279446" y="0"/>
              <a:ext cx="1493100" cy="225086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51E83F-87B2-A240-36D4-1889BA983F68}"/>
                </a:ext>
              </a:extLst>
            </p:cNvPr>
            <p:cNvSpPr/>
            <p:nvPr/>
          </p:nvSpPr>
          <p:spPr>
            <a:xfrm>
              <a:off x="5279446" y="223006"/>
              <a:ext cx="1493100" cy="225086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C18A5C-9C4A-BAF3-0688-481D45B892D0}"/>
                </a:ext>
              </a:extLst>
            </p:cNvPr>
            <p:cNvSpPr/>
            <p:nvPr/>
          </p:nvSpPr>
          <p:spPr>
            <a:xfrm>
              <a:off x="5279446" y="448092"/>
              <a:ext cx="1493100" cy="225086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A5338C-89F2-2BB7-59A1-9A5CA3AE96A5}"/>
                </a:ext>
              </a:extLst>
            </p:cNvPr>
            <p:cNvSpPr/>
            <p:nvPr/>
          </p:nvSpPr>
          <p:spPr>
            <a:xfrm>
              <a:off x="5279445" y="671098"/>
              <a:ext cx="1493100" cy="225086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1E8B65-2649-6643-1301-8DE39597E859}"/>
                </a:ext>
              </a:extLst>
            </p:cNvPr>
            <p:cNvSpPr/>
            <p:nvPr/>
          </p:nvSpPr>
          <p:spPr>
            <a:xfrm>
              <a:off x="5279444" y="896344"/>
              <a:ext cx="1493100" cy="225086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04FDFD-F628-003D-8B43-4249C5B51A6D}"/>
              </a:ext>
            </a:extLst>
          </p:cNvPr>
          <p:cNvGrpSpPr/>
          <p:nvPr userDrawn="1"/>
        </p:nvGrpSpPr>
        <p:grpSpPr>
          <a:xfrm>
            <a:off x="2122715" y="566616"/>
            <a:ext cx="2144480" cy="1703600"/>
            <a:chOff x="6770915" y="5295"/>
            <a:chExt cx="2363830" cy="1703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5FD9AE-983D-9734-49E5-C8768A88B551}"/>
                </a:ext>
              </a:extLst>
            </p:cNvPr>
            <p:cNvSpPr/>
            <p:nvPr/>
          </p:nvSpPr>
          <p:spPr>
            <a:xfrm>
              <a:off x="6770921" y="5295"/>
              <a:ext cx="2363824" cy="341274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85D902-8201-A6E6-9737-D8026949B4C2}"/>
                </a:ext>
              </a:extLst>
            </p:cNvPr>
            <p:cNvSpPr/>
            <p:nvPr/>
          </p:nvSpPr>
          <p:spPr>
            <a:xfrm>
              <a:off x="6770921" y="346754"/>
              <a:ext cx="2363824" cy="341274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C3BF7C-541C-CC6C-BF88-014EFB506C37}"/>
                </a:ext>
              </a:extLst>
            </p:cNvPr>
            <p:cNvSpPr/>
            <p:nvPr/>
          </p:nvSpPr>
          <p:spPr>
            <a:xfrm>
              <a:off x="6770921" y="688028"/>
              <a:ext cx="2363824" cy="341274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B1FE648-D5EA-7709-3600-70DEC5ECB645}"/>
                </a:ext>
              </a:extLst>
            </p:cNvPr>
            <p:cNvSpPr/>
            <p:nvPr/>
          </p:nvSpPr>
          <p:spPr>
            <a:xfrm>
              <a:off x="6770918" y="1026347"/>
              <a:ext cx="2363824" cy="341274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B262D2-CBAA-B893-21EC-ADBDCA85B291}"/>
                </a:ext>
              </a:extLst>
            </p:cNvPr>
            <p:cNvSpPr/>
            <p:nvPr/>
          </p:nvSpPr>
          <p:spPr>
            <a:xfrm>
              <a:off x="6770915" y="1367621"/>
              <a:ext cx="2363824" cy="341274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8FF3ACE-2EDC-C17C-0E63-50B8A305E974}"/>
              </a:ext>
            </a:extLst>
          </p:cNvPr>
          <p:cNvSpPr txBox="1"/>
          <p:nvPr userDrawn="1"/>
        </p:nvSpPr>
        <p:spPr>
          <a:xfrm>
            <a:off x="258557" y="1390378"/>
            <a:ext cx="4789714" cy="1325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en-US" sz="5000" b="0" dirty="0">
                <a:solidFill>
                  <a:schemeClr val="bg1"/>
                </a:solidFill>
              </a:rPr>
              <a:t>Go</a:t>
            </a:r>
            <a:r>
              <a:rPr lang="en-US" sz="5000" b="1" dirty="0">
                <a:solidFill>
                  <a:schemeClr val="bg1"/>
                </a:solidFill>
              </a:rPr>
              <a:t> Beyond</a:t>
            </a:r>
          </a:p>
          <a:p>
            <a:pPr>
              <a:lnSpc>
                <a:spcPts val="4500"/>
              </a:lnSpc>
            </a:pPr>
            <a:r>
              <a:rPr lang="en-US" sz="5000" b="1" dirty="0">
                <a:solidFill>
                  <a:schemeClr val="bg1"/>
                </a:solidFill>
              </a:rPr>
              <a:t>  Boundaries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2428C7-33A7-3C26-4B51-15FE5D3A298F}"/>
              </a:ext>
            </a:extLst>
          </p:cNvPr>
          <p:cNvGrpSpPr/>
          <p:nvPr userDrawn="1"/>
        </p:nvGrpSpPr>
        <p:grpSpPr>
          <a:xfrm>
            <a:off x="6389908" y="564416"/>
            <a:ext cx="2206037" cy="1286156"/>
            <a:chOff x="6973622" y="564415"/>
            <a:chExt cx="1622324" cy="104396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5F0E5B-63C6-29A8-3498-586E1A88888E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E61023-286A-E99D-BA06-019201FFBC71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F729B8-41FB-7D6D-AA5F-699CAE24EA9E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08F56B8-4679-BBC0-A8B1-E1FAD3E20DC3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D6D76-8910-F782-7730-80F15F347E3A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C477982-DE41-4715-32B6-329DA7EBD574}"/>
              </a:ext>
            </a:extLst>
          </p:cNvPr>
          <p:cNvGrpSpPr/>
          <p:nvPr userDrawn="1"/>
        </p:nvGrpSpPr>
        <p:grpSpPr>
          <a:xfrm rot="10800000">
            <a:off x="3654040" y="3159388"/>
            <a:ext cx="2735872" cy="1442977"/>
            <a:chOff x="6973622" y="564415"/>
            <a:chExt cx="1622324" cy="104396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7FD06F-0052-0A9F-B503-1335C9958AD0}"/>
                </a:ext>
              </a:extLst>
            </p:cNvPr>
            <p:cNvSpPr/>
            <p:nvPr/>
          </p:nvSpPr>
          <p:spPr>
            <a:xfrm>
              <a:off x="6973624" y="564415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99FDAA-2913-D6CC-B0D0-4BDFF8EC30A2}"/>
                </a:ext>
              </a:extLst>
            </p:cNvPr>
            <p:cNvSpPr/>
            <p:nvPr/>
          </p:nvSpPr>
          <p:spPr>
            <a:xfrm>
              <a:off x="6973624" y="77264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C93ACB9-44F4-4E0C-615A-EBB817B21066}"/>
                </a:ext>
              </a:extLst>
            </p:cNvPr>
            <p:cNvSpPr/>
            <p:nvPr/>
          </p:nvSpPr>
          <p:spPr>
            <a:xfrm>
              <a:off x="6973624" y="982821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03C0EAF-5379-0C3D-92BD-A268D884FFF6}"/>
                </a:ext>
              </a:extLst>
            </p:cNvPr>
            <p:cNvSpPr/>
            <p:nvPr/>
          </p:nvSpPr>
          <p:spPr>
            <a:xfrm>
              <a:off x="6973623" y="1191053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3BDF492-7BD9-E9B6-502A-4E5B619AE947}"/>
                </a:ext>
              </a:extLst>
            </p:cNvPr>
            <p:cNvSpPr/>
            <p:nvPr/>
          </p:nvSpPr>
          <p:spPr>
            <a:xfrm>
              <a:off x="6973622" y="139820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924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nking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514CE09-BA96-869C-06C2-E09AF022505D}"/>
              </a:ext>
            </a:extLst>
          </p:cNvPr>
          <p:cNvGrpSpPr/>
          <p:nvPr userDrawn="1"/>
        </p:nvGrpSpPr>
        <p:grpSpPr>
          <a:xfrm>
            <a:off x="3727066" y="629836"/>
            <a:ext cx="5105880" cy="3865754"/>
            <a:chOff x="3727066" y="629836"/>
            <a:chExt cx="5105880" cy="386575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21F829-81E2-94FA-EE99-EE9F0C91862F}"/>
                </a:ext>
              </a:extLst>
            </p:cNvPr>
            <p:cNvGrpSpPr/>
            <p:nvPr/>
          </p:nvGrpSpPr>
          <p:grpSpPr>
            <a:xfrm>
              <a:off x="3727066" y="630558"/>
              <a:ext cx="1326037" cy="1854495"/>
              <a:chOff x="3727066" y="630558"/>
              <a:chExt cx="1326037" cy="1854495"/>
            </a:xfrm>
          </p:grpSpPr>
          <p:pic>
            <p:nvPicPr>
              <p:cNvPr id="25" name="Picture 24" descr="A map of the united kingdom&#10;&#10;Description automatically generated">
                <a:extLst>
                  <a:ext uri="{FF2B5EF4-FFF2-40B4-BE49-F238E27FC236}">
                    <a16:creationId xmlns:a16="http://schemas.microsoft.com/office/drawing/2014/main" id="{3B9C6297-D67D-91FD-B19E-BF4E4FAB5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854041" y="889191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743E7B6-278A-7FAA-1FCA-DBFF0D1E0A2F}"/>
                  </a:ext>
                </a:extLst>
              </p:cNvPr>
              <p:cNvSpPr txBox="1"/>
              <p:nvPr/>
            </p:nvSpPr>
            <p:spPr>
              <a:xfrm>
                <a:off x="3727066" y="2000305"/>
                <a:ext cx="1326037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13th in the UK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the Guardian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University Guide 2023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1E0A1FE-308D-84A6-FB83-26D4CBFFA63A}"/>
                  </a:ext>
                </a:extLst>
              </p:cNvPr>
              <p:cNvSpPr txBox="1"/>
              <p:nvPr/>
            </p:nvSpPr>
            <p:spPr>
              <a:xfrm>
                <a:off x="3774307" y="630558"/>
                <a:ext cx="12326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UK TOP 20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779D4CB-9C49-4DAC-9D38-127CEDADFAA1}"/>
                </a:ext>
              </a:extLst>
            </p:cNvPr>
            <p:cNvGrpSpPr/>
            <p:nvPr/>
          </p:nvGrpSpPr>
          <p:grpSpPr>
            <a:xfrm>
              <a:off x="5318315" y="630558"/>
              <a:ext cx="1517581" cy="1840060"/>
              <a:chOff x="5296193" y="630558"/>
              <a:chExt cx="1517581" cy="1840060"/>
            </a:xfrm>
          </p:grpSpPr>
          <p:pic>
            <p:nvPicPr>
              <p:cNvPr id="22" name="Picture 21" descr="A white earth with a black background&#10;&#10;Description automatically generated">
                <a:extLst>
                  <a:ext uri="{FF2B5EF4-FFF2-40B4-BE49-F238E27FC236}">
                    <a16:creationId xmlns:a16="http://schemas.microsoft.com/office/drawing/2014/main" id="{33609F23-6D4C-9DB2-952E-85E913C81F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12855" y="889191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632600-EC44-A992-54AD-38CA533DC20E}"/>
                  </a:ext>
                </a:extLst>
              </p:cNvPr>
              <p:cNvSpPr txBox="1"/>
              <p:nvPr/>
            </p:nvSpPr>
            <p:spPr>
              <a:xfrm>
                <a:off x="5303446" y="1985870"/>
                <a:ext cx="1492219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192</a:t>
                </a:r>
                <a:r>
                  <a:rPr lang="en-GB" sz="850" baseline="30000" dirty="0">
                    <a:solidFill>
                      <a:schemeClr val="bg1"/>
                    </a:solidFill>
                    <a:effectLst/>
                    <a:latin typeface="+mn-lt"/>
                  </a:rPr>
                  <a:t>nd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 in the world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the 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Times Higher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Education Ranking 2023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9FC7AC-7B31-7DF1-32B3-6FDC9753D5A3}"/>
                  </a:ext>
                </a:extLst>
              </p:cNvPr>
              <p:cNvSpPr txBox="1"/>
              <p:nvPr/>
            </p:nvSpPr>
            <p:spPr>
              <a:xfrm>
                <a:off x="5296193" y="630558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WORLD TOP 200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20BDD0D-3978-C103-5757-EB20667CD071}"/>
                </a:ext>
              </a:extLst>
            </p:cNvPr>
            <p:cNvGrpSpPr/>
            <p:nvPr/>
          </p:nvGrpSpPr>
          <p:grpSpPr>
            <a:xfrm>
              <a:off x="6788941" y="629836"/>
              <a:ext cx="2044005" cy="1840782"/>
              <a:chOff x="6788941" y="629836"/>
              <a:chExt cx="2044005" cy="1840782"/>
            </a:xfrm>
          </p:grpSpPr>
          <p:pic>
            <p:nvPicPr>
              <p:cNvPr id="19" name="Picture 18" descr="A hand with a thumb up in a circle&#10;&#10;Description automatically generated">
                <a:extLst>
                  <a:ext uri="{FF2B5EF4-FFF2-40B4-BE49-F238E27FC236}">
                    <a16:creationId xmlns:a16="http://schemas.microsoft.com/office/drawing/2014/main" id="{AD3F13E7-FD2E-FE1C-1618-D828D2DC63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274223" y="886352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3425E9-7E60-44F3-E9E5-C2134B7306D5}"/>
                  </a:ext>
                </a:extLst>
              </p:cNvPr>
              <p:cNvSpPr txBox="1"/>
              <p:nvPr/>
            </p:nvSpPr>
            <p:spPr>
              <a:xfrm>
                <a:off x="6788941" y="1985870"/>
                <a:ext cx="2044005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2</a:t>
                </a:r>
                <a:r>
                  <a:rPr lang="en-GB" sz="850" baseline="30000" dirty="0">
                    <a:solidFill>
                      <a:schemeClr val="bg1"/>
                    </a:solidFill>
                    <a:effectLst/>
                    <a:latin typeface="+mn-lt"/>
                  </a:rPr>
                  <a:t>nd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 in Scotland, Wales and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N Ireland for student satisfaction in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the 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National Student Survey 2023</a:t>
                </a:r>
                <a:endParaRPr lang="en-GB" sz="850" dirty="0"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2745DA-2DDE-8A8C-56F2-1E1D1AE73057}"/>
                  </a:ext>
                </a:extLst>
              </p:cNvPr>
              <p:cNvSpPr txBox="1"/>
              <p:nvPr/>
            </p:nvSpPr>
            <p:spPr>
              <a:xfrm>
                <a:off x="7056783" y="629836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SATISFACTION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2ACEF33-44DF-8D8C-0D7A-6885B07C60C4}"/>
                </a:ext>
              </a:extLst>
            </p:cNvPr>
            <p:cNvGrpSpPr/>
            <p:nvPr/>
          </p:nvGrpSpPr>
          <p:grpSpPr>
            <a:xfrm>
              <a:off x="4094921" y="2675918"/>
              <a:ext cx="2244979" cy="1819672"/>
              <a:chOff x="4068187" y="2698040"/>
              <a:chExt cx="2244979" cy="1819672"/>
            </a:xfrm>
          </p:grpSpPr>
          <p:pic>
            <p:nvPicPr>
              <p:cNvPr id="16" name="Picture 15" descr="A white line drawing of a plant with arrows&#10;&#10;Description automatically generated">
                <a:extLst>
                  <a:ext uri="{FF2B5EF4-FFF2-40B4-BE49-F238E27FC236}">
                    <a16:creationId xmlns:a16="http://schemas.microsoft.com/office/drawing/2014/main" id="{A91BCF96-9F72-768D-AA87-C65D8DCDD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49327" y="2942378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702396-D501-726B-6B55-1918BE76DDBF}"/>
                  </a:ext>
                </a:extLst>
              </p:cNvPr>
              <p:cNvSpPr txBox="1"/>
              <p:nvPr/>
            </p:nvSpPr>
            <p:spPr>
              <a:xfrm>
                <a:off x="4068187" y="4032964"/>
                <a:ext cx="2244979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2nd in the UK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for Sustainable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Education in the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OS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Sustainability Rankings 2023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D3F90E-9415-273B-9F01-6B856ACE12F8}"/>
                  </a:ext>
                </a:extLst>
              </p:cNvPr>
              <p:cNvSpPr txBox="1"/>
              <p:nvPr/>
            </p:nvSpPr>
            <p:spPr>
              <a:xfrm>
                <a:off x="4431886" y="2698040"/>
                <a:ext cx="15175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SUSTAINABILITY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C2BEA59-7B62-D435-8388-26A4BD9197FB}"/>
                </a:ext>
              </a:extLst>
            </p:cNvPr>
            <p:cNvGrpSpPr/>
            <p:nvPr/>
          </p:nvGrpSpPr>
          <p:grpSpPr>
            <a:xfrm>
              <a:off x="6161039" y="2675761"/>
              <a:ext cx="1890374" cy="1819828"/>
              <a:chOff x="6043053" y="2697883"/>
              <a:chExt cx="1890374" cy="1819828"/>
            </a:xfrm>
          </p:grpSpPr>
          <p:pic>
            <p:nvPicPr>
              <p:cNvPr id="13" name="Picture 12" descr="A logo of a crown with a leaf&#10;&#10;Description automatically generated">
                <a:extLst>
                  <a:ext uri="{FF2B5EF4-FFF2-40B4-BE49-F238E27FC236}">
                    <a16:creationId xmlns:a16="http://schemas.microsoft.com/office/drawing/2014/main" id="{AE42587C-A166-2078-7B8A-827D0C7B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451382" y="2942378"/>
                <a:ext cx="1082700" cy="1080000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6F7E28-68E0-85DC-4D0C-C2B36FFBAF5A}"/>
                  </a:ext>
                </a:extLst>
              </p:cNvPr>
              <p:cNvSpPr txBox="1"/>
              <p:nvPr/>
            </p:nvSpPr>
            <p:spPr>
              <a:xfrm>
                <a:off x="6043053" y="4032963"/>
                <a:ext cx="1890374" cy="484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Queen's Anniversary Prize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for research and teaching </a:t>
                </a:r>
              </a:p>
              <a:p>
                <a:pPr algn="ctr"/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in Soil</a:t>
                </a:r>
                <a:r>
                  <a:rPr lang="en-GB" sz="850" dirty="0">
                    <a:solidFill>
                      <a:schemeClr val="bg1"/>
                    </a:solidFill>
                    <a:latin typeface="+mn-lt"/>
                  </a:rPr>
                  <a:t> </a:t>
                </a:r>
                <a:r>
                  <a:rPr lang="en-GB" sz="850" dirty="0">
                    <a:solidFill>
                      <a:schemeClr val="bg1"/>
                    </a:solidFill>
                    <a:effectLst/>
                    <a:latin typeface="+mn-lt"/>
                  </a:rPr>
                  <a:t>Science in 2021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A745DA-8566-A311-5DDF-BB45B898466A}"/>
                  </a:ext>
                </a:extLst>
              </p:cNvPr>
              <p:cNvSpPr txBox="1"/>
              <p:nvPr/>
            </p:nvSpPr>
            <p:spPr>
              <a:xfrm>
                <a:off x="6233940" y="2697883"/>
                <a:ext cx="151758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</a:rPr>
                  <a:t>AWARD-WINNING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0823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Commitments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99396-0193-15E2-0999-743BA5DA0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80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4ED55598-9E4C-4799-CAFF-F984B129BFD6}"/>
              </a:ext>
            </a:extLst>
          </p:cNvPr>
          <p:cNvGrpSpPr/>
          <p:nvPr userDrawn="1"/>
        </p:nvGrpSpPr>
        <p:grpSpPr>
          <a:xfrm>
            <a:off x="14368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542A0A5-6C36-7B24-5BC9-B30236E699A7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B4E52B1-2CE9-88D9-0C4A-15BFBA52B64F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BA3A26-FBCE-1468-224F-C463D474ACF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0374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692206-8547-96E9-F70B-CAF34DB0FF41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0374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EC3F97-45AE-5D0A-D138-DAEC19E93664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0374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A208B6A8-09B6-6B63-3825-0EC7588E98D3}"/>
              </a:ext>
            </a:extLst>
          </p:cNvPr>
          <p:cNvSpPr/>
          <p:nvPr/>
        </p:nvSpPr>
        <p:spPr>
          <a:xfrm>
            <a:off x="2854737" y="831643"/>
            <a:ext cx="1923393" cy="210174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A593BB-761F-5A77-0842-0025488DEF5B}"/>
              </a:ext>
            </a:extLst>
          </p:cNvPr>
          <p:cNvSpPr/>
          <p:nvPr/>
        </p:nvSpPr>
        <p:spPr>
          <a:xfrm>
            <a:off x="2854737" y="1039875"/>
            <a:ext cx="1923393" cy="210174"/>
          </a:xfrm>
          <a:prstGeom prst="rect">
            <a:avLst/>
          </a:prstGeom>
          <a:solidFill>
            <a:srgbClr val="005BBE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575238-D78B-B687-3FEC-21494BB5C7EF}"/>
              </a:ext>
            </a:extLst>
          </p:cNvPr>
          <p:cNvSpPr/>
          <p:nvPr/>
        </p:nvSpPr>
        <p:spPr>
          <a:xfrm>
            <a:off x="2854737" y="1250049"/>
            <a:ext cx="1923393" cy="210174"/>
          </a:xfrm>
          <a:prstGeom prst="rect">
            <a:avLst/>
          </a:prstGeom>
          <a:solidFill>
            <a:srgbClr val="005BBE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7C3AE1-C98F-5C19-DBC3-AEB0CA7B2897}"/>
              </a:ext>
            </a:extLst>
          </p:cNvPr>
          <p:cNvSpPr/>
          <p:nvPr/>
        </p:nvSpPr>
        <p:spPr>
          <a:xfrm>
            <a:off x="2854736" y="1458281"/>
            <a:ext cx="1923393" cy="210174"/>
          </a:xfrm>
          <a:prstGeom prst="rect">
            <a:avLst/>
          </a:prstGeom>
          <a:solidFill>
            <a:srgbClr val="005BBE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644305-1EA2-D606-8B47-EEF858F97279}"/>
              </a:ext>
            </a:extLst>
          </p:cNvPr>
          <p:cNvSpPr/>
          <p:nvPr/>
        </p:nvSpPr>
        <p:spPr>
          <a:xfrm>
            <a:off x="2854735" y="1668605"/>
            <a:ext cx="1923393" cy="210174"/>
          </a:xfrm>
          <a:prstGeom prst="rect">
            <a:avLst/>
          </a:prstGeom>
          <a:solidFill>
            <a:srgbClr val="005BBE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1996E15-E1F4-CB65-7CA3-87148CA46AD5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DF63502-78E0-FC0E-E2B2-9E61893CE4D8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005B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868D851-D5A4-EA11-9F9A-001642A8481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005BB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B3F5CFD-B825-F0E2-0470-E8F31621422C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005BBE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298BF61-8420-0BF4-8A30-6F861F86054C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005BBE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C82DF77-FA60-75F4-5BD1-5DCC006843E3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005BBE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1314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clu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DD088-2380-E231-BEC6-402661F62A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81575" y="831346"/>
            <a:ext cx="2880035" cy="343268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5A4E1DA0-F040-E6FE-D33D-6469E0CB9FC3}"/>
              </a:ext>
            </a:extLst>
          </p:cNvPr>
          <p:cNvGrpSpPr/>
          <p:nvPr userDrawn="1"/>
        </p:nvGrpSpPr>
        <p:grpSpPr>
          <a:xfrm>
            <a:off x="4569369" y="831643"/>
            <a:ext cx="1923395" cy="1047136"/>
            <a:chOff x="2854735" y="831643"/>
            <a:chExt cx="1923395" cy="10471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750BC8-3750-9678-E6FD-FFDA1FB61596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F261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1B83B9-40C0-8407-4D20-E549D6D21879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F261B4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7F31FC-0FC1-F22F-13C8-8B074A6C6E5E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F261B4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BAC644-9BB7-376F-F04E-D08DEB5D19E4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F261B4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4AFE28-9BB1-98D3-C36C-6DC20337BC11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F261B4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00FDA1-7462-2F30-E7EF-69B3FFB9EC6C}"/>
              </a:ext>
            </a:extLst>
          </p:cNvPr>
          <p:cNvGrpSpPr/>
          <p:nvPr userDrawn="1"/>
        </p:nvGrpSpPr>
        <p:grpSpPr>
          <a:xfrm>
            <a:off x="6492762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6AED2F-4A7A-3327-559B-33F5591272C0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F261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C217BC-C96D-84EA-308D-ABEB8B665C61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F261B4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01CF5D-EC15-A507-351D-748B339544C9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F261B4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15B0C4-4AAF-9B98-B678-9C6A898EEDC0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F261B4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374826-74BC-8C57-F484-A47F191E362C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F261B4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84ECCA-95CD-7590-6888-9C5F1FB6DD4E}"/>
              </a:ext>
            </a:extLst>
          </p:cNvPr>
          <p:cNvGrpSpPr/>
          <p:nvPr userDrawn="1"/>
        </p:nvGrpSpPr>
        <p:grpSpPr>
          <a:xfrm>
            <a:off x="6239286" y="3294582"/>
            <a:ext cx="1622324" cy="1043961"/>
            <a:chOff x="1436881" y="3294582"/>
            <a:chExt cx="1622324" cy="104396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698D838-D4E7-1D0E-37B6-5733F7EA1154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3923D7-9058-5108-9B9A-548C6FC14AB9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35B1E2-13FA-2999-7640-EABB2D7DBA54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BEFBFD6-973D-7CEC-99C5-E0A46370FFC9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B427D68-B263-BE7C-8302-C4F863429294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234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terdisciplin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A652B-756D-EAE5-270C-A7E13A259A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5" y="831346"/>
            <a:ext cx="2880035" cy="343267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658B205-57B0-5A95-C135-581A9A3C9C0E}"/>
              </a:ext>
            </a:extLst>
          </p:cNvPr>
          <p:cNvGrpSpPr/>
          <p:nvPr userDrawn="1"/>
        </p:nvGrpSpPr>
        <p:grpSpPr>
          <a:xfrm>
            <a:off x="2854735" y="831643"/>
            <a:ext cx="1923395" cy="1047136"/>
            <a:chOff x="2854735" y="831643"/>
            <a:chExt cx="1923395" cy="10471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870405A-5A10-E32F-B1DF-9D6F85679E2B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BDEDE2-3BB4-D61C-63FE-84E0C9BDD2E3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C56CF3-95D3-FA3C-9EA8-36872A2147C6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D4FBF6-3419-0E49-1BE3-7B8C0CC71727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B44D22-A455-1F5F-8356-5830C844E0CC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4495B9-B632-AF69-47C6-B15A4A6930C4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F184E5-D263-E208-9BD9-CBF7B26B3EE5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75E0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A68C379-F895-F40E-6ADB-F97551889EB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75E0AA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5FA9BA-1755-7CD0-E230-AB4C22B9585E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75E0AA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F46940-B6F5-CBEF-57DC-0EF2C8D40898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75E0AA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12F2A5-6821-3BB1-0048-FCBEB3D5EAED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75E0AA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2CAF25-B409-659B-7E08-474F8EF3CE25}"/>
              </a:ext>
            </a:extLst>
          </p:cNvPr>
          <p:cNvGrpSpPr/>
          <p:nvPr userDrawn="1"/>
        </p:nvGrpSpPr>
        <p:grpSpPr>
          <a:xfrm>
            <a:off x="1474981" y="3294582"/>
            <a:ext cx="1622324" cy="1043961"/>
            <a:chOff x="1436881" y="3294582"/>
            <a:chExt cx="1622324" cy="104396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155C39-FB34-988C-30AA-45BEDB7CFE40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D09629-53F5-A463-B12B-D180C1BE1498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852152A-C23C-90A8-F3EE-F22AAF95E75C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8352A3-0827-D052-1312-AFAEF5A29FB8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E2E423-8FD9-E581-A71E-37FC76DF234F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2365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Internati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DA6F7-E086-E889-501C-0CD0F3FF16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374" y="831346"/>
            <a:ext cx="2880035" cy="34326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6B5B56-5008-B84B-7015-48CD599CDB74}"/>
              </a:ext>
            </a:extLst>
          </p:cNvPr>
          <p:cNvSpPr/>
          <p:nvPr/>
        </p:nvSpPr>
        <p:spPr>
          <a:xfrm>
            <a:off x="2854737" y="831643"/>
            <a:ext cx="1923393" cy="210174"/>
          </a:xfrm>
          <a:prstGeom prst="rect">
            <a:avLst/>
          </a:prstGeom>
          <a:solidFill>
            <a:srgbClr val="FF8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3D534-4CD2-F0E4-6ABC-990C9A709645}"/>
              </a:ext>
            </a:extLst>
          </p:cNvPr>
          <p:cNvSpPr/>
          <p:nvPr/>
        </p:nvSpPr>
        <p:spPr>
          <a:xfrm>
            <a:off x="2854737" y="1039875"/>
            <a:ext cx="1923393" cy="210174"/>
          </a:xfrm>
          <a:prstGeom prst="rect">
            <a:avLst/>
          </a:prstGeom>
          <a:solidFill>
            <a:srgbClr val="FF8048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053EDE-2033-558C-06CC-8E9EF6748D3F}"/>
              </a:ext>
            </a:extLst>
          </p:cNvPr>
          <p:cNvSpPr/>
          <p:nvPr/>
        </p:nvSpPr>
        <p:spPr>
          <a:xfrm>
            <a:off x="2854737" y="1250049"/>
            <a:ext cx="1923393" cy="210174"/>
          </a:xfrm>
          <a:prstGeom prst="rect">
            <a:avLst/>
          </a:prstGeom>
          <a:solidFill>
            <a:srgbClr val="FF8048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36B004-CBF5-2D40-E550-E1C90B9A3467}"/>
              </a:ext>
            </a:extLst>
          </p:cNvPr>
          <p:cNvSpPr/>
          <p:nvPr/>
        </p:nvSpPr>
        <p:spPr>
          <a:xfrm>
            <a:off x="2854736" y="1458281"/>
            <a:ext cx="1923393" cy="210174"/>
          </a:xfrm>
          <a:prstGeom prst="rect">
            <a:avLst/>
          </a:prstGeom>
          <a:solidFill>
            <a:srgbClr val="FF8048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BD37AB-71D3-202F-FCB6-CAAE444804F0}"/>
              </a:ext>
            </a:extLst>
          </p:cNvPr>
          <p:cNvSpPr/>
          <p:nvPr/>
        </p:nvSpPr>
        <p:spPr>
          <a:xfrm>
            <a:off x="2854735" y="1668605"/>
            <a:ext cx="1923393" cy="210174"/>
          </a:xfrm>
          <a:prstGeom prst="rect">
            <a:avLst/>
          </a:prstGeom>
          <a:solidFill>
            <a:srgbClr val="FF8048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BA61F2B-4069-59E7-CE74-DC7D83D957C1}"/>
              </a:ext>
            </a:extLst>
          </p:cNvPr>
          <p:cNvGrpSpPr/>
          <p:nvPr userDrawn="1"/>
        </p:nvGrpSpPr>
        <p:grpSpPr>
          <a:xfrm>
            <a:off x="2025867" y="708025"/>
            <a:ext cx="828870" cy="625263"/>
            <a:chOff x="2025867" y="708025"/>
            <a:chExt cx="828870" cy="6252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049166A-1836-41AA-A68D-40D81C315122}"/>
                </a:ext>
              </a:extLst>
            </p:cNvPr>
            <p:cNvSpPr/>
            <p:nvPr/>
          </p:nvSpPr>
          <p:spPr>
            <a:xfrm>
              <a:off x="2025869" y="708025"/>
              <a:ext cx="828868" cy="125256"/>
            </a:xfrm>
            <a:prstGeom prst="rect">
              <a:avLst/>
            </a:prstGeom>
            <a:solidFill>
              <a:srgbClr val="FF80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455626-2347-B826-31AE-50B4C11B3347}"/>
                </a:ext>
              </a:extLst>
            </p:cNvPr>
            <p:cNvSpPr/>
            <p:nvPr/>
          </p:nvSpPr>
          <p:spPr>
            <a:xfrm>
              <a:off x="2025869" y="834514"/>
              <a:ext cx="828868" cy="125256"/>
            </a:xfrm>
            <a:prstGeom prst="rect">
              <a:avLst/>
            </a:prstGeom>
            <a:solidFill>
              <a:srgbClr val="FF8048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3E59CF-E332-772C-8C1B-0985798CA848}"/>
                </a:ext>
              </a:extLst>
            </p:cNvPr>
            <p:cNvSpPr/>
            <p:nvPr/>
          </p:nvSpPr>
          <p:spPr>
            <a:xfrm>
              <a:off x="2025869" y="959770"/>
              <a:ext cx="828868" cy="125256"/>
            </a:xfrm>
            <a:prstGeom prst="rect">
              <a:avLst/>
            </a:prstGeom>
            <a:solidFill>
              <a:srgbClr val="FF8048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5F94F4-CFC6-DD75-6597-10656F0A3A33}"/>
                </a:ext>
              </a:extLst>
            </p:cNvPr>
            <p:cNvSpPr/>
            <p:nvPr/>
          </p:nvSpPr>
          <p:spPr>
            <a:xfrm>
              <a:off x="2025868" y="1082776"/>
              <a:ext cx="828868" cy="125256"/>
            </a:xfrm>
            <a:prstGeom prst="rect">
              <a:avLst/>
            </a:prstGeom>
            <a:solidFill>
              <a:srgbClr val="FF8048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FA27EE-3375-3FF1-1AEC-FAFB58A24FFA}"/>
                </a:ext>
              </a:extLst>
            </p:cNvPr>
            <p:cNvSpPr/>
            <p:nvPr/>
          </p:nvSpPr>
          <p:spPr>
            <a:xfrm>
              <a:off x="2025867" y="1208032"/>
              <a:ext cx="828868" cy="125256"/>
            </a:xfrm>
            <a:prstGeom prst="rect">
              <a:avLst/>
            </a:prstGeom>
            <a:solidFill>
              <a:srgbClr val="FF8048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FB9D4-7052-F0F1-982B-11548AB0D453}"/>
              </a:ext>
            </a:extLst>
          </p:cNvPr>
          <p:cNvSpPr/>
          <p:nvPr/>
        </p:nvSpPr>
        <p:spPr>
          <a:xfrm rot="10800000">
            <a:off x="1436881" y="4128369"/>
            <a:ext cx="1622322" cy="210174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2BBB8A-CB64-2A12-8EB4-33EE9B458BAB}"/>
              </a:ext>
            </a:extLst>
          </p:cNvPr>
          <p:cNvSpPr/>
          <p:nvPr/>
        </p:nvSpPr>
        <p:spPr>
          <a:xfrm rot="10800000">
            <a:off x="1436881" y="3920137"/>
            <a:ext cx="1622322" cy="210174"/>
          </a:xfrm>
          <a:prstGeom prst="rect">
            <a:avLst/>
          </a:prstGeom>
          <a:solidFill>
            <a:srgbClr val="00374E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826A63-0E3D-171C-CE2C-D9DB93CC6D17}"/>
              </a:ext>
            </a:extLst>
          </p:cNvPr>
          <p:cNvSpPr/>
          <p:nvPr/>
        </p:nvSpPr>
        <p:spPr>
          <a:xfrm rot="10800000">
            <a:off x="1436881" y="3709963"/>
            <a:ext cx="1622322" cy="210174"/>
          </a:xfrm>
          <a:prstGeom prst="rect">
            <a:avLst/>
          </a:prstGeom>
          <a:solidFill>
            <a:srgbClr val="00374E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585883-AE07-E8EE-6709-A943C07C23EE}"/>
              </a:ext>
            </a:extLst>
          </p:cNvPr>
          <p:cNvSpPr/>
          <p:nvPr/>
        </p:nvSpPr>
        <p:spPr>
          <a:xfrm rot="10800000">
            <a:off x="1436882" y="3501731"/>
            <a:ext cx="1622322" cy="210174"/>
          </a:xfrm>
          <a:prstGeom prst="rect">
            <a:avLst/>
          </a:prstGeom>
          <a:solidFill>
            <a:srgbClr val="00374E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1767ED-65D0-1A18-BBE0-C036C3F4CD20}"/>
              </a:ext>
            </a:extLst>
          </p:cNvPr>
          <p:cNvSpPr/>
          <p:nvPr/>
        </p:nvSpPr>
        <p:spPr>
          <a:xfrm rot="10800000">
            <a:off x="1436883" y="3294582"/>
            <a:ext cx="1622322" cy="210174"/>
          </a:xfrm>
          <a:prstGeom prst="rect">
            <a:avLst/>
          </a:prstGeom>
          <a:solidFill>
            <a:srgbClr val="00374E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7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40 Sustain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7F1A11A-DAF2-7F78-B58D-EB5D4BB5A0D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F911D-EEDB-3E34-0325-AB82619EE5EF}"/>
              </a:ext>
            </a:extLst>
          </p:cNvPr>
          <p:cNvSpPr txBox="1"/>
          <p:nvPr userDrawn="1"/>
        </p:nvSpPr>
        <p:spPr>
          <a:xfrm>
            <a:off x="8009371" y="357965"/>
            <a:ext cx="77585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750" b="1" dirty="0">
                <a:solidFill>
                  <a:schemeClr val="bg1"/>
                </a:solidFill>
              </a:rPr>
              <a:t>ABERDEEN 2040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42F75C-AFAE-D11D-C0ED-28B3467E34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06"/>
          <a:stretch/>
        </p:blipFill>
        <p:spPr>
          <a:xfrm>
            <a:off x="4972825" y="831346"/>
            <a:ext cx="2887469" cy="343267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2B90A9C-A8D0-C8B2-51D7-8A7D5BBDAA54}"/>
              </a:ext>
            </a:extLst>
          </p:cNvPr>
          <p:cNvGrpSpPr/>
          <p:nvPr userDrawn="1"/>
        </p:nvGrpSpPr>
        <p:grpSpPr>
          <a:xfrm>
            <a:off x="6667365" y="831643"/>
            <a:ext cx="1622323" cy="1047136"/>
            <a:chOff x="2854735" y="831643"/>
            <a:chExt cx="1923395" cy="104713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79EC5E8-7641-B4C1-EFD9-F7E6ADDBDD35}"/>
                </a:ext>
              </a:extLst>
            </p:cNvPr>
            <p:cNvSpPr/>
            <p:nvPr/>
          </p:nvSpPr>
          <p:spPr>
            <a:xfrm>
              <a:off x="2854737" y="831643"/>
              <a:ext cx="1923393" cy="210174"/>
            </a:xfrm>
            <a:prstGeom prst="rect">
              <a:avLst/>
            </a:prstGeom>
            <a:solidFill>
              <a:srgbClr val="FBC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CC0F15D-8865-E3AA-F338-0F1BB5F37035}"/>
                </a:ext>
              </a:extLst>
            </p:cNvPr>
            <p:cNvSpPr/>
            <p:nvPr/>
          </p:nvSpPr>
          <p:spPr>
            <a:xfrm>
              <a:off x="2854737" y="1039875"/>
              <a:ext cx="1923393" cy="210174"/>
            </a:xfrm>
            <a:prstGeom prst="rect">
              <a:avLst/>
            </a:prstGeom>
            <a:solidFill>
              <a:srgbClr val="FBCB3B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A36A56F-FAD0-D1BF-9BDF-9C7CD525CF92}"/>
                </a:ext>
              </a:extLst>
            </p:cNvPr>
            <p:cNvSpPr/>
            <p:nvPr/>
          </p:nvSpPr>
          <p:spPr>
            <a:xfrm>
              <a:off x="2854737" y="1250049"/>
              <a:ext cx="1923393" cy="210174"/>
            </a:xfrm>
            <a:prstGeom prst="rect">
              <a:avLst/>
            </a:prstGeom>
            <a:solidFill>
              <a:srgbClr val="FBCB3B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F8D0DA-92D7-4992-67C8-4A60E186434B}"/>
                </a:ext>
              </a:extLst>
            </p:cNvPr>
            <p:cNvSpPr/>
            <p:nvPr/>
          </p:nvSpPr>
          <p:spPr>
            <a:xfrm>
              <a:off x="2854736" y="1458281"/>
              <a:ext cx="1923393" cy="210174"/>
            </a:xfrm>
            <a:prstGeom prst="rect">
              <a:avLst/>
            </a:prstGeom>
            <a:solidFill>
              <a:srgbClr val="FBCB3B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ED0655A-E191-6F90-30BB-37FC62958B3C}"/>
                </a:ext>
              </a:extLst>
            </p:cNvPr>
            <p:cNvSpPr/>
            <p:nvPr/>
          </p:nvSpPr>
          <p:spPr>
            <a:xfrm>
              <a:off x="2854735" y="1668605"/>
              <a:ext cx="1923393" cy="210174"/>
            </a:xfrm>
            <a:prstGeom prst="rect">
              <a:avLst/>
            </a:prstGeom>
            <a:solidFill>
              <a:srgbClr val="FBCB3B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6BCCD1D-A4F1-300A-F2EA-5DFB7F5E72C4}"/>
              </a:ext>
            </a:extLst>
          </p:cNvPr>
          <p:cNvGrpSpPr/>
          <p:nvPr userDrawn="1"/>
        </p:nvGrpSpPr>
        <p:grpSpPr>
          <a:xfrm>
            <a:off x="5838495" y="754744"/>
            <a:ext cx="828870" cy="622088"/>
            <a:chOff x="6492762" y="711200"/>
            <a:chExt cx="828870" cy="62208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DACF6B4-C6F1-04A7-A1A5-3358117EF7C1}"/>
                </a:ext>
              </a:extLst>
            </p:cNvPr>
            <p:cNvSpPr/>
            <p:nvPr/>
          </p:nvSpPr>
          <p:spPr>
            <a:xfrm>
              <a:off x="6492764" y="711200"/>
              <a:ext cx="828868" cy="125256"/>
            </a:xfrm>
            <a:prstGeom prst="rect">
              <a:avLst/>
            </a:prstGeom>
            <a:solidFill>
              <a:srgbClr val="FBCB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5EB085-1501-1EC8-D7D4-A6B562D9D061}"/>
                </a:ext>
              </a:extLst>
            </p:cNvPr>
            <p:cNvSpPr/>
            <p:nvPr/>
          </p:nvSpPr>
          <p:spPr>
            <a:xfrm>
              <a:off x="6492764" y="834514"/>
              <a:ext cx="828868" cy="125256"/>
            </a:xfrm>
            <a:prstGeom prst="rect">
              <a:avLst/>
            </a:prstGeom>
            <a:solidFill>
              <a:srgbClr val="FBCB3B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1BCF98D-43F1-DE37-BB76-2400C13B35C9}"/>
                </a:ext>
              </a:extLst>
            </p:cNvPr>
            <p:cNvSpPr/>
            <p:nvPr/>
          </p:nvSpPr>
          <p:spPr>
            <a:xfrm>
              <a:off x="6492764" y="959770"/>
              <a:ext cx="828868" cy="125256"/>
            </a:xfrm>
            <a:prstGeom prst="rect">
              <a:avLst/>
            </a:prstGeom>
            <a:solidFill>
              <a:srgbClr val="FBCB3B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F0EF1E-24FF-260E-C6BE-39B3815F8158}"/>
                </a:ext>
              </a:extLst>
            </p:cNvPr>
            <p:cNvSpPr/>
            <p:nvPr/>
          </p:nvSpPr>
          <p:spPr>
            <a:xfrm>
              <a:off x="6492763" y="1082776"/>
              <a:ext cx="828868" cy="125256"/>
            </a:xfrm>
            <a:prstGeom prst="rect">
              <a:avLst/>
            </a:prstGeom>
            <a:solidFill>
              <a:srgbClr val="FBCB3B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AC5CD3-C567-52A4-CAE3-543918012470}"/>
                </a:ext>
              </a:extLst>
            </p:cNvPr>
            <p:cNvSpPr/>
            <p:nvPr/>
          </p:nvSpPr>
          <p:spPr>
            <a:xfrm>
              <a:off x="6492762" y="1208032"/>
              <a:ext cx="828868" cy="125256"/>
            </a:xfrm>
            <a:prstGeom prst="rect">
              <a:avLst/>
            </a:prstGeom>
            <a:solidFill>
              <a:srgbClr val="FBCB3B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20827D-6807-040A-ABC1-65559A21E07D}"/>
              </a:ext>
            </a:extLst>
          </p:cNvPr>
          <p:cNvGrpSpPr/>
          <p:nvPr userDrawn="1"/>
        </p:nvGrpSpPr>
        <p:grpSpPr>
          <a:xfrm>
            <a:off x="6252929" y="3315525"/>
            <a:ext cx="1622324" cy="1043961"/>
            <a:chOff x="1436881" y="3294582"/>
            <a:chExt cx="1622324" cy="104396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C34D72E-BCE5-FFBD-5E1D-B18C24DC4348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00374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B8D7C93-9EAA-83D2-4D47-2610B872F304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00374E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423FDD-7139-7434-6566-53EAAB331D45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0E1D2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47D7794-2B43-826D-94D8-50AEC9DA5C0D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0E1D2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573849E-F1FB-CEBB-1820-F3345812FCDC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0E1D2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4098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  <p15:guide id="5" pos="930" userDrawn="1">
          <p15:clr>
            <a:srgbClr val="FBAE40"/>
          </p15:clr>
        </p15:guide>
        <p15:guide id="6" pos="3016" userDrawn="1">
          <p15:clr>
            <a:srgbClr val="FBAE40"/>
          </p15:clr>
        </p15:guide>
        <p15:guide id="7" orient="horz" pos="441" userDrawn="1">
          <p15:clr>
            <a:srgbClr val="FBAE40"/>
          </p15:clr>
        </p15:guide>
        <p15:guide id="8" orient="horz" pos="268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DD47940-9C71-4E34-0673-47A4692B8CA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7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4E8BEA-C335-69C6-38F0-2C58EA6834CE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9" name="Picture 48" descr="University of Aberdeen Logo">
            <a:extLst>
              <a:ext uri="{FF2B5EF4-FFF2-40B4-BE49-F238E27FC236}">
                <a16:creationId xmlns:a16="http://schemas.microsoft.com/office/drawing/2014/main" id="{8788D448-90AE-367D-8157-E455BA5A0C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0" name="Picture 49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B045225-84D9-CFAA-AC3D-0E364EECB4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pic>
        <p:nvPicPr>
          <p:cNvPr id="46" name="Picture 45" descr="Green lights in the sky&#10;&#10;Description automatically generated">
            <a:extLst>
              <a:ext uri="{FF2B5EF4-FFF2-40B4-BE49-F238E27FC236}">
                <a16:creationId xmlns:a16="http://schemas.microsoft.com/office/drawing/2014/main" id="{0593E3A0-8B56-75EA-0977-489E6C6493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3531" y="551536"/>
            <a:ext cx="6041821" cy="4038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CC8188-7179-9FEC-DB31-05801629423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26" name="Picture 25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3C45CEAE-0A54-B7A9-5CDF-21FFFAA8C4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ACCF8A-ECFE-B2C7-0A4D-3D95067EE32D}"/>
              </a:ext>
            </a:extLst>
          </p:cNvPr>
          <p:cNvSpPr/>
          <p:nvPr/>
        </p:nvSpPr>
        <p:spPr>
          <a:xfrm>
            <a:off x="4631423" y="551536"/>
            <a:ext cx="1964066" cy="22508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067AF-2D18-8513-71EE-53994F7B9B4D}"/>
              </a:ext>
            </a:extLst>
          </p:cNvPr>
          <p:cNvSpPr/>
          <p:nvPr/>
        </p:nvSpPr>
        <p:spPr>
          <a:xfrm>
            <a:off x="4631426" y="774542"/>
            <a:ext cx="1964066" cy="225086"/>
          </a:xfrm>
          <a:prstGeom prst="rect">
            <a:avLst/>
          </a:prstGeom>
          <a:solidFill>
            <a:srgbClr val="00A18C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392FF-C132-F5EA-155E-E00C3196C451}"/>
              </a:ext>
            </a:extLst>
          </p:cNvPr>
          <p:cNvSpPr/>
          <p:nvPr/>
        </p:nvSpPr>
        <p:spPr>
          <a:xfrm>
            <a:off x="4631425" y="999628"/>
            <a:ext cx="1964066" cy="225086"/>
          </a:xfrm>
          <a:prstGeom prst="rect">
            <a:avLst/>
          </a:prstGeom>
          <a:solidFill>
            <a:srgbClr val="00A18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3641C3-12DA-DC45-25A9-4429FD9A7EA1}"/>
              </a:ext>
            </a:extLst>
          </p:cNvPr>
          <p:cNvSpPr/>
          <p:nvPr/>
        </p:nvSpPr>
        <p:spPr>
          <a:xfrm>
            <a:off x="4631422" y="1222634"/>
            <a:ext cx="1964066" cy="225086"/>
          </a:xfrm>
          <a:prstGeom prst="rect">
            <a:avLst/>
          </a:prstGeom>
          <a:solidFill>
            <a:srgbClr val="00A18C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813C0A-A98A-E9D2-398E-28367C9C61AF}"/>
              </a:ext>
            </a:extLst>
          </p:cNvPr>
          <p:cNvSpPr/>
          <p:nvPr/>
        </p:nvSpPr>
        <p:spPr>
          <a:xfrm>
            <a:off x="4631422" y="1447880"/>
            <a:ext cx="1964066" cy="225086"/>
          </a:xfrm>
          <a:prstGeom prst="rect">
            <a:avLst/>
          </a:prstGeom>
          <a:solidFill>
            <a:srgbClr val="00A18C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72F5CB5-DE41-826D-3EC7-8248E970611B}"/>
              </a:ext>
            </a:extLst>
          </p:cNvPr>
          <p:cNvGrpSpPr/>
          <p:nvPr userDrawn="1"/>
        </p:nvGrpSpPr>
        <p:grpSpPr>
          <a:xfrm>
            <a:off x="6594588" y="551536"/>
            <a:ext cx="1995116" cy="1706775"/>
            <a:chOff x="6599452" y="551536"/>
            <a:chExt cx="1995116" cy="17067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DF56D52-48E1-9A59-5ACB-642D771EE065}"/>
                </a:ext>
              </a:extLst>
            </p:cNvPr>
            <p:cNvSpPr/>
            <p:nvPr/>
          </p:nvSpPr>
          <p:spPr>
            <a:xfrm>
              <a:off x="6599457" y="551536"/>
              <a:ext cx="1995111" cy="341274"/>
            </a:xfrm>
            <a:prstGeom prst="rect">
              <a:avLst/>
            </a:prstGeom>
            <a:solidFill>
              <a:srgbClr val="00A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ECCCA0-07C4-403F-F36D-C66C8984F514}"/>
                </a:ext>
              </a:extLst>
            </p:cNvPr>
            <p:cNvSpPr/>
            <p:nvPr/>
          </p:nvSpPr>
          <p:spPr>
            <a:xfrm>
              <a:off x="6599457" y="892995"/>
              <a:ext cx="1995111" cy="341274"/>
            </a:xfrm>
            <a:prstGeom prst="rect">
              <a:avLst/>
            </a:prstGeom>
            <a:solidFill>
              <a:srgbClr val="00A18C">
                <a:alpha val="8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42D6A1-0F76-2128-1CE3-E3094BB6E9D6}"/>
                </a:ext>
              </a:extLst>
            </p:cNvPr>
            <p:cNvSpPr/>
            <p:nvPr/>
          </p:nvSpPr>
          <p:spPr>
            <a:xfrm>
              <a:off x="6599457" y="1233344"/>
              <a:ext cx="1995111" cy="341274"/>
            </a:xfrm>
            <a:prstGeom prst="rect">
              <a:avLst/>
            </a:prstGeom>
            <a:solidFill>
              <a:srgbClr val="00A18C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8EC9345-70C5-B3BD-C941-EA066E190A30}"/>
                </a:ext>
              </a:extLst>
            </p:cNvPr>
            <p:cNvSpPr/>
            <p:nvPr/>
          </p:nvSpPr>
          <p:spPr>
            <a:xfrm>
              <a:off x="6599455" y="1575763"/>
              <a:ext cx="1995111" cy="341274"/>
            </a:xfrm>
            <a:prstGeom prst="rect">
              <a:avLst/>
            </a:prstGeom>
            <a:solidFill>
              <a:srgbClr val="00A18C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B537455-7B84-7431-758D-2EDE1598EA8B}"/>
                </a:ext>
              </a:extLst>
            </p:cNvPr>
            <p:cNvSpPr/>
            <p:nvPr/>
          </p:nvSpPr>
          <p:spPr>
            <a:xfrm>
              <a:off x="6599452" y="1917037"/>
              <a:ext cx="1995111" cy="341274"/>
            </a:xfrm>
            <a:prstGeom prst="rect">
              <a:avLst/>
            </a:prstGeom>
            <a:solidFill>
              <a:srgbClr val="00A18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38C0B0-1145-4A58-EE13-7A236D15449C}"/>
              </a:ext>
            </a:extLst>
          </p:cNvPr>
          <p:cNvGrpSpPr/>
          <p:nvPr userDrawn="1"/>
        </p:nvGrpSpPr>
        <p:grpSpPr>
          <a:xfrm>
            <a:off x="547040" y="2811566"/>
            <a:ext cx="2001609" cy="1778674"/>
            <a:chOff x="1436881" y="3294582"/>
            <a:chExt cx="1622324" cy="104396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7D3523-541F-3365-D794-2ED810BED96A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1427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2F00AFC-306C-46E6-18C8-4763F3B4E521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14273D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37F71C2-197A-B4BE-C1F1-1DB3FEBCAE3E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14273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456DF7B-C689-A66D-48A8-94B67BF4FFEF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14273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D028F9-3CC9-27C2-F0D7-7847603D878E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14273D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AAF58B-C320-999A-374C-1E570E0FB41A}"/>
              </a:ext>
            </a:extLst>
          </p:cNvPr>
          <p:cNvGrpSpPr/>
          <p:nvPr userDrawn="1"/>
        </p:nvGrpSpPr>
        <p:grpSpPr>
          <a:xfrm>
            <a:off x="2548782" y="3711052"/>
            <a:ext cx="2020043" cy="879188"/>
            <a:chOff x="1436881" y="3294582"/>
            <a:chExt cx="1622324" cy="104396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DA8EC87-E805-DDF6-FE3A-F3C45069CD86}"/>
                </a:ext>
              </a:extLst>
            </p:cNvPr>
            <p:cNvSpPr/>
            <p:nvPr/>
          </p:nvSpPr>
          <p:spPr>
            <a:xfrm rot="10800000">
              <a:off x="1436881" y="4128369"/>
              <a:ext cx="1622322" cy="210174"/>
            </a:xfrm>
            <a:prstGeom prst="rect">
              <a:avLst/>
            </a:prstGeom>
            <a:solidFill>
              <a:srgbClr val="1427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6C5F8F-6DBF-F3F5-3220-6B8B7AAD903D}"/>
                </a:ext>
              </a:extLst>
            </p:cNvPr>
            <p:cNvSpPr/>
            <p:nvPr/>
          </p:nvSpPr>
          <p:spPr>
            <a:xfrm rot="10800000">
              <a:off x="1436881" y="3920137"/>
              <a:ext cx="1622322" cy="210174"/>
            </a:xfrm>
            <a:prstGeom prst="rect">
              <a:avLst/>
            </a:prstGeom>
            <a:solidFill>
              <a:srgbClr val="14273D">
                <a:alpha val="8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BF0502-B606-1063-2FB9-36CAFE1FCE06}"/>
                </a:ext>
              </a:extLst>
            </p:cNvPr>
            <p:cNvSpPr/>
            <p:nvPr/>
          </p:nvSpPr>
          <p:spPr>
            <a:xfrm rot="10800000">
              <a:off x="1436881" y="3709963"/>
              <a:ext cx="1622322" cy="210174"/>
            </a:xfrm>
            <a:prstGeom prst="rect">
              <a:avLst/>
            </a:prstGeom>
            <a:solidFill>
              <a:srgbClr val="14273D">
                <a:alpha val="6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059B8ED-214B-91D0-602C-EC29659F3DE3}"/>
                </a:ext>
              </a:extLst>
            </p:cNvPr>
            <p:cNvSpPr/>
            <p:nvPr/>
          </p:nvSpPr>
          <p:spPr>
            <a:xfrm rot="10800000">
              <a:off x="1436882" y="3501731"/>
              <a:ext cx="1622322" cy="210174"/>
            </a:xfrm>
            <a:prstGeom prst="rect">
              <a:avLst/>
            </a:prstGeom>
            <a:solidFill>
              <a:srgbClr val="14273D">
                <a:alpha val="3960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4F7E03A-51BC-D4A2-51DE-F86CA8BD249B}"/>
                </a:ext>
              </a:extLst>
            </p:cNvPr>
            <p:cNvSpPr/>
            <p:nvPr/>
          </p:nvSpPr>
          <p:spPr>
            <a:xfrm rot="10800000">
              <a:off x="1436883" y="3294582"/>
              <a:ext cx="1622322" cy="210174"/>
            </a:xfrm>
            <a:prstGeom prst="rect">
              <a:avLst/>
            </a:prstGeom>
            <a:solidFill>
              <a:srgbClr val="14273D">
                <a:alpha val="2039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CF6AF55-0A72-82E0-3D92-8697C77C2731}"/>
              </a:ext>
            </a:extLst>
          </p:cNvPr>
          <p:cNvSpPr/>
          <p:nvPr/>
        </p:nvSpPr>
        <p:spPr>
          <a:xfrm>
            <a:off x="2587361" y="551774"/>
            <a:ext cx="2044299" cy="10695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CE5915-CD0C-4416-32B3-59031C890729}"/>
              </a:ext>
            </a:extLst>
          </p:cNvPr>
          <p:cNvSpPr/>
          <p:nvPr/>
        </p:nvSpPr>
        <p:spPr>
          <a:xfrm>
            <a:off x="2587361" y="657742"/>
            <a:ext cx="2044299" cy="106956"/>
          </a:xfrm>
          <a:prstGeom prst="rect">
            <a:avLst/>
          </a:prstGeom>
          <a:solidFill>
            <a:srgbClr val="00A18C">
              <a:alpha val="8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61A6EC-CA1E-D068-3B76-A28854F3E7BC}"/>
              </a:ext>
            </a:extLst>
          </p:cNvPr>
          <p:cNvSpPr/>
          <p:nvPr/>
        </p:nvSpPr>
        <p:spPr>
          <a:xfrm>
            <a:off x="2587361" y="764698"/>
            <a:ext cx="2044299" cy="106956"/>
          </a:xfrm>
          <a:prstGeom prst="rect">
            <a:avLst/>
          </a:prstGeom>
          <a:solidFill>
            <a:srgbClr val="00A18C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027E81-796B-4C92-5908-DFAA1EEB101D}"/>
              </a:ext>
            </a:extLst>
          </p:cNvPr>
          <p:cNvSpPr/>
          <p:nvPr/>
        </p:nvSpPr>
        <p:spPr>
          <a:xfrm>
            <a:off x="2587359" y="870665"/>
            <a:ext cx="2044299" cy="106956"/>
          </a:xfrm>
          <a:prstGeom prst="rect">
            <a:avLst/>
          </a:prstGeom>
          <a:solidFill>
            <a:srgbClr val="00A18C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7794C8-FB78-7F55-59EC-B4A97B9B9778}"/>
              </a:ext>
            </a:extLst>
          </p:cNvPr>
          <p:cNvSpPr/>
          <p:nvPr/>
        </p:nvSpPr>
        <p:spPr>
          <a:xfrm>
            <a:off x="2587358" y="977697"/>
            <a:ext cx="2044299" cy="106956"/>
          </a:xfrm>
          <a:prstGeom prst="rect">
            <a:avLst/>
          </a:prstGeom>
          <a:solidFill>
            <a:srgbClr val="00A18C">
              <a:alpha val="203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University of Aberdeen Logo">
            <a:extLst>
              <a:ext uri="{FF2B5EF4-FFF2-40B4-BE49-F238E27FC236}">
                <a16:creationId xmlns:a16="http://schemas.microsoft.com/office/drawing/2014/main" id="{EF5663C9-59AA-7C8D-B9EA-FD404B059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3F05CA4-8EAE-D283-CAEA-706C862A1E42}"/>
              </a:ext>
            </a:extLst>
          </p:cNvPr>
          <p:cNvSpPr txBox="1"/>
          <p:nvPr userDrawn="1"/>
        </p:nvSpPr>
        <p:spPr>
          <a:xfrm>
            <a:off x="4063077" y="1386737"/>
            <a:ext cx="478971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5000"/>
              </a:lnSpc>
            </a:pPr>
            <a:r>
              <a:rPr lang="en-US" sz="4800" b="0" dirty="0">
                <a:solidFill>
                  <a:schemeClr val="bg1"/>
                </a:solidFill>
              </a:rPr>
              <a:t>Ready to start</a:t>
            </a:r>
            <a:r>
              <a:rPr lang="en-US" sz="4800" b="1" dirty="0">
                <a:solidFill>
                  <a:schemeClr val="bg1"/>
                </a:solidFill>
              </a:rPr>
              <a:t> breaking boundaries?</a:t>
            </a:r>
          </a:p>
        </p:txBody>
      </p:sp>
    </p:spTree>
    <p:extLst>
      <p:ext uri="{BB962C8B-B14F-4D97-AF65-F5344CB8AC3E}">
        <p14:creationId xmlns:p14="http://schemas.microsoft.com/office/powerpoint/2010/main" val="86980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2" userDrawn="1">
          <p15:clr>
            <a:srgbClr val="FBAE40"/>
          </p15:clr>
        </p15:guide>
        <p15:guide id="2" pos="204" userDrawn="1">
          <p15:clr>
            <a:srgbClr val="FBAE40"/>
          </p15:clr>
        </p15:guide>
        <p15:guide id="3" orient="horz" pos="3026" userDrawn="1">
          <p15:clr>
            <a:srgbClr val="FBAE40"/>
          </p15:clr>
        </p15:guide>
        <p15:guide id="4" pos="553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486FD-B969-7B6D-7C1D-028FDFB7F86C}"/>
              </a:ext>
            </a:extLst>
          </p:cNvPr>
          <p:cNvSpPr/>
          <p:nvPr userDrawn="1"/>
        </p:nvSpPr>
        <p:spPr>
          <a:xfrm>
            <a:off x="0" y="-532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009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007C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7" y="901106"/>
            <a:ext cx="1493100" cy="225086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00A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0092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007C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64953"/>
            <a:ext cx="2363824" cy="341274"/>
          </a:xfrm>
          <a:prstGeom prst="rect">
            <a:avLst/>
          </a:prstGeom>
          <a:solidFill>
            <a:srgbClr val="004D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8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9C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8508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6613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3E21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392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9C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8A06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710F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511B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64953"/>
            <a:ext cx="2363824" cy="341274"/>
          </a:xfrm>
          <a:prstGeom prst="rect">
            <a:avLst/>
          </a:prstGeom>
          <a:solidFill>
            <a:srgbClr val="3923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38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532E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472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363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113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532E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472F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363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113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5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005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004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0045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003F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005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005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004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0045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003F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7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B9721A0-8ABA-4C85-4B96-7D9481BA82C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A3E1E7-A227-B1EC-61D9-4DDB38E9D2CA}"/>
              </a:ext>
            </a:extLst>
          </p:cNvPr>
          <p:cNvSpPr/>
          <p:nvPr/>
        </p:nvSpPr>
        <p:spPr>
          <a:xfrm>
            <a:off x="5287699" y="0"/>
            <a:ext cx="1493100" cy="225086"/>
          </a:xfrm>
          <a:prstGeom prst="rect">
            <a:avLst/>
          </a:prstGeom>
          <a:solidFill>
            <a:srgbClr val="E0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0681D-117E-4726-C954-DBFF41ECD7E3}"/>
              </a:ext>
            </a:extLst>
          </p:cNvPr>
          <p:cNvSpPr/>
          <p:nvPr/>
        </p:nvSpPr>
        <p:spPr>
          <a:xfrm>
            <a:off x="5287699" y="226182"/>
            <a:ext cx="1493100" cy="225086"/>
          </a:xfrm>
          <a:prstGeom prst="rect">
            <a:avLst/>
          </a:prstGeom>
          <a:solidFill>
            <a:srgbClr val="BF2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F03FE-49A6-1DF4-24BB-D3D81722D21D}"/>
              </a:ext>
            </a:extLst>
          </p:cNvPr>
          <p:cNvSpPr/>
          <p:nvPr/>
        </p:nvSpPr>
        <p:spPr>
          <a:xfrm>
            <a:off x="5287699" y="451268"/>
            <a:ext cx="1493100" cy="225086"/>
          </a:xfrm>
          <a:prstGeom prst="rect">
            <a:avLst/>
          </a:prstGeom>
          <a:solidFill>
            <a:srgbClr val="9230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E26A3-81FF-B2D1-4188-1C48891DDED7}"/>
              </a:ext>
            </a:extLst>
          </p:cNvPr>
          <p:cNvSpPr/>
          <p:nvPr/>
        </p:nvSpPr>
        <p:spPr>
          <a:xfrm>
            <a:off x="5287698" y="675861"/>
            <a:ext cx="1493100" cy="225086"/>
          </a:xfrm>
          <a:prstGeom prst="rect">
            <a:avLst/>
          </a:prstGeom>
          <a:solidFill>
            <a:srgbClr val="593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9D92F9-6A4F-3324-3AB4-71233BCF3892}"/>
              </a:ext>
            </a:extLst>
          </p:cNvPr>
          <p:cNvSpPr/>
          <p:nvPr/>
        </p:nvSpPr>
        <p:spPr>
          <a:xfrm>
            <a:off x="5287698" y="900947"/>
            <a:ext cx="1493100" cy="225086"/>
          </a:xfrm>
          <a:prstGeom prst="rect">
            <a:avLst/>
          </a:prstGeom>
          <a:solidFill>
            <a:srgbClr val="2E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3454-4980-4119-00A6-E856C019BF20}"/>
              </a:ext>
            </a:extLst>
          </p:cNvPr>
          <p:cNvSpPr/>
          <p:nvPr/>
        </p:nvSpPr>
        <p:spPr>
          <a:xfrm>
            <a:off x="6780534" y="532"/>
            <a:ext cx="2363824" cy="341274"/>
          </a:xfrm>
          <a:prstGeom prst="rect">
            <a:avLst/>
          </a:prstGeom>
          <a:solidFill>
            <a:srgbClr val="E0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5BA8-0146-ACD4-A187-7727F18464A5}"/>
              </a:ext>
            </a:extLst>
          </p:cNvPr>
          <p:cNvSpPr/>
          <p:nvPr/>
        </p:nvSpPr>
        <p:spPr>
          <a:xfrm>
            <a:off x="6780534" y="341991"/>
            <a:ext cx="2363824" cy="341274"/>
          </a:xfrm>
          <a:prstGeom prst="rect">
            <a:avLst/>
          </a:prstGeom>
          <a:solidFill>
            <a:srgbClr val="BF2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678A-7553-2498-65E9-1D8FBAC916BF}"/>
              </a:ext>
            </a:extLst>
          </p:cNvPr>
          <p:cNvSpPr/>
          <p:nvPr/>
        </p:nvSpPr>
        <p:spPr>
          <a:xfrm>
            <a:off x="6780534" y="682186"/>
            <a:ext cx="2363824" cy="341274"/>
          </a:xfrm>
          <a:prstGeom prst="rect">
            <a:avLst/>
          </a:prstGeom>
          <a:solidFill>
            <a:srgbClr val="9230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28F4A-2F8C-8C04-B476-D12235D94959}"/>
              </a:ext>
            </a:extLst>
          </p:cNvPr>
          <p:cNvSpPr/>
          <p:nvPr/>
        </p:nvSpPr>
        <p:spPr>
          <a:xfrm>
            <a:off x="6780531" y="1023680"/>
            <a:ext cx="2363824" cy="341274"/>
          </a:xfrm>
          <a:prstGeom prst="rect">
            <a:avLst/>
          </a:prstGeom>
          <a:solidFill>
            <a:srgbClr val="5933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FAB26-A0E3-7DCB-E2EE-B33B2161D6EA}"/>
              </a:ext>
            </a:extLst>
          </p:cNvPr>
          <p:cNvSpPr/>
          <p:nvPr/>
        </p:nvSpPr>
        <p:spPr>
          <a:xfrm>
            <a:off x="6780528" y="1358514"/>
            <a:ext cx="2363824" cy="341274"/>
          </a:xfrm>
          <a:prstGeom prst="rect">
            <a:avLst/>
          </a:prstGeom>
          <a:solidFill>
            <a:srgbClr val="2E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Pink Background Single Header 1 1 1" preserve="1" userDrawn="1">
  <p:cSld name="1_Light Pink Background Single Header 1 1 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9486FD-B969-7B6D-7C1D-028FDFB7F86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1F5EF-E730-F1FE-8A70-48BED3F2A310}"/>
              </a:ext>
            </a:extLst>
          </p:cNvPr>
          <p:cNvSpPr txBox="1"/>
          <p:nvPr userDrawn="1"/>
        </p:nvSpPr>
        <p:spPr>
          <a:xfrm>
            <a:off x="323850" y="357965"/>
            <a:ext cx="1287212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750" b="1" dirty="0">
                <a:solidFill>
                  <a:schemeClr val="bg1"/>
                </a:solidFill>
              </a:rPr>
              <a:t>GO BEYOND BOUNDARIES</a:t>
            </a:r>
            <a:r>
              <a:rPr lang="en-US" sz="750" dirty="0"/>
              <a:t> </a:t>
            </a:r>
          </a:p>
        </p:txBody>
      </p:sp>
      <p:pic>
        <p:nvPicPr>
          <p:cNvPr id="4" name="Picture 3" descr="University of Aberdeen Logo">
            <a:extLst>
              <a:ext uri="{FF2B5EF4-FFF2-40B4-BE49-F238E27FC236}">
                <a16:creationId xmlns:a16="http://schemas.microsoft.com/office/drawing/2014/main" id="{4D5B051F-21D7-961D-8D3B-03A74E7BE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850" y="4409483"/>
            <a:ext cx="1443364" cy="396000"/>
          </a:xfrm>
          <a:prstGeom prst="rect">
            <a:avLst/>
          </a:prstGeom>
        </p:spPr>
      </p:pic>
      <p:pic>
        <p:nvPicPr>
          <p:cNvPr id="5" name="Picture 4" descr="A white arrow pointing to the right&#10;&#10;Description automatically generated with low confidence">
            <a:extLst>
              <a:ext uri="{FF2B5EF4-FFF2-40B4-BE49-F238E27FC236}">
                <a16:creationId xmlns:a16="http://schemas.microsoft.com/office/drawing/2014/main" id="{B2A944CF-95E3-4F8B-C2BF-DB80550F99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6387" y="4686073"/>
            <a:ext cx="608838" cy="16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54B">
            <a:alpha val="14902"/>
          </a:srgbClr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17977C-C5F4-5194-A70C-943AED2D9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261582" y="4530600"/>
            <a:ext cx="1241999" cy="3394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A9DC41-E75D-5679-8D20-E469797D3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236" y="4760061"/>
            <a:ext cx="1127183" cy="1587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1A06C3-6AAF-9117-FF9D-E2A04ED58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81" y="273476"/>
            <a:ext cx="1509300" cy="13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863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667" r:id="rId9"/>
    <p:sldLayoutId id="2147483668" r:id="rId10"/>
    <p:sldLayoutId id="2147483689" r:id="rId11"/>
    <p:sldLayoutId id="2147483691" r:id="rId12"/>
    <p:sldLayoutId id="2147483690" r:id="rId13"/>
    <p:sldLayoutId id="2147483688" r:id="rId14"/>
    <p:sldLayoutId id="2147483682" r:id="rId15"/>
    <p:sldLayoutId id="2147483670" r:id="rId16"/>
    <p:sldLayoutId id="2147483671" r:id="rId17"/>
    <p:sldLayoutId id="2147483673" r:id="rId18"/>
    <p:sldLayoutId id="2147483674" r:id="rId19"/>
    <p:sldLayoutId id="2147483675" r:id="rId20"/>
    <p:sldLayoutId id="2147483681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683" r:id="rId2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E434B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65096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F1449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1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1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E89A7-476F-2BC0-ADB2-3B9D8B7D294B}"/>
              </a:ext>
            </a:extLst>
          </p:cNvPr>
          <p:cNvSpPr txBox="1"/>
          <p:nvPr/>
        </p:nvSpPr>
        <p:spPr>
          <a:xfrm>
            <a:off x="1" y="561170"/>
            <a:ext cx="9143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PX5710/PX5718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Statistics and Time Series Analysis</a:t>
            </a: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Inferential Statistics – Part 2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  <a:latin typeface="Aharoni" panose="020F0502020204030204" pitchFamily="2" charset="-79"/>
                <a:ea typeface="Navigo" panose="02070503070706040303" pitchFamily="18" charset="77"/>
                <a:cs typeface="Aharoni" panose="020F0502020204030204" pitchFamily="2" charset="-79"/>
              </a:rPr>
              <a:t>χ</a:t>
            </a:r>
            <a:r>
              <a:rPr lang="en-GB" sz="2000" baseline="300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haroni" panose="020F0502020204030204" pitchFamily="2" charset="-79"/>
              </a:rPr>
              <a:t>2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haroni" panose="020F0502020204030204" pitchFamily="2" charset="-79"/>
              </a:rPr>
              <a:t> test and distributions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2025-26 Term 2</a:t>
            </a:r>
          </a:p>
          <a:p>
            <a:pPr algn="ctr"/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Department of Physics</a:t>
            </a: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Font typeface="Montserrat"/>
              <a:buNone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77555-379D-C787-E31A-37C8B77A9D4F}"/>
              </a:ext>
            </a:extLst>
          </p:cNvPr>
          <p:cNvSpPr txBox="1"/>
          <p:nvPr/>
        </p:nvSpPr>
        <p:spPr>
          <a:xfrm>
            <a:off x="963675" y="3591155"/>
            <a:ext cx="7558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Dr. Andrew Angel    </a:t>
            </a:r>
            <a:r>
              <a:rPr lang="en-GB" sz="1600" dirty="0">
                <a:solidFill>
                  <a:schemeClr val="tx1"/>
                </a:solidFill>
              </a:rPr>
              <a:t>andrew.angel@abdn.ac.uk      Meston 339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ea typeface="Navigo" panose="02070503070706040303" pitchFamily="18" charset="77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Montserrat"/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ea typeface="Navigo" panose="02070503070706040303" pitchFamily="18" charset="77"/>
                <a:cs typeface="Arial" panose="020B0604020202020204" pitchFamily="34" charset="0"/>
              </a:rPr>
              <a:t>Dr Sandip George	sandip.george@abdn.ac.uk	Fraser Noble 141</a:t>
            </a:r>
          </a:p>
        </p:txBody>
      </p:sp>
      <p:sp>
        <p:nvSpPr>
          <p:cNvPr id="3" name="AutoShape 2" descr="{\displaystyle \chi }">
            <a:extLst>
              <a:ext uri="{FF2B5EF4-FFF2-40B4-BE49-F238E27FC236}">
                <a16:creationId xmlns:a16="http://schemas.microsoft.com/office/drawing/2014/main" id="{1445A011-BA5D-20ED-58A2-C3BB1FAE53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67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EB9D-F4D1-CB06-ED3E-34D7BF58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EEDBBA5-41CA-25A5-9547-75D5EBE0B2A4}"/>
              </a:ext>
            </a:extLst>
          </p:cNvPr>
          <p:cNvSpPr txBox="1"/>
          <p:nvPr/>
        </p:nvSpPr>
        <p:spPr>
          <a:xfrm>
            <a:off x="1845780" y="119043"/>
            <a:ext cx="697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Null Hypothesis Significance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A2906-6D84-DF46-9FE1-02FABA30CBD3}"/>
              </a:ext>
            </a:extLst>
          </p:cNvPr>
          <p:cNvSpPr txBox="1">
            <a:spLocks/>
          </p:cNvSpPr>
          <p:nvPr/>
        </p:nvSpPr>
        <p:spPr>
          <a:xfrm>
            <a:off x="0" y="1586548"/>
            <a:ext cx="4427622" cy="403984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65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F1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08000" indent="-342900">
              <a:buClrTx/>
              <a:buAutoNum type="arabicPeriod"/>
            </a:pPr>
            <a:r>
              <a:rPr lang="en-GB" sz="1600" dirty="0">
                <a:solidFill>
                  <a:schemeClr val="tx1"/>
                </a:solidFill>
              </a:rPr>
              <a:t>What are the assumptions of the test?</a:t>
            </a:r>
          </a:p>
          <a:p>
            <a:pPr marL="508000" indent="-342900">
              <a:buClrTx/>
              <a:buAutoNum type="arabicPeriod"/>
            </a:pPr>
            <a:r>
              <a:rPr lang="en-GB" sz="1600" dirty="0">
                <a:solidFill>
                  <a:schemeClr val="tx1"/>
                </a:solidFill>
              </a:rPr>
              <a:t>What is the parameter of interest?</a:t>
            </a:r>
          </a:p>
          <a:p>
            <a:pPr marL="508000" indent="-342900">
              <a:buClrTx/>
              <a:buAutoNum type="arabicPeriod"/>
            </a:pPr>
            <a:r>
              <a:rPr lang="en-GB" sz="1600" dirty="0">
                <a:solidFill>
                  <a:schemeClr val="tx1"/>
                </a:solidFill>
              </a:rPr>
              <a:t>What is the null hypothesis?</a:t>
            </a:r>
          </a:p>
          <a:p>
            <a:pPr marL="508000" indent="-342900">
              <a:buClrTx/>
              <a:buAutoNum type="arabicPeriod"/>
            </a:pPr>
            <a:r>
              <a:rPr lang="en-GB" sz="1600" dirty="0">
                <a:solidFill>
                  <a:schemeClr val="tx1"/>
                </a:solidFill>
              </a:rPr>
              <a:t>What is the test statistic?</a:t>
            </a:r>
          </a:p>
          <a:p>
            <a:pPr marL="508000" indent="-342900">
              <a:buClrTx/>
              <a:buAutoNum type="arabicPeriod"/>
            </a:pPr>
            <a:r>
              <a:rPr lang="en-GB" sz="1600" dirty="0">
                <a:solidFill>
                  <a:schemeClr val="tx1"/>
                </a:solidFill>
              </a:rPr>
              <a:t>What is the distribution of the test statistic under the null hypothesis?</a:t>
            </a:r>
          </a:p>
          <a:p>
            <a:pPr marL="508000" indent="-342900">
              <a:buClrTx/>
              <a:buAutoNum type="arabicPeriod"/>
            </a:pPr>
            <a:r>
              <a:rPr lang="en-GB" sz="1600" dirty="0">
                <a:solidFill>
                  <a:schemeClr val="tx1"/>
                </a:solidFill>
              </a:rPr>
              <a:t>For a specific </a:t>
            </a:r>
            <a:r>
              <a:rPr lang="el-GR" sz="1600" dirty="0">
                <a:solidFill>
                  <a:schemeClr val="tx1"/>
                </a:solidFill>
              </a:rPr>
              <a:t>α</a:t>
            </a:r>
            <a:r>
              <a:rPr lang="en-GB" sz="1600" dirty="0">
                <a:solidFill>
                  <a:schemeClr val="tx1"/>
                </a:solidFill>
              </a:rPr>
              <a:t>- level, can we reject the null hypothesis?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EF5D1-E6CD-B46F-3158-F0E359DE7933}"/>
              </a:ext>
            </a:extLst>
          </p:cNvPr>
          <p:cNvSpPr txBox="1"/>
          <p:nvPr/>
        </p:nvSpPr>
        <p:spPr>
          <a:xfrm>
            <a:off x="3972504" y="1499920"/>
            <a:ext cx="485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t-test: Independence of observations, Normality, continuous scale measurement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DEEC6-D3E3-7DC4-B546-F87BFE26B6CB}"/>
              </a:ext>
            </a:extLst>
          </p:cNvPr>
          <p:cNvSpPr txBox="1"/>
          <p:nvPr/>
        </p:nvSpPr>
        <p:spPr>
          <a:xfrm>
            <a:off x="3619578" y="1859263"/>
            <a:ext cx="4851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t-test: means of the samples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95634-6857-9345-74A7-7D1FA697995F}"/>
              </a:ext>
            </a:extLst>
          </p:cNvPr>
          <p:cNvSpPr txBox="1"/>
          <p:nvPr/>
        </p:nvSpPr>
        <p:spPr>
          <a:xfrm>
            <a:off x="3136710" y="2095800"/>
            <a:ext cx="4851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t-test: means of the samples do not significantly differ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9648A-742A-7B8E-F454-5A651C8B4395}"/>
              </a:ext>
            </a:extLst>
          </p:cNvPr>
          <p:cNvSpPr txBox="1"/>
          <p:nvPr/>
        </p:nvSpPr>
        <p:spPr>
          <a:xfrm>
            <a:off x="2865598" y="2355315"/>
            <a:ext cx="4851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t-test: t-statistic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42B13-A250-E01C-337A-82CB53301EDF}"/>
              </a:ext>
            </a:extLst>
          </p:cNvPr>
          <p:cNvSpPr txBox="1"/>
          <p:nvPr/>
        </p:nvSpPr>
        <p:spPr>
          <a:xfrm>
            <a:off x="3782166" y="2712867"/>
            <a:ext cx="4851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t-test: t statistic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90F56-741B-69D7-3CBD-4212DD26AEB5}"/>
              </a:ext>
            </a:extLst>
          </p:cNvPr>
          <p:cNvSpPr txBox="1"/>
          <p:nvPr/>
        </p:nvSpPr>
        <p:spPr>
          <a:xfrm>
            <a:off x="4200063" y="3141348"/>
            <a:ext cx="485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t-test: probability of t-statistic in the distribution &gt; observed t-statistic, is less than</a:t>
            </a:r>
            <a:r>
              <a:rPr lang="el-GR" sz="1200" dirty="0">
                <a:solidFill>
                  <a:schemeClr val="tx1"/>
                </a:solidFill>
              </a:rPr>
              <a:t> </a:t>
            </a:r>
            <a:r>
              <a:rPr lang="el-GR" sz="1200" dirty="0">
                <a:solidFill>
                  <a:srgbClr val="FF0000"/>
                </a:solidFill>
              </a:rPr>
              <a:t>α</a:t>
            </a:r>
            <a:r>
              <a:rPr lang="en-GB" sz="12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836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B551-DB11-9170-8E70-DE337B209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173D28-4EE0-688B-ECF8-7AC429309F8A}"/>
                  </a:ext>
                </a:extLst>
              </p:cNvPr>
              <p:cNvSpPr txBox="1"/>
              <p:nvPr/>
            </p:nvSpPr>
            <p:spPr>
              <a:xfrm>
                <a:off x="1845780" y="119043"/>
                <a:ext cx="6977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(chi-squared)-tests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173D28-4EE0-688B-ECF8-7AC42930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3"/>
                <a:ext cx="6977856" cy="461665"/>
              </a:xfrm>
              <a:prstGeom prst="rect">
                <a:avLst/>
              </a:prstGeom>
              <a:blipFill>
                <a:blip r:embed="rId3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751C9-9370-7B4C-9331-22C7F7A284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" y="580708"/>
                <a:ext cx="8965975" cy="403984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-test is a hypothesis test.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It is an extremely widely used test (there are several variants) used to test for consistency between the number (or frequency) of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expected</a:t>
                </a:r>
                <a:r>
                  <a:rPr lang="en-GB" sz="1600" dirty="0">
                    <a:solidFill>
                      <a:schemeClr val="tx1"/>
                    </a:solidFill>
                  </a:rPr>
                  <a:t> and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observed</a:t>
                </a:r>
                <a:r>
                  <a:rPr lang="en-GB" sz="1600" dirty="0">
                    <a:solidFill>
                      <a:schemeClr val="tx1"/>
                    </a:solidFill>
                  </a:rPr>
                  <a:t> outcomes.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It allows us to test whether there is a significant difference between 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a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model</a:t>
                </a:r>
                <a:r>
                  <a:rPr lang="en-GB" sz="1600" dirty="0">
                    <a:solidFill>
                      <a:schemeClr val="tx1"/>
                    </a:solidFill>
                  </a:rPr>
                  <a:t> of a phenomenon and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observations</a:t>
                </a:r>
                <a:r>
                  <a:rPr lang="en-GB" sz="1600" dirty="0">
                    <a:solidFill>
                      <a:schemeClr val="tx1"/>
                    </a:solidFill>
                  </a:rPr>
                  <a:t> of that phenomenon.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Examples 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-test could be used: 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Is this player using weighted dice?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Are heights normally-distributed?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rgbClr val="FF0000"/>
                    </a:solidFill>
                  </a:rPr>
                  <a:t>Is there a significant difference between the effectiveness of different COVID-19 vaccines?</a:t>
                </a:r>
                <a:br>
                  <a:rPr lang="en-GB" sz="1600" dirty="0">
                    <a:solidFill>
                      <a:srgbClr val="FF0000"/>
                    </a:solidFill>
                  </a:rPr>
                </a:br>
                <a:r>
                  <a:rPr lang="en-GB" sz="1600" dirty="0">
                    <a:solidFill>
                      <a:srgbClr val="FF0000"/>
                    </a:solidFill>
                  </a:rPr>
                  <a:t>(Note: different question from that addressed using ANOVA)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Do the frequencies of observed types of genes agree with a model?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Is there a relationship between education level and political party preference?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r>
                  <a:rPr lang="en-GB" sz="1600" dirty="0">
                    <a:solidFill>
                      <a:schemeClr val="tx1"/>
                    </a:solidFill>
                  </a:rPr>
                  <a:t>Does the age of participants affect whether particular brands of coffee taste good or bad?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751C9-9370-7B4C-9331-22C7F7A28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80708"/>
                <a:ext cx="8965975" cy="4039844"/>
              </a:xfrm>
              <a:prstGeom prst="rect">
                <a:avLst/>
              </a:prstGeom>
              <a:blipFill>
                <a:blip r:embed="rId4"/>
                <a:stretch>
                  <a:fillRect t="-452" b="-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03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2BC6-9DE9-F943-DAE8-FD3FCEA1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275370-6BE3-2BE1-3B54-0F87616E7781}"/>
                  </a:ext>
                </a:extLst>
              </p:cNvPr>
              <p:cNvSpPr txBox="1"/>
              <p:nvPr/>
            </p:nvSpPr>
            <p:spPr>
              <a:xfrm>
                <a:off x="1845780" y="119043"/>
                <a:ext cx="6977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(chi-squared)-tests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275370-6BE3-2BE1-3B54-0F87616E7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3"/>
                <a:ext cx="6977856" cy="461665"/>
              </a:xfrm>
              <a:prstGeom prst="rect">
                <a:avLst/>
              </a:prstGeom>
              <a:blipFill>
                <a:blip r:embed="rId3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E737E-4ED4-F2D8-AAF4-430474DEB0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" y="580708"/>
                <a:ext cx="8965975" cy="403984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-test is a hypothesis test.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It is an extremely widely used test (there are several variants) used to test for consistency between the number (or frequency) of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expected</a:t>
                </a:r>
                <a:r>
                  <a:rPr lang="en-GB" sz="1600" dirty="0">
                    <a:solidFill>
                      <a:schemeClr val="tx1"/>
                    </a:solidFill>
                  </a:rPr>
                  <a:t> and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observed</a:t>
                </a:r>
                <a:r>
                  <a:rPr lang="en-GB" sz="1600" dirty="0">
                    <a:solidFill>
                      <a:schemeClr val="tx1"/>
                    </a:solidFill>
                  </a:rPr>
                  <a:t> outcomes.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It allows us to test whether there is a significant difference between 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a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model</a:t>
                </a:r>
                <a:r>
                  <a:rPr lang="en-GB" sz="1600" dirty="0">
                    <a:solidFill>
                      <a:schemeClr val="tx1"/>
                    </a:solidFill>
                  </a:rPr>
                  <a:t> of a phenomenon and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observations</a:t>
                </a:r>
                <a:r>
                  <a:rPr lang="en-GB" sz="1600" dirty="0">
                    <a:solidFill>
                      <a:schemeClr val="tx1"/>
                    </a:solidFill>
                  </a:rPr>
                  <a:t> of that phenomenon.</a:t>
                </a: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Examples where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-test could be used: 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rgbClr val="FF0000"/>
                    </a:solidFill>
                  </a:rPr>
                  <a:t>Is there a significant difference between the effectiveness of different COVID-19 vaccines?</a:t>
                </a:r>
                <a:br>
                  <a:rPr lang="en-GB" sz="1600" dirty="0">
                    <a:solidFill>
                      <a:srgbClr val="FF0000"/>
                    </a:solidFill>
                  </a:rPr>
                </a:br>
                <a:r>
                  <a:rPr lang="en-GB" sz="1600" dirty="0">
                    <a:solidFill>
                      <a:srgbClr val="FF0000"/>
                    </a:solidFill>
                  </a:rPr>
                  <a:t>(Note: different question from that addressed using ANOVA)</a:t>
                </a:r>
              </a:p>
              <a:p>
                <a:pPr marL="450850" indent="-285750">
                  <a:buClrTx/>
                  <a:buFontTx/>
                  <a:buChar char="-"/>
                </a:pPr>
                <a:r>
                  <a:rPr lang="en-GB" sz="1600" dirty="0">
                    <a:solidFill>
                      <a:schemeClr val="tx1"/>
                    </a:solidFill>
                  </a:rPr>
                  <a:t>The χ²-test compares proportions. How many people are infected vs not infected for each vaccine.</a:t>
                </a:r>
              </a:p>
              <a:p>
                <a:pPr marL="450850" indent="-285750">
                  <a:buClrTx/>
                  <a:buFontTx/>
                  <a:buChar char="-"/>
                </a:pPr>
                <a:r>
                  <a:rPr lang="en-GB" sz="1600" dirty="0">
                    <a:solidFill>
                      <a:schemeClr val="tx1"/>
                    </a:solidFill>
                  </a:rPr>
                  <a:t>The ANOVA design checks if the level of detected antibodies would vary between vaccines </a:t>
                </a:r>
                <a:endParaRPr lang="en-GB" sz="1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9E737E-4ED4-F2D8-AAF4-430474DEB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80708"/>
                <a:ext cx="8965975" cy="4039844"/>
              </a:xfrm>
              <a:prstGeom prst="rect">
                <a:avLst/>
              </a:prstGeom>
              <a:blipFill>
                <a:blip r:embed="rId4"/>
                <a:stretch>
                  <a:fillRect t="-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69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47E2-7060-F33E-29C2-7DA5E776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E0D740-FF99-7872-5E86-823C13B50314}"/>
                  </a:ext>
                </a:extLst>
              </p:cNvPr>
              <p:cNvSpPr txBox="1"/>
              <p:nvPr/>
            </p:nvSpPr>
            <p:spPr>
              <a:xfrm>
                <a:off x="1845780" y="119044"/>
                <a:ext cx="6977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/>
                  <a:t>Main uses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-test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E0D740-FF99-7872-5E86-823C13B50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4"/>
                <a:ext cx="6977856" cy="461665"/>
              </a:xfrm>
              <a:prstGeom prst="rect">
                <a:avLst/>
              </a:prstGeom>
              <a:blipFill>
                <a:blip r:embed="rId3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7A3D1A-4978-20FD-179F-503E875A6F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678631"/>
                <a:ext cx="8965975" cy="403984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accent5"/>
                    </a:solidFill>
                  </a:rPr>
                  <a:t>-Goodness-of-fit test: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Test whether observed data differ from theoretical expectations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i="1" dirty="0">
                    <a:solidFill>
                      <a:schemeClr val="tx1"/>
                    </a:solidFill>
                  </a:rPr>
                  <a:t>H</a:t>
                </a:r>
                <a:r>
                  <a:rPr lang="en-GB" sz="1600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GB" sz="1600" dirty="0">
                    <a:solidFill>
                      <a:schemeClr val="tx1"/>
                    </a:solidFill>
                  </a:rPr>
                  <a:t>: The expected and observed frequencies are the same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i="1" dirty="0">
                    <a:solidFill>
                      <a:schemeClr val="tx1"/>
                    </a:solidFill>
                  </a:rPr>
                  <a:t>Is this player using biased dice?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accent5"/>
                    </a:solidFill>
                  </a:rPr>
                  <a:t>-Independence test: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tx1"/>
                    </a:solidFill>
                  </a:rPr>
                  <a:t>Test the relationship between nominal variables A and B for significance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i="1" dirty="0">
                    <a:solidFill>
                      <a:schemeClr val="tx1"/>
                    </a:solidFill>
                  </a:rPr>
                  <a:t>H</a:t>
                </a:r>
                <a:r>
                  <a:rPr lang="en-GB" sz="1600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GB" sz="1600" dirty="0">
                    <a:solidFill>
                      <a:schemeClr val="tx1"/>
                    </a:solidFill>
                  </a:rPr>
                  <a:t>: There is no relationship between A and B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i="1" dirty="0">
                    <a:solidFill>
                      <a:schemeClr val="tx1"/>
                    </a:solidFill>
                  </a:rPr>
                  <a:t>Is there a relationship between diet and the occurrence of various diseases?</a:t>
                </a: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accent5"/>
                  </a:solidFill>
                </a:endParaRPr>
              </a:p>
              <a:p>
                <a:pPr marL="450839" indent="-285743">
                  <a:buClrTx/>
                  <a:buFont typeface="Arial" panose="020B0604020202020204" pitchFamily="34" charset="0"/>
                  <a:buChar char="•"/>
                </a:pPr>
                <a:endParaRPr lang="en-GB" sz="16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7A3D1A-4978-20FD-179F-503E875A6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678631"/>
                <a:ext cx="8965975" cy="4039844"/>
              </a:xfrm>
              <a:prstGeom prst="rect">
                <a:avLst/>
              </a:prstGeom>
              <a:blipFill>
                <a:blip r:embed="rId4"/>
                <a:stretch>
                  <a:fillRect t="-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49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08D4-CCD8-7CBF-8AA4-8ABD4937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0FE878-D083-B820-4EA7-EAB952EF0AF9}"/>
                  </a:ext>
                </a:extLst>
              </p:cNvPr>
              <p:cNvSpPr txBox="1"/>
              <p:nvPr/>
            </p:nvSpPr>
            <p:spPr>
              <a:xfrm>
                <a:off x="254148" y="596765"/>
                <a:ext cx="86338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solidFill>
                      <a:schemeClr val="accent3"/>
                    </a:solidFill>
                  </a:rPr>
                  <a:t>The difference between expected and observed frequencies follows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accent3"/>
                    </a:solidFill>
                  </a:rPr>
                  <a:t>-distribution</a:t>
                </a:r>
                <a:endParaRPr lang="en-GB" sz="1600" baseline="-250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0FE878-D083-B820-4EA7-EAB952EF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48" y="596765"/>
                <a:ext cx="8633861" cy="338554"/>
              </a:xfrm>
              <a:prstGeom prst="rect">
                <a:avLst/>
              </a:prstGeom>
              <a:blipFill>
                <a:blip r:embed="rId3"/>
                <a:stretch>
                  <a:fillRect l="-424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2FEF537-48C9-5149-0AAC-88F775EAFA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52" y="955789"/>
                <a:ext cx="4154224" cy="171041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-distribution with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k</a:t>
                </a:r>
                <a:r>
                  <a:rPr lang="en-GB" sz="1600" dirty="0">
                    <a:solidFill>
                      <a:schemeClr val="tx1"/>
                    </a:solidFill>
                  </a:rPr>
                  <a:t> degrees of freedom is the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distribution of the sum of the squares</a:t>
                </a:r>
                <a:r>
                  <a:rPr lang="en-GB" sz="1600" dirty="0">
                    <a:solidFill>
                      <a:schemeClr val="tx1"/>
                    </a:solidFill>
                  </a:rPr>
                  <a:t> of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k</a:t>
                </a:r>
                <a:r>
                  <a:rPr lang="en-GB" sz="1600" dirty="0">
                    <a:solidFill>
                      <a:schemeClr val="tx1"/>
                    </a:solidFill>
                  </a:rPr>
                  <a:t> independent standard normal variables (i.e. drawn from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N</a:t>
                </a:r>
                <a:r>
                  <a:rPr lang="en-GB" sz="1600" dirty="0">
                    <a:solidFill>
                      <a:schemeClr val="tx1"/>
                    </a:solidFill>
                  </a:rPr>
                  <a:t>(0,1))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2FEF537-48C9-5149-0AAC-88F775EAF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" y="955789"/>
                <a:ext cx="4154224" cy="1710410"/>
              </a:xfrm>
              <a:prstGeom prst="rect">
                <a:avLst/>
              </a:prstGeom>
              <a:blipFill>
                <a:blip r:embed="rId4"/>
                <a:stretch>
                  <a:fillRect t="-1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B8166D2-8EF1-FED1-A712-551CE213F8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48" y="2184936"/>
            <a:ext cx="3696232" cy="2845949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E6F9E89-1552-B993-426D-4822F1D1C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376" y="1092467"/>
            <a:ext cx="4901666" cy="326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45542F-530E-FE3D-F22B-CBB4EAE5558D}"/>
              </a:ext>
            </a:extLst>
          </p:cNvPr>
          <p:cNvSpPr txBox="1"/>
          <p:nvPr/>
        </p:nvSpPr>
        <p:spPr>
          <a:xfrm>
            <a:off x="8017931" y="4281479"/>
            <a:ext cx="10631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[Geek3/CC BY 3.0]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0A05CF-7FFD-00D5-A907-49F903237DCC}"/>
                  </a:ext>
                </a:extLst>
              </p:cNvPr>
              <p:cNvSpPr txBox="1"/>
              <p:nvPr/>
            </p:nvSpPr>
            <p:spPr>
              <a:xfrm>
                <a:off x="1415427" y="77784"/>
                <a:ext cx="5604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-distribution</a:t>
                </a:r>
                <a:endParaRPr lang="en-GB" sz="2000" baseline="-25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0A05CF-7FFD-00D5-A907-49F90323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27" y="77784"/>
                <a:ext cx="5604899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63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15EB-0A50-3908-9923-EB8359E8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BE210E-4EE5-078B-414B-5A20D5C7E578}"/>
                  </a:ext>
                </a:extLst>
              </p:cNvPr>
              <p:cNvSpPr txBox="1"/>
              <p:nvPr/>
            </p:nvSpPr>
            <p:spPr>
              <a:xfrm>
                <a:off x="2787064" y="112616"/>
                <a:ext cx="56048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The difference between expected and observed frequencies follows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-distribution</a:t>
                </a:r>
                <a:endParaRPr lang="en-GB" sz="2000" baseline="-25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BE210E-4EE5-078B-414B-5A20D5C7E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064" y="112616"/>
                <a:ext cx="5604899" cy="707886"/>
              </a:xfrm>
              <a:prstGeom prst="rect">
                <a:avLst/>
              </a:prstGeom>
              <a:blipFill>
                <a:blip r:embed="rId3"/>
                <a:stretch>
                  <a:fillRect l="-652" t="-3419" r="-1739" b="-14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557D23A-7327-6CA9-4492-DC9B07D70B2D}"/>
              </a:ext>
            </a:extLst>
          </p:cNvPr>
          <p:cNvSpPr txBox="1"/>
          <p:nvPr/>
        </p:nvSpPr>
        <p:spPr>
          <a:xfrm>
            <a:off x="444576" y="3025152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1, </a:t>
            </a:r>
            <a:r>
              <a:rPr lang="en-US" sz="1800" i="1" dirty="0"/>
              <a:t>T</a:t>
            </a:r>
            <a:r>
              <a:rPr lang="en-US" sz="1800" dirty="0"/>
              <a:t> = 8.2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9A75B3-43CF-0A0B-3DD1-C7B0858A56F5}"/>
              </a:ext>
            </a:extLst>
          </p:cNvPr>
          <p:cNvSpPr txBox="1"/>
          <p:nvPr/>
        </p:nvSpPr>
        <p:spPr>
          <a:xfrm>
            <a:off x="2616688" y="3033105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2, </a:t>
            </a:r>
            <a:r>
              <a:rPr lang="en-US" sz="1800" i="1" dirty="0"/>
              <a:t>T</a:t>
            </a:r>
            <a:r>
              <a:rPr lang="en-US" sz="1800" dirty="0"/>
              <a:t> = 7.5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EF3902-376F-2134-50DD-271139F571CE}"/>
              </a:ext>
            </a:extLst>
          </p:cNvPr>
          <p:cNvSpPr txBox="1"/>
          <p:nvPr/>
        </p:nvSpPr>
        <p:spPr>
          <a:xfrm>
            <a:off x="4889178" y="3031783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3, </a:t>
            </a:r>
            <a:r>
              <a:rPr lang="en-US" sz="1800" i="1" dirty="0"/>
              <a:t>T</a:t>
            </a:r>
            <a:r>
              <a:rPr lang="en-US" sz="1800" dirty="0"/>
              <a:t> = 8.4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BEAD41-85A3-6A5B-395E-691649C7153D}"/>
              </a:ext>
            </a:extLst>
          </p:cNvPr>
          <p:cNvSpPr txBox="1"/>
          <p:nvPr/>
        </p:nvSpPr>
        <p:spPr>
          <a:xfrm>
            <a:off x="7199352" y="3031783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4, </a:t>
            </a:r>
            <a:r>
              <a:rPr lang="en-US" sz="1800" i="1" dirty="0"/>
              <a:t>T</a:t>
            </a:r>
            <a:r>
              <a:rPr lang="en-US" sz="1800" dirty="0"/>
              <a:t> = 4.9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CADAF-878E-6BD8-CE35-A0A91D05BB72}"/>
              </a:ext>
            </a:extLst>
          </p:cNvPr>
          <p:cNvSpPr txBox="1"/>
          <p:nvPr/>
        </p:nvSpPr>
        <p:spPr>
          <a:xfrm>
            <a:off x="15903" y="2714887"/>
            <a:ext cx="636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Each sample contains 120 dice. Expect 20 of each outcome.</a:t>
            </a:r>
          </a:p>
        </p:txBody>
      </p:sp>
      <p:pic>
        <p:nvPicPr>
          <p:cNvPr id="20" name="Picture 19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5FC431B-8196-D342-5D53-A6F907768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65" y="3331763"/>
            <a:ext cx="2415649" cy="1811737"/>
          </a:xfrm>
          <a:prstGeom prst="rect">
            <a:avLst/>
          </a:prstGeom>
        </p:spPr>
      </p:pic>
      <p:pic>
        <p:nvPicPr>
          <p:cNvPr id="22" name="Picture 21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22906CF3-A519-89C0-3F4C-85EABFDA2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972" y="3334413"/>
            <a:ext cx="2412117" cy="1809088"/>
          </a:xfrm>
          <a:prstGeom prst="rect">
            <a:avLst/>
          </a:prstGeom>
        </p:spPr>
      </p:pic>
      <p:pic>
        <p:nvPicPr>
          <p:cNvPr id="24" name="Picture 2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91724B22-FB88-C9F9-9B2A-453D7A72C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775" y="3331762"/>
            <a:ext cx="2415651" cy="1811738"/>
          </a:xfrm>
          <a:prstGeom prst="rect">
            <a:avLst/>
          </a:prstGeom>
        </p:spPr>
      </p:pic>
      <p:pic>
        <p:nvPicPr>
          <p:cNvPr id="26" name="Picture 2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5FA4A7C4-6201-74A1-D71B-BF0A1724A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3936" y="3331763"/>
            <a:ext cx="2420065" cy="1815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7BCFF236-2A68-9DD3-8BFA-0C94351494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853530"/>
                <a:ext cx="9150366" cy="20291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Example: 	Roll an unbiased die.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n</a:t>
                </a:r>
                <a:r>
                  <a:rPr lang="en-GB" sz="1600" dirty="0">
                    <a:solidFill>
                      <a:schemeClr val="tx1"/>
                    </a:solidFill>
                  </a:rPr>
                  <a:t> = 6 possible outcomes: </a:t>
                </a:r>
                <a:r>
                  <a:rPr lang="en-GB" sz="16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 = {1, 2, 3, 4, 5, 6}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		Each outcome has the same probability 1/6.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		Roll a large number of dice and record how many times each outcome occurs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		Compute the normalised difference between expected and observed outcomes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7BCFF236-2A68-9DD3-8BFA-0C9435149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53530"/>
                <a:ext cx="9150366" cy="2029147"/>
              </a:xfrm>
              <a:prstGeom prst="rect">
                <a:avLst/>
              </a:prstGeom>
              <a:blipFill>
                <a:blip r:embed="rId8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29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ADAB-E25A-13E0-A32D-287D03D6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1EAEDC-24C8-E01D-7760-19D530203D19}"/>
                  </a:ext>
                </a:extLst>
              </p:cNvPr>
              <p:cNvSpPr txBox="1"/>
              <p:nvPr/>
            </p:nvSpPr>
            <p:spPr>
              <a:xfrm>
                <a:off x="2787064" y="112616"/>
                <a:ext cx="56048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The difference between expected and observed frequencies follows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-distribution</a:t>
                </a:r>
                <a:endParaRPr lang="en-GB" sz="2000" baseline="-25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1EAEDC-24C8-E01D-7760-19D530203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064" y="112616"/>
                <a:ext cx="5604899" cy="707886"/>
              </a:xfrm>
              <a:prstGeom prst="rect">
                <a:avLst/>
              </a:prstGeom>
              <a:blipFill>
                <a:blip r:embed="rId3"/>
                <a:stretch>
                  <a:fillRect l="-652" t="-3419" r="-1739" b="-14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52E58-5527-C672-D326-4124BACF3A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853530"/>
                <a:ext cx="9150366" cy="20291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Example: 	Roll an unbiased die.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n</a:t>
                </a:r>
                <a:r>
                  <a:rPr lang="en-GB" sz="1600" dirty="0">
                    <a:solidFill>
                      <a:schemeClr val="tx1"/>
                    </a:solidFill>
                  </a:rPr>
                  <a:t> = 6 possible outcomes: </a:t>
                </a:r>
                <a:r>
                  <a:rPr lang="en-GB" sz="16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 = {1, 2, 3, 4, 5, 6}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		Each outcome has the same probability 1/6.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		Roll a large number of dice and record how many times each outcome occurs</a:t>
                </a:r>
              </a:p>
              <a:p>
                <a:pPr>
                  <a:buClrTx/>
                </a:pPr>
                <a:r>
                  <a:rPr lang="en-GB" sz="1600" dirty="0">
                    <a:solidFill>
                      <a:schemeClr val="tx1"/>
                    </a:solidFill>
                  </a:rPr>
                  <a:t>		Compute the normalised difference between expected and observed outcomes</a:t>
                </a: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152E58-5527-C672-D326-4124BACF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53530"/>
                <a:ext cx="9150366" cy="2029147"/>
              </a:xfrm>
              <a:prstGeom prst="rect">
                <a:avLst/>
              </a:prstGeom>
              <a:blipFill>
                <a:blip r:embed="rId4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6C8E59E-B18E-2B96-53CE-E9D91A95360E}"/>
              </a:ext>
            </a:extLst>
          </p:cNvPr>
          <p:cNvSpPr txBox="1"/>
          <p:nvPr/>
        </p:nvSpPr>
        <p:spPr>
          <a:xfrm>
            <a:off x="379631" y="3038217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1, </a:t>
            </a:r>
            <a:r>
              <a:rPr lang="en-US" sz="1800" i="1" dirty="0"/>
              <a:t>T</a:t>
            </a:r>
            <a:r>
              <a:rPr lang="en-US" sz="1800" dirty="0"/>
              <a:t> = 10.4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443F4F-189F-23D1-2199-5662D355B080}"/>
              </a:ext>
            </a:extLst>
          </p:cNvPr>
          <p:cNvSpPr txBox="1"/>
          <p:nvPr/>
        </p:nvSpPr>
        <p:spPr>
          <a:xfrm>
            <a:off x="2678253" y="3039384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2, </a:t>
            </a:r>
            <a:r>
              <a:rPr lang="en-US" sz="1800" i="1" dirty="0"/>
              <a:t>T</a:t>
            </a:r>
            <a:r>
              <a:rPr lang="en-US" sz="1800" dirty="0"/>
              <a:t> = 0.8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260F4F-6A9C-4EA6-C4EC-639F8380B9C0}"/>
              </a:ext>
            </a:extLst>
          </p:cNvPr>
          <p:cNvSpPr txBox="1"/>
          <p:nvPr/>
        </p:nvSpPr>
        <p:spPr>
          <a:xfrm>
            <a:off x="4912977" y="3031083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3, </a:t>
            </a:r>
            <a:r>
              <a:rPr lang="en-US" sz="1800" i="1" dirty="0"/>
              <a:t>T</a:t>
            </a:r>
            <a:r>
              <a:rPr lang="en-US" sz="1800" dirty="0"/>
              <a:t> = 7.5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C9DC7-8A8E-D5B0-C94F-84E0CB485921}"/>
              </a:ext>
            </a:extLst>
          </p:cNvPr>
          <p:cNvSpPr txBox="1"/>
          <p:nvPr/>
        </p:nvSpPr>
        <p:spPr>
          <a:xfrm>
            <a:off x="7201135" y="3038217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Sample 4, </a:t>
            </a:r>
            <a:r>
              <a:rPr lang="en-US" sz="1800" i="1" dirty="0"/>
              <a:t>T</a:t>
            </a:r>
            <a:r>
              <a:rPr lang="en-US" sz="1800" dirty="0"/>
              <a:t> = 3.6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3BE371-A621-013A-3C0E-BE36C905FDE7}"/>
              </a:ext>
            </a:extLst>
          </p:cNvPr>
          <p:cNvSpPr txBox="1"/>
          <p:nvPr/>
        </p:nvSpPr>
        <p:spPr>
          <a:xfrm>
            <a:off x="15902" y="2714887"/>
            <a:ext cx="662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Each sample contains 1200 dice. Expect 200 of each outcome.</a:t>
            </a:r>
          </a:p>
        </p:txBody>
      </p:sp>
      <p:pic>
        <p:nvPicPr>
          <p:cNvPr id="22" name="Picture 21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13E6D992-C214-2B51-5AC8-E0817DDA7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3332093"/>
            <a:ext cx="2415209" cy="1811407"/>
          </a:xfrm>
          <a:prstGeom prst="rect">
            <a:avLst/>
          </a:prstGeom>
        </p:spPr>
      </p:pic>
      <p:pic>
        <p:nvPicPr>
          <p:cNvPr id="24" name="Picture 23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B1DCD9C3-1762-7E6D-9A70-12C3958CD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407" y="3334743"/>
            <a:ext cx="2411677" cy="1808758"/>
          </a:xfrm>
          <a:prstGeom prst="rect">
            <a:avLst/>
          </a:prstGeom>
        </p:spPr>
      </p:pic>
      <p:pic>
        <p:nvPicPr>
          <p:cNvPr id="26" name="Picture 2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AE0E11B7-AA41-9A4A-CC23-96DD831BE9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654" y="3334743"/>
            <a:ext cx="2411678" cy="1808758"/>
          </a:xfrm>
          <a:prstGeom prst="rect">
            <a:avLst/>
          </a:prstGeom>
        </p:spPr>
      </p:pic>
      <p:pic>
        <p:nvPicPr>
          <p:cNvPr id="28" name="Picture 27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DC5FA931-FBF7-3331-F23A-F20DF46C3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1058" y="3332092"/>
            <a:ext cx="2415210" cy="181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0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5D9B9-6B51-105D-B766-921DE0E6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614110-24A4-5851-1FFD-8A11D7C7186C}"/>
                  </a:ext>
                </a:extLst>
              </p:cNvPr>
              <p:cNvSpPr txBox="1"/>
              <p:nvPr/>
            </p:nvSpPr>
            <p:spPr>
              <a:xfrm>
                <a:off x="2787064" y="112616"/>
                <a:ext cx="560489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dirty="0"/>
                  <a:t>The difference between expected and observed frequencies follows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-distribution</a:t>
                </a:r>
                <a:endParaRPr lang="en-GB" sz="2000" baseline="-25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614110-24A4-5851-1FFD-8A11D7C71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064" y="112616"/>
                <a:ext cx="5604899" cy="707886"/>
              </a:xfrm>
              <a:prstGeom prst="rect">
                <a:avLst/>
              </a:prstGeom>
              <a:blipFill>
                <a:blip r:embed="rId3"/>
                <a:stretch>
                  <a:fillRect l="-652" t="-3419" r="-1739" b="-145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A4977-0035-B509-F295-24099B309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03367" y="748941"/>
                <a:ext cx="9350734" cy="202914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buClrTx/>
                </a:pPr>
                <a:r>
                  <a:rPr lang="en-GB" i="1" dirty="0">
                    <a:solidFill>
                      <a:schemeClr val="accent5"/>
                    </a:solidFill>
                  </a:rPr>
                  <a:t>T</a:t>
                </a:r>
                <a:r>
                  <a:rPr lang="en-GB" dirty="0">
                    <a:solidFill>
                      <a:schemeClr val="accent5"/>
                    </a:solidFill>
                  </a:rPr>
                  <a:t> is distributed according to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accent5"/>
                    </a:solidFill>
                  </a:rPr>
                  <a:t>-distribution with </a:t>
                </a:r>
                <a:r>
                  <a:rPr lang="en-GB" i="1" dirty="0">
                    <a:solidFill>
                      <a:schemeClr val="accent5"/>
                    </a:solidFill>
                  </a:rPr>
                  <a:t>n </a:t>
                </a:r>
                <a:r>
                  <a:rPr lang="en-GB" dirty="0">
                    <a:solidFill>
                      <a:schemeClr val="accent5"/>
                    </a:solidFill>
                  </a:rPr>
                  <a:t>- 1 degrees of freedom.</a:t>
                </a:r>
              </a:p>
              <a:p>
                <a:pPr>
                  <a:buClrTx/>
                </a:pPr>
                <a:r>
                  <a:rPr lang="en-GB" dirty="0">
                    <a:solidFill>
                      <a:schemeClr val="tx1"/>
                    </a:solidFill>
                  </a:rPr>
                  <a:t>Distribution of </a:t>
                </a:r>
                <a:r>
                  <a:rPr lang="en-GB" i="1" dirty="0">
                    <a:solidFill>
                      <a:schemeClr val="tx1"/>
                    </a:solidFill>
                  </a:rPr>
                  <a:t>T</a:t>
                </a:r>
                <a:r>
                  <a:rPr lang="en-GB" dirty="0">
                    <a:solidFill>
                      <a:schemeClr val="tx1"/>
                    </a:solidFill>
                  </a:rPr>
                  <a:t> is</a:t>
                </a:r>
                <a:r>
                  <a:rPr lang="en-GB" dirty="0">
                    <a:solidFill>
                      <a:schemeClr val="accent5"/>
                    </a:solidFill>
                  </a:rPr>
                  <a:t> independent of sample size </a:t>
                </a:r>
                <a:r>
                  <a:rPr lang="en-GB" dirty="0">
                    <a:solidFill>
                      <a:schemeClr val="tx1"/>
                    </a:solidFill>
                  </a:rPr>
                  <a:t>because we normalise by the expected outcome</a:t>
                </a:r>
              </a:p>
              <a:p>
                <a:pPr>
                  <a:buClrTx/>
                </a:pPr>
                <a:r>
                  <a:rPr lang="en-GB" dirty="0">
                    <a:solidFill>
                      <a:schemeClr val="tx1"/>
                    </a:solidFill>
                  </a:rPr>
                  <a:t>The distribution depends only on number of possible outcomes (in this example </a:t>
                </a:r>
                <a:r>
                  <a:rPr lang="en-GB" i="1" dirty="0">
                    <a:solidFill>
                      <a:schemeClr val="tx1"/>
                    </a:solidFill>
                  </a:rPr>
                  <a:t>n</a:t>
                </a:r>
                <a:r>
                  <a:rPr lang="en-GB" dirty="0">
                    <a:solidFill>
                      <a:schemeClr val="tx1"/>
                    </a:solidFill>
                  </a:rPr>
                  <a:t> = 6, so </a:t>
                </a:r>
                <a:r>
                  <a:rPr lang="en-GB" i="1" dirty="0" err="1">
                    <a:solidFill>
                      <a:schemeClr val="tx1"/>
                    </a:solidFill>
                  </a:rPr>
                  <a:t>df</a:t>
                </a:r>
                <a:r>
                  <a:rPr lang="en-GB" dirty="0">
                    <a:solidFill>
                      <a:schemeClr val="tx1"/>
                    </a:solidFill>
                  </a:rPr>
                  <a:t> = 5)</a:t>
                </a:r>
              </a:p>
              <a:p>
                <a:pPr>
                  <a:buClrTx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r>
                  <a:rPr lang="en-GB" dirty="0">
                    <a:solidFill>
                      <a:schemeClr val="tx1"/>
                    </a:solidFill>
                  </a:rPr>
                  <a:t>So we can test whether an observed sample is significantly different from expected by calculating 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statistic and computing the </a:t>
                </a:r>
                <a:r>
                  <a:rPr lang="en-GB" i="1" dirty="0">
                    <a:solidFill>
                      <a:schemeClr val="tx1"/>
                    </a:solidFill>
                  </a:rPr>
                  <a:t>p</a:t>
                </a:r>
                <a:r>
                  <a:rPr lang="en-GB" dirty="0">
                    <a:solidFill>
                      <a:schemeClr val="tx1"/>
                    </a:solidFill>
                  </a:rPr>
                  <a:t>-value from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-distribution with the same number of degrees of freedom.</a:t>
                </a:r>
              </a:p>
              <a:p>
                <a:pPr>
                  <a:buClrTx/>
                </a:pPr>
                <a:r>
                  <a:rPr lang="en-GB" dirty="0">
                    <a:solidFill>
                      <a:schemeClr val="tx1"/>
                    </a:solidFill>
                  </a:rPr>
                  <a:t>So in this example, we can test whether the die is biased by computing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statistic for a large number of rolls.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A4977-0035-B509-F295-24099B309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367" y="748941"/>
                <a:ext cx="9350734" cy="2029147"/>
              </a:xfrm>
              <a:prstGeom prst="rect">
                <a:avLst/>
              </a:prstGeom>
              <a:blipFill>
                <a:blip r:embed="rId4"/>
                <a:stretch>
                  <a:fillRect t="-6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 descr="A graph of distribution of values&#10;&#10;AI-generated content may be incorrect.">
            <a:extLst>
              <a:ext uri="{FF2B5EF4-FFF2-40B4-BE49-F238E27FC236}">
                <a16:creationId xmlns:a16="http://schemas.microsoft.com/office/drawing/2014/main" id="{69773BF7-7770-F661-F291-FD4954B761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96"/>
          <a:stretch/>
        </p:blipFill>
        <p:spPr>
          <a:xfrm>
            <a:off x="604300" y="2385391"/>
            <a:ext cx="3832525" cy="2699161"/>
          </a:xfrm>
          <a:prstGeom prst="rect">
            <a:avLst/>
          </a:prstGeom>
        </p:spPr>
      </p:pic>
      <p:pic>
        <p:nvPicPr>
          <p:cNvPr id="24" name="Picture 23" descr="A graph of distribution of values&#10;&#10;AI-generated content may be incorrect.">
            <a:extLst>
              <a:ext uri="{FF2B5EF4-FFF2-40B4-BE49-F238E27FC236}">
                <a16:creationId xmlns:a16="http://schemas.microsoft.com/office/drawing/2014/main" id="{C1E176AB-28AC-FC85-8C2D-E3853E5A31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096"/>
          <a:stretch/>
        </p:blipFill>
        <p:spPr>
          <a:xfrm>
            <a:off x="4707176" y="2385391"/>
            <a:ext cx="3832525" cy="269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5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5B75-FD67-6E2E-18CE-B869CB90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B6AA92-E908-D6D2-E868-C86362782FAF}"/>
                  </a:ext>
                </a:extLst>
              </p:cNvPr>
              <p:cNvSpPr txBox="1"/>
              <p:nvPr/>
            </p:nvSpPr>
            <p:spPr>
              <a:xfrm>
                <a:off x="1845780" y="119043"/>
                <a:ext cx="69778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800" dirty="0"/>
                  <a:t>-test procedure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B6AA92-E908-D6D2-E868-C86362782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3"/>
                <a:ext cx="6977856" cy="523220"/>
              </a:xfrm>
              <a:prstGeom prst="rect">
                <a:avLst/>
              </a:prstGeom>
              <a:blipFill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9E2D92-8A10-3C03-1D12-FC077C2CE2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93" y="769990"/>
                <a:ext cx="4843719" cy="40036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507987" indent="-342892">
                  <a:buClrTx/>
                  <a:buFont typeface="+mj-lt"/>
                  <a:buAutoNum type="arabicPeriod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507987" indent="-342892">
                  <a:buClrTx/>
                  <a:buFont typeface="+mj-lt"/>
                  <a:buAutoNum type="arabicPeriod"/>
                </a:pPr>
                <a:r>
                  <a:rPr lang="en-GB" sz="1600" dirty="0">
                    <a:solidFill>
                      <a:schemeClr val="tx1"/>
                    </a:solidFill>
                  </a:rPr>
                  <a:t>Compute the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expected frequency </a:t>
                </a:r>
                <a:r>
                  <a:rPr lang="en-GB" sz="1600" dirty="0">
                    <a:solidFill>
                      <a:schemeClr val="tx1"/>
                    </a:solidFill>
                  </a:rPr>
                  <a:t>or number of occurrences for each of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n</a:t>
                </a:r>
                <a:r>
                  <a:rPr lang="en-GB" sz="1600" dirty="0">
                    <a:solidFill>
                      <a:schemeClr val="tx1"/>
                    </a:solidFill>
                  </a:rPr>
                  <a:t> outcomes</a:t>
                </a:r>
              </a:p>
              <a:p>
                <a:pPr marL="507987" indent="-342892">
                  <a:buClrTx/>
                  <a:buFont typeface="+mj-lt"/>
                  <a:buAutoNum type="arabicPeriod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507987" indent="-342892">
                  <a:buClrTx/>
                  <a:buFont typeface="+mj-lt"/>
                  <a:buAutoNum type="arabicPeriod"/>
                </a:pPr>
                <a:r>
                  <a:rPr lang="en-GB" sz="1600" dirty="0">
                    <a:solidFill>
                      <a:schemeClr val="tx1"/>
                    </a:solidFill>
                  </a:rPr>
                  <a:t>If any outcome has &lt;5 expected occurrences, 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r>
                  <a:rPr lang="en-GB" sz="1600" dirty="0">
                    <a:solidFill>
                      <a:schemeClr val="accent5"/>
                    </a:solidFill>
                  </a:rPr>
                  <a:t>combine outcomes </a:t>
                </a:r>
                <a:r>
                  <a:rPr lang="en-GB" sz="1600" dirty="0">
                    <a:solidFill>
                      <a:schemeClr val="tx1"/>
                    </a:solidFill>
                  </a:rPr>
                  <a:t>so each has at least 5. If not possible, use a different test/approach</a:t>
                </a:r>
              </a:p>
              <a:p>
                <a:pPr marL="507987" indent="-342892">
                  <a:buClrTx/>
                  <a:buFont typeface="+mj-lt"/>
                  <a:buAutoNum type="arabicPeriod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507987" indent="-342892">
                  <a:buClrTx/>
                  <a:buFont typeface="+mj-lt"/>
                  <a:buAutoNum type="arabicPeriod"/>
                </a:pPr>
                <a:r>
                  <a:rPr lang="en-GB" sz="1600" dirty="0">
                    <a:solidFill>
                      <a:schemeClr val="tx1"/>
                    </a:solidFill>
                  </a:rPr>
                  <a:t>For outcome </a:t>
                </a:r>
                <a:r>
                  <a:rPr lang="en-GB" sz="1600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, compute the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normalised difference </a:t>
                </a:r>
                <a:r>
                  <a:rPr lang="en-GB" sz="1600" dirty="0">
                    <a:solidFill>
                      <a:schemeClr val="tx1"/>
                    </a:solidFill>
                  </a:rPr>
                  <a:t>between expected frequency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E</a:t>
                </a:r>
                <a:r>
                  <a:rPr lang="en-GB" sz="1600" i="1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 and observed frequency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O</a:t>
                </a:r>
                <a:r>
                  <a:rPr lang="en-GB" sz="1600" i="1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en-GB" sz="1600" dirty="0">
                    <a:solidFill>
                      <a:schemeClr val="tx1"/>
                    </a:solidFill>
                  </a:rPr>
                  <a:t>: </a:t>
                </a:r>
              </a:p>
              <a:p>
                <a:pPr marL="507987" indent="-342892">
                  <a:buClrTx/>
                  <a:buFont typeface="+mj-lt"/>
                  <a:buAutoNum type="arabicPeriod"/>
                </a:pPr>
                <a:endParaRPr lang="en-GB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GB" sz="1600" dirty="0">
                    <a:solidFill>
                      <a:schemeClr val="tx1"/>
                    </a:solidFill>
                  </a:rPr>
                </a:b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9E2D92-8A10-3C03-1D12-FC077C2CE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" y="769990"/>
                <a:ext cx="4843719" cy="4003628"/>
              </a:xfrm>
              <a:prstGeom prst="rect">
                <a:avLst/>
              </a:prstGeom>
              <a:blipFill>
                <a:blip r:embed="rId4"/>
                <a:stretch>
                  <a:fillRect r="-10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ED3F1D-0010-0DAA-9328-8631AAE45DA4}"/>
                  </a:ext>
                </a:extLst>
              </p:cNvPr>
              <p:cNvSpPr txBox="1"/>
              <p:nvPr/>
            </p:nvSpPr>
            <p:spPr>
              <a:xfrm>
                <a:off x="5075444" y="1102892"/>
                <a:ext cx="37774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1800" dirty="0"/>
                  <a:t>Critical values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distribution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ED3F1D-0010-0DAA-9328-8631AAE45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444" y="1102892"/>
                <a:ext cx="3777445" cy="369332"/>
              </a:xfrm>
              <a:prstGeom prst="rect">
                <a:avLst/>
              </a:prstGeom>
              <a:blipFill>
                <a:blip r:embed="rId5"/>
                <a:stretch>
                  <a:fillRect l="-1292" t="-9836" r="-1131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EDAC993-90D8-1218-EBE9-810E4737FFD5}"/>
              </a:ext>
            </a:extLst>
          </p:cNvPr>
          <p:cNvSpPr txBox="1"/>
          <p:nvPr/>
        </p:nvSpPr>
        <p:spPr>
          <a:xfrm>
            <a:off x="7308910" y="4153513"/>
            <a:ext cx="1835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Heumann et al. (2023) p.569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E09B92-FEB7-A8F5-E8F5-E23514407E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6" y="1410669"/>
            <a:ext cx="4155683" cy="2722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40305B-7ECA-0749-9CAA-89510CE0DD56}"/>
              </a:ext>
            </a:extLst>
          </p:cNvPr>
          <p:cNvSpPr txBox="1"/>
          <p:nvPr/>
        </p:nvSpPr>
        <p:spPr>
          <a:xfrm>
            <a:off x="1845780" y="4373511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GB" dirty="0"/>
              <a:t>Note that for the test to be valid, each observation can contribute to the count for a single outcome only </a:t>
            </a:r>
          </a:p>
          <a:p>
            <a:pPr>
              <a:buClrTx/>
            </a:pPr>
            <a:r>
              <a:rPr lang="en-GB" dirty="0"/>
              <a:t>– outcomes must be independent of each other.</a:t>
            </a:r>
          </a:p>
        </p:txBody>
      </p:sp>
    </p:spTree>
    <p:extLst>
      <p:ext uri="{BB962C8B-B14F-4D97-AF65-F5344CB8AC3E}">
        <p14:creationId xmlns:p14="http://schemas.microsoft.com/office/powerpoint/2010/main" val="376028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36F0-9FE8-9CC7-CE0D-05D228F3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85B880-2C5A-4411-5B5A-70BB4C5DF070}"/>
                  </a:ext>
                </a:extLst>
              </p:cNvPr>
              <p:cNvSpPr txBox="1"/>
              <p:nvPr/>
            </p:nvSpPr>
            <p:spPr>
              <a:xfrm>
                <a:off x="1845780" y="119043"/>
                <a:ext cx="69778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800" dirty="0"/>
                  <a:t>-test procedure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85B880-2C5A-4411-5B5A-70BB4C5DF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780" y="119043"/>
                <a:ext cx="6977856" cy="523220"/>
              </a:xfrm>
              <a:prstGeom prst="rect">
                <a:avLst/>
              </a:prstGeom>
              <a:blipFill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A60C6-37C9-5505-0D3E-A86EDC9F08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93" y="808847"/>
                <a:ext cx="4663972" cy="370898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16510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  <a:defRPr sz="1400" b="0" i="0" u="none" strike="noStrike" cap="none">
                    <a:solidFill>
                      <a:srgbClr val="0F1449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507987" indent="-342892">
                  <a:buClrTx/>
                  <a:buFont typeface="+mj-lt"/>
                  <a:buAutoNum type="arabicPeriod" startAt="4"/>
                </a:pPr>
                <a:r>
                  <a:rPr lang="en-GB" sz="1600" dirty="0">
                    <a:solidFill>
                      <a:schemeClr val="tx1"/>
                    </a:solidFill>
                  </a:rPr>
                  <a:t>Compute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accent5"/>
                    </a:solidFill>
                  </a:rPr>
                  <a:t> statistic </a:t>
                </a:r>
                <a:r>
                  <a:rPr lang="en-GB" sz="1600" dirty="0">
                    <a:solidFill>
                      <a:schemeClr val="tx1"/>
                    </a:solidFill>
                  </a:rPr>
                  <a:t>by summing over all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n</a:t>
                </a:r>
                <a:r>
                  <a:rPr lang="en-GB" sz="1600" dirty="0">
                    <a:solidFill>
                      <a:schemeClr val="tx1"/>
                    </a:solidFill>
                  </a:rPr>
                  <a:t> outcomes: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GB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br>
                  <a:rPr lang="en-GB" sz="1600" dirty="0">
                    <a:solidFill>
                      <a:schemeClr val="tx1"/>
                    </a:solidFill>
                  </a:rPr>
                </a:br>
                <a:endParaRPr lang="en-GB" sz="1600" dirty="0">
                  <a:solidFill>
                    <a:schemeClr val="tx1"/>
                  </a:solidFill>
                </a:endParaRPr>
              </a:p>
              <a:p>
                <a:pPr>
                  <a:buClrTx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507987" indent="-342892">
                  <a:buClrTx/>
                  <a:buFont typeface="+mj-lt"/>
                  <a:buAutoNum type="arabicPeriod" startAt="5"/>
                </a:pPr>
                <a:r>
                  <a:rPr lang="en-GB" sz="1600" dirty="0">
                    <a:solidFill>
                      <a:schemeClr val="tx1"/>
                    </a:solidFill>
                  </a:rPr>
                  <a:t>Identify the number of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degrees of freedom</a:t>
                </a:r>
                <a:r>
                  <a:rPr lang="en-GB" sz="1600" dirty="0">
                    <a:solidFill>
                      <a:schemeClr val="tx1"/>
                    </a:solidFill>
                  </a:rPr>
                  <a:t>:</a:t>
                </a:r>
                <a:br>
                  <a:rPr lang="en-GB" sz="1600" dirty="0">
                    <a:solidFill>
                      <a:schemeClr val="tx1"/>
                    </a:solidFill>
                  </a:rPr>
                </a:br>
                <a:br>
                  <a:rPr lang="en-GB" sz="16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𝑑𝑓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1600" dirty="0">
                  <a:solidFill>
                    <a:schemeClr val="tx1"/>
                  </a:solidFill>
                </a:endParaRPr>
              </a:p>
              <a:p>
                <a:pPr marL="507987" indent="-342892">
                  <a:buClrTx/>
                  <a:buFont typeface="+mj-lt"/>
                  <a:buAutoNum type="arabicPeriod" startAt="5"/>
                </a:pPr>
                <a:endParaRPr lang="en-GB" sz="1600" dirty="0">
                  <a:solidFill>
                    <a:schemeClr val="tx1"/>
                  </a:solidFill>
                </a:endParaRPr>
              </a:p>
              <a:p>
                <a:pPr marL="507987" indent="-342892">
                  <a:buClrTx/>
                  <a:buFont typeface="+mj-lt"/>
                  <a:buAutoNum type="arabicPeriod" startAt="5"/>
                </a:pPr>
                <a:r>
                  <a:rPr lang="en-GB" sz="1600" dirty="0">
                    <a:solidFill>
                      <a:schemeClr val="tx1"/>
                    </a:solidFill>
                  </a:rPr>
                  <a:t>For the required significance level </a:t>
                </a:r>
                <a14:m>
                  <m:oMath xmlns:m="http://schemas.openxmlformats.org/officeDocument/2006/math">
                    <m:r>
                      <a:rPr lang="en-GB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, look up the </a:t>
                </a:r>
                <a:r>
                  <a:rPr lang="en-GB" sz="1600" dirty="0">
                    <a:solidFill>
                      <a:schemeClr val="accent5"/>
                    </a:solidFill>
                  </a:rPr>
                  <a:t>critical value </a:t>
                </a:r>
                <a:r>
                  <a:rPr lang="en-GB" sz="1600" dirty="0">
                    <a:solidFill>
                      <a:schemeClr val="tx1"/>
                    </a:solidFill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>
                    <a:solidFill>
                      <a:schemeClr val="tx1"/>
                    </a:solidFill>
                  </a:rPr>
                  <a:t> for this number of degrees of freedom, and make a judgement about </a:t>
                </a:r>
                <a:r>
                  <a:rPr lang="en-GB" sz="1600" i="1" dirty="0">
                    <a:solidFill>
                      <a:schemeClr val="tx1"/>
                    </a:solidFill>
                  </a:rPr>
                  <a:t>H</a:t>
                </a:r>
                <a:r>
                  <a:rPr lang="en-GB" sz="1600" baseline="-250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A60C6-37C9-5505-0D3E-A86EDC9F0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" y="808847"/>
                <a:ext cx="4663972" cy="3708987"/>
              </a:xfrm>
              <a:prstGeom prst="rect">
                <a:avLst/>
              </a:prstGeom>
              <a:blipFill>
                <a:blip r:embed="rId4"/>
                <a:stretch>
                  <a:fillRect t="-493" r="-1307" b="-16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D9F135-4115-7C9E-B9F2-2D6EB9D69FFD}"/>
                  </a:ext>
                </a:extLst>
              </p:cNvPr>
              <p:cNvSpPr txBox="1"/>
              <p:nvPr/>
            </p:nvSpPr>
            <p:spPr>
              <a:xfrm>
                <a:off x="5075444" y="1102892"/>
                <a:ext cx="37774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1800" dirty="0"/>
                  <a:t>Critical values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distribution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D9F135-4115-7C9E-B9F2-2D6EB9D69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444" y="1102892"/>
                <a:ext cx="3777445" cy="369332"/>
              </a:xfrm>
              <a:prstGeom prst="rect">
                <a:avLst/>
              </a:prstGeom>
              <a:blipFill>
                <a:blip r:embed="rId5"/>
                <a:stretch>
                  <a:fillRect l="-1292" t="-9836" r="-1131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367FEB8-51DC-1C8B-A259-908D44759693}"/>
              </a:ext>
            </a:extLst>
          </p:cNvPr>
          <p:cNvSpPr txBox="1"/>
          <p:nvPr/>
        </p:nvSpPr>
        <p:spPr>
          <a:xfrm>
            <a:off x="7308910" y="4153513"/>
            <a:ext cx="18350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Heumann et al. (2023) p.569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1316E-20E1-6D8B-3279-62AE928AD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6" y="1410669"/>
            <a:ext cx="4155683" cy="2722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0654CB-7353-26A8-F028-11B2E9B9D1D0}"/>
              </a:ext>
            </a:extLst>
          </p:cNvPr>
          <p:cNvSpPr txBox="1"/>
          <p:nvPr/>
        </p:nvSpPr>
        <p:spPr>
          <a:xfrm>
            <a:off x="2476715" y="4517835"/>
            <a:ext cx="5083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Examples:	04_chi2_goodness_of_fit.nb</a:t>
            </a:r>
          </a:p>
          <a:p>
            <a:r>
              <a:rPr lang="en-US" sz="1800" dirty="0">
                <a:solidFill>
                  <a:schemeClr val="accent6"/>
                </a:solidFill>
              </a:rPr>
              <a:t>	05a_chi2_independence_hands_on.nb</a:t>
            </a:r>
          </a:p>
        </p:txBody>
      </p:sp>
    </p:spTree>
    <p:extLst>
      <p:ext uri="{BB962C8B-B14F-4D97-AF65-F5344CB8AC3E}">
        <p14:creationId xmlns:p14="http://schemas.microsoft.com/office/powerpoint/2010/main" val="309158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Net Natives - Slide Template 2022">
  <a:themeElements>
    <a:clrScheme name="UoA NB">
      <a:dk1>
        <a:srgbClr val="00354B"/>
      </a:dk1>
      <a:lt1>
        <a:sysClr val="window" lastClr="FFFFFF"/>
      </a:lt1>
      <a:dk2>
        <a:srgbClr val="00354B"/>
      </a:dk2>
      <a:lt2>
        <a:srgbClr val="E7E6E6"/>
      </a:lt2>
      <a:accent1>
        <a:srgbClr val="00354B"/>
      </a:accent1>
      <a:accent2>
        <a:srgbClr val="00A092"/>
      </a:accent2>
      <a:accent3>
        <a:srgbClr val="2A5CAA"/>
      </a:accent3>
      <a:accent4>
        <a:srgbClr val="A01A59"/>
      </a:accent4>
      <a:accent5>
        <a:srgbClr val="E73331"/>
      </a:accent5>
      <a:accent6>
        <a:srgbClr val="462E8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F9979B35931449F7D5B555FF11DBF" ma:contentTypeVersion="15" ma:contentTypeDescription="Create a new document." ma:contentTypeScope="" ma:versionID="40028b60f78d3b1e1027daf11f117501">
  <xsd:schema xmlns:xsd="http://www.w3.org/2001/XMLSchema" xmlns:xs="http://www.w3.org/2001/XMLSchema" xmlns:p="http://schemas.microsoft.com/office/2006/metadata/properties" xmlns:ns3="afda85e8-169f-4de6-ab20-dcb4d9f52f1d" xmlns:ns4="8b1dd782-ccf7-4009-b7ca-c017af54b4e8" targetNamespace="http://schemas.microsoft.com/office/2006/metadata/properties" ma:root="true" ma:fieldsID="2814960e859bcb58c5184922c838c881" ns3:_="" ns4:_="">
    <xsd:import namespace="afda85e8-169f-4de6-ab20-dcb4d9f52f1d"/>
    <xsd:import namespace="8b1dd782-ccf7-4009-b7ca-c017af54b4e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da85e8-169f-4de6-ab20-dcb4d9f52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dd782-ccf7-4009-b7ca-c017af54b4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b1dd782-ccf7-4009-b7ca-c017af54b4e8" xsi:nil="true"/>
  </documentManagement>
</p:properties>
</file>

<file path=customXml/itemProps1.xml><?xml version="1.0" encoding="utf-8"?>
<ds:datastoreItem xmlns:ds="http://schemas.openxmlformats.org/officeDocument/2006/customXml" ds:itemID="{42F9613A-C801-49EA-A7FA-513B2D091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da85e8-169f-4de6-ab20-dcb4d9f52f1d"/>
    <ds:schemaRef ds:uri="8b1dd782-ccf7-4009-b7ca-c017af54b4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7700E5-9302-469D-A5F8-2104E8F64D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15FE96-BD7D-43F9-B325-35CBEA89D188}">
  <ds:schemaRefs>
    <ds:schemaRef ds:uri="8b1dd782-ccf7-4009-b7ca-c017af54b4e8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afda85e8-169f-4de6-ab20-dcb4d9f52f1d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17135</TotalTime>
  <Words>1176</Words>
  <Application>Microsoft Office PowerPoint</Application>
  <PresentationFormat>On-screen Show (16:9)</PresentationFormat>
  <Paragraphs>113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Cambria Math</vt:lpstr>
      <vt:lpstr>Aharoni</vt:lpstr>
      <vt:lpstr>Montserrat</vt:lpstr>
      <vt:lpstr>Arial</vt:lpstr>
      <vt:lpstr>1_Net Natives - Slide Template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Craig</dc:creator>
  <cp:lastModifiedBy>George, Sandip</cp:lastModifiedBy>
  <cp:revision>109</cp:revision>
  <dcterms:modified xsi:type="dcterms:W3CDTF">2026-02-17T18:54:53Z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0x010100CD4F9979B35931449F7D5B555FF11DBF</vt:lpwstr>
  </property>
</Properties>
</file>