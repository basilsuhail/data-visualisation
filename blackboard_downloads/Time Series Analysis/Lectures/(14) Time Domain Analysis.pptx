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4"/>
    <p:sldMasterId id="2147483732" r:id="rId5"/>
  </p:sldMasterIdLst>
  <p:notesMasterIdLst>
    <p:notesMasterId r:id="rId24"/>
  </p:notesMasterIdLst>
  <p:sldIdLst>
    <p:sldId id="295" r:id="rId6"/>
    <p:sldId id="321" r:id="rId7"/>
    <p:sldId id="367" r:id="rId8"/>
    <p:sldId id="365" r:id="rId9"/>
    <p:sldId id="366" r:id="rId10"/>
    <p:sldId id="368" r:id="rId11"/>
    <p:sldId id="369" r:id="rId12"/>
    <p:sldId id="372" r:id="rId13"/>
    <p:sldId id="371" r:id="rId14"/>
    <p:sldId id="344" r:id="rId15"/>
    <p:sldId id="345" r:id="rId16"/>
    <p:sldId id="332" r:id="rId17"/>
    <p:sldId id="333" r:id="rId18"/>
    <p:sldId id="334" r:id="rId19"/>
    <p:sldId id="335" r:id="rId20"/>
    <p:sldId id="336" r:id="rId21"/>
    <p:sldId id="339" r:id="rId22"/>
    <p:sldId id="364" r:id="rId2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5" orient="horz" pos="1008" userDrawn="1">
          <p15:clr>
            <a:srgbClr val="A4A3A4"/>
          </p15:clr>
        </p15:guide>
        <p15:guide id="7" pos="4921" userDrawn="1">
          <p15:clr>
            <a:srgbClr val="A4A3A4"/>
          </p15:clr>
        </p15:guide>
        <p15:guide id="8" pos="3266" userDrawn="1">
          <p15:clr>
            <a:srgbClr val="A4A3A4"/>
          </p15:clr>
        </p15:guide>
        <p15:guide id="10" orient="horz" pos="1325" userDrawn="1">
          <p15:clr>
            <a:srgbClr val="A4A3A4"/>
          </p15:clr>
        </p15:guide>
        <p15:guide id="14" orient="horz" pos="849" userDrawn="1">
          <p15:clr>
            <a:srgbClr val="A4A3A4"/>
          </p15:clr>
        </p15:guide>
        <p15:guide id="16" orient="horz" pos="2618" userDrawn="1">
          <p15:clr>
            <a:srgbClr val="A4A3A4"/>
          </p15:clr>
        </p15:guide>
        <p15:guide id="17" orient="horz" pos="2867" userDrawn="1">
          <p15:clr>
            <a:srgbClr val="A4A3A4"/>
          </p15:clr>
        </p15:guide>
        <p15:guide id="18" pos="226" userDrawn="1">
          <p15:clr>
            <a:srgbClr val="A4A3A4"/>
          </p15:clr>
        </p15:guide>
        <p15:guide id="19" pos="4377" userDrawn="1">
          <p15:clr>
            <a:srgbClr val="A4A3A4"/>
          </p15:clr>
        </p15:guide>
        <p15:guide id="20" orient="horz" pos="1166" userDrawn="1">
          <p15:clr>
            <a:srgbClr val="A4A3A4"/>
          </p15:clr>
        </p15:guide>
        <p15:guide id="21" orient="horz" pos="3240" userDrawn="1">
          <p15:clr>
            <a:srgbClr val="A4A3A4"/>
          </p15:clr>
        </p15:guide>
        <p15:guide id="22" pos="2767" userDrawn="1">
          <p15:clr>
            <a:srgbClr val="A4A3A4"/>
          </p15:clr>
        </p15:guide>
        <p15:guide id="23" pos="381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7DD8A5-A728-9C7C-F9A6-F26C08135F17}" name="Macdonald, Lucy J" initials="MLJ" userId="S::ade372@abdn.ac.uk::f488a842-baa6-445c-8bd4-613a5949b1d7" providerId="AD"/>
  <p188:author id="{7CAF7BF6-7A11-9674-ED67-4A4149AD6C3E}" name="Law, Karen" initials="LK" userId="S::lls032@abdn.ac.uk::4db01025-f5d7-4169-8d29-d41e4834ac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547"/>
    <a:srgbClr val="593341"/>
    <a:srgbClr val="923038"/>
    <a:srgbClr val="BF2E31"/>
    <a:srgbClr val="E02D2D"/>
    <a:srgbClr val="003F65"/>
    <a:srgbClr val="00457A"/>
    <a:srgbClr val="004E97"/>
    <a:srgbClr val="0056AD"/>
    <a:srgbClr val="005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80809A-CAED-BB0B-2E33-CAC969D7905A}" v="532" dt="2026-02-23T10:59:50.181"/>
    <p1510:client id="{BB0B70B4-799E-9789-EB34-F5FC299DE478}" v="1736" dt="2026-02-22T02:23:56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4868"/>
  </p:normalViewPr>
  <p:slideViewPr>
    <p:cSldViewPr snapToGrid="0">
      <p:cViewPr varScale="1">
        <p:scale>
          <a:sx n="159" d="100"/>
          <a:sy n="159" d="100"/>
        </p:scale>
        <p:origin x="1128" y="176"/>
      </p:cViewPr>
      <p:guideLst>
        <p:guide orient="horz" pos="3026"/>
        <p:guide orient="horz" pos="1008"/>
        <p:guide pos="4921"/>
        <p:guide pos="3266"/>
        <p:guide orient="horz" pos="1325"/>
        <p:guide orient="horz" pos="849"/>
        <p:guide orient="horz" pos="2618"/>
        <p:guide orient="horz" pos="2867"/>
        <p:guide pos="226"/>
        <p:guide pos="4377"/>
        <p:guide orient="horz" pos="1166"/>
        <p:guide orient="horz" pos="3240"/>
        <p:guide pos="2767"/>
        <p:guide pos="38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4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9AD5-E527-AA89-9F45-BAF43648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A925C-0986-02CB-7D33-70310C7D4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6AC93-7AA3-BC86-807D-FDEC7C2B8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89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11659-97D3-66EF-FE9E-9612ADCC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17C79-D0D5-046A-456A-390AF66C3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54376-F72E-0DA8-89A9-CA09562B5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646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B9816-A2F8-5CB7-1D58-31398022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F6467-4C46-6EAA-0ED6-B345B0FFB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F91EE-D3A7-CCC3-0ED7-6A69C2DA7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446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AFA1-0038-149F-0537-D50D2EB6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6E52C-7EB2-7387-E6FD-8AE159D39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5C312-D664-F24E-9E55-EE0C51D0C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668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23AD-4070-D558-7B19-49A6C5C6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32C17-FA9C-FA38-D0B9-7B4E11BFA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D774A3-62B7-9D81-46B9-C89D0EC7D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07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EB0C-FCD0-0D67-F093-6E82DDD7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2823A-D79C-08BC-88C3-28D0B51B4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9BEBB-9524-4BAD-E6E8-35906916E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187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4D9E-B64B-2029-6F0A-087B3F25A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B7ECC-6B2C-002C-FFD1-1FCE75616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5A38D-4D3B-ECB1-AA50-9C7D8640A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29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7B19-A2B5-6854-AFD0-B8E1E040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86181-6784-F8F0-D573-551A28577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459D8-766C-2531-E403-CE2F3E259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14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AEC0-D461-5226-0DC8-1099CFA1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66AEC-2BE3-C0FD-AF0F-7AE60B6D4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FDF67-FDC9-F874-2452-C0B02B5BD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73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0C41-CDB5-34FB-D1D0-188C84F0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FF2AB-0637-9749-F017-DA046330C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FDD14-41A1-7CB3-C0F4-4ED0E7F48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473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A449-29CF-029F-A47B-BC24A4C3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88F11-76CD-09BA-DDA6-D80D0ED8D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86A82-319E-8ED6-8188-CA5289A7F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53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A8D3-36E7-D952-9C83-7E3F2E1C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599FA-E3E0-942E-55F5-A991059E0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4320D-1B92-C678-0C27-318C05FD2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78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52E5-2527-DFE1-4A6F-D621A8C5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BD482-C67C-EDC3-D464-AB0B39889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16698-55EA-8C75-13A7-6EE4C1DD6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772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E5B7-2352-C58D-49B0-FEBACED1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381DB-9AE2-9FC2-B034-93A4869C6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93484-32FD-845B-0CA7-FE59D02AD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22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3577-7228-145C-FAA6-CA3972E2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33B84-6FBB-60A8-EC7D-D1375D515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DE646-A833-A356-0E1C-601532173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19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jpe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FEDC-17C2-E3B4-CDEE-235AE1C88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8D463-A0D7-DC63-A511-1429660EA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45ADA-82AA-54A8-CB05-CB810056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C8AA1-7DDC-01B5-AC98-5E6C18F7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54E00-ECAC-DE03-ABE9-03A92081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4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EBAD-D006-1E1D-156E-A9DC11FA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3318C-A8AD-6B34-2677-7D4974367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96AF6-FD95-4E0F-9EDC-6F013866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76C8B-8D5E-F175-61C6-B2C0FE2B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532F0-1AF3-1E83-FC99-53AB27C2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4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ABA2-9E6D-40B5-4734-00285716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1C8B5-784B-8C00-6D24-8729F04EF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97B7E-E0CF-1865-60B6-E2A6816FA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6B83-947B-553A-3886-98CB7B43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9B077-9F60-1E9C-35FF-5CD51055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3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585B-BA8C-F45D-1CD7-876E96C1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60E95-694B-1820-DA2C-D988580B4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183BB-7A6B-15FC-1AF9-E56338C5E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73C25-C71F-B124-B391-FD0CEC4EA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8F69B-0565-868B-62DE-8355FC71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E77D1-D6BD-217B-64F3-B8827AB7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22EA-C732-4E25-B1F4-940138B9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92768-585B-09AA-761D-393841ED8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35A47-DC07-031C-B142-2734FC66B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9211B-DD34-ABE8-2D08-2E4A65F22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532AE-1BAE-BF52-3835-1AE42EA9A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C16AD-0DD7-54BA-018E-841FF9EA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5B2EA-A489-AAA7-458F-401FA75D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98CC4-4C43-1E56-E1AA-2289C07C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6793-DAAB-8960-EC13-D9C6DB2C0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3A79F-504C-E785-F3DC-350D16F2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C215A-A049-F3EF-415D-5C9198CC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DC415-21EF-4E12-FE43-3A9654ED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16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EB899-8835-2700-92EA-500E8C66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FB8AD-3922-4E24-47AC-1C78EDC3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ED761-7A33-7571-2FE9-6B3D3FFD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6A12-421D-21F1-FF85-142FA7473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759D-F859-7294-7FA8-D2AA936FB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DDAD5-F4B3-B3C4-E3D7-EFE76DFB8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0D794-FF14-88BC-7D7E-B02C2CAC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13CF2-53B7-AE8B-3AA9-ECCBC51F4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8DA47-9218-F4AB-6004-87D39B4C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0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77FA-CF5D-A059-55A7-4C177421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0AA74-93BE-D793-2D90-EEFF261A1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67F6F-AFD7-3DB3-0D90-6DD84C6CC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FCDC2-FADD-4E59-5991-9D35E82C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C583B-C44B-F6BE-B093-AA10A59B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7E63E-969E-3E59-2679-0A56F784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3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D243-1CC7-F24C-8C85-6266DEE8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A80C1-983E-13AF-E521-E019CBC60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1C633-2124-2456-ED65-9E0F7996F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20230-7ECB-199D-57D9-32A67A65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65126-E0EF-1DC9-A5AA-45D41636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2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4B1E0-3923-CE75-B988-31956B172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12691-9701-F01E-6D4D-AD9E0A301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6FF45-30E6-7F0B-B408-12D76419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E8F9F-08B9-A6B9-C371-79FC575BF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C6FF-3F2B-1286-1C18-700DFA79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28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21616-CEDB-8605-4F34-01BC1E44B671}"/>
              </a:ext>
            </a:extLst>
          </p:cNvPr>
          <p:cNvSpPr txBox="1"/>
          <p:nvPr userDrawn="1"/>
        </p:nvSpPr>
        <p:spPr>
          <a:xfrm>
            <a:off x="295276" y="573637"/>
            <a:ext cx="8448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F1449"/>
                </a:solidFill>
              </a:rPr>
              <a:t>How to use </a:t>
            </a:r>
            <a:r>
              <a:rPr lang="en-GB" sz="2000" dirty="0">
                <a:solidFill>
                  <a:srgbClr val="0F1449"/>
                </a:solidFill>
              </a:rPr>
              <a:t>our PowerPoint template</a:t>
            </a:r>
            <a:endParaRPr lang="en-US" sz="2000" dirty="0">
              <a:solidFill>
                <a:srgbClr val="0F144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EDFD9-FC6E-2F17-9CFC-DD12295FCC8D}"/>
              </a:ext>
            </a:extLst>
          </p:cNvPr>
          <p:cNvSpPr txBox="1"/>
          <p:nvPr/>
        </p:nvSpPr>
        <p:spPr>
          <a:xfrm>
            <a:off x="314326" y="1297537"/>
            <a:ext cx="5391530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867" dirty="0">
                <a:solidFill>
                  <a:srgbClr val="0F1449"/>
                </a:solidFill>
              </a:rPr>
              <a:t>This is an accessible template. Please do not stray from any of the colours used.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GB" sz="1867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b="1" dirty="0">
                <a:solidFill>
                  <a:srgbClr val="0F1449"/>
                </a:solidFill>
              </a:rPr>
              <a:t>How to change a picture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1. Click the picture on the slide, that you wish to replace. The picture frame    will show an outline once selected.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2. Go to the </a:t>
            </a:r>
            <a:r>
              <a:rPr lang="en-GB" sz="1200" b="1" dirty="0">
                <a:solidFill>
                  <a:srgbClr val="0F1449"/>
                </a:solidFill>
              </a:rPr>
              <a:t>Picture Format</a:t>
            </a:r>
            <a:r>
              <a:rPr lang="en-GB" sz="1200" dirty="0">
                <a:solidFill>
                  <a:srgbClr val="0F1449"/>
                </a:solidFill>
              </a:rPr>
              <a:t> tab – located along the top of your window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3. Click </a:t>
            </a:r>
            <a:r>
              <a:rPr lang="en-GB" sz="1200" b="1" dirty="0">
                <a:solidFill>
                  <a:srgbClr val="0F1449"/>
                </a:solidFill>
              </a:rPr>
              <a:t>Change Picture</a:t>
            </a:r>
            <a:endParaRPr lang="en-GB" sz="1200" b="0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b="0" dirty="0">
                <a:solidFill>
                  <a:srgbClr val="0F1449"/>
                </a:solidFill>
              </a:rPr>
              <a:t>4. From the drop down menu select </a:t>
            </a:r>
            <a:r>
              <a:rPr lang="en-GB" sz="1200" b="1" dirty="0">
                <a:solidFill>
                  <a:srgbClr val="0F1449"/>
                </a:solidFill>
              </a:rPr>
              <a:t>From a file…</a:t>
            </a:r>
            <a:r>
              <a:rPr lang="en-GB" sz="1200" b="0" dirty="0">
                <a:solidFill>
                  <a:srgbClr val="0F1449"/>
                </a:solidFill>
              </a:rPr>
              <a:t> and navigate  to the picture on your computer, that you wish to use.</a:t>
            </a:r>
            <a:endParaRPr lang="en-GB" sz="1200" b="1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867" dirty="0">
                <a:solidFill>
                  <a:srgbClr val="0F1449"/>
                </a:solidFill>
              </a:rPr>
              <a:t> </a:t>
            </a:r>
          </a:p>
          <a:p>
            <a:endParaRPr lang="en-US" sz="1867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BD870E9-9E9D-B9C2-E7ED-78AA868427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5928404" y="3597473"/>
            <a:ext cx="2758395" cy="846943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B577ED3-DB93-4CC9-59D4-E0F4536FF6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4139" y="1993525"/>
            <a:ext cx="2757568" cy="147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86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c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3FD7C8-6591-6AC0-EAB3-CDE70DBC4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3" y="568536"/>
            <a:ext cx="3609837" cy="1535792"/>
          </a:xfrm>
          <a:prstGeom prst="rect">
            <a:avLst/>
          </a:prstGeom>
        </p:spPr>
      </p:pic>
      <p:pic>
        <p:nvPicPr>
          <p:cNvPr id="5" name="Picture 4" descr="Green lights in the sky&#10;&#10;Description automatically generated">
            <a:extLst>
              <a:ext uri="{FF2B5EF4-FFF2-40B4-BE49-F238E27FC236}">
                <a16:creationId xmlns:a16="http://schemas.microsoft.com/office/drawing/2014/main" id="{D8998E38-7B7F-0C9A-943A-08547EF312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1" y="565831"/>
            <a:ext cx="4328748" cy="402794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8FF3ACE-2EDC-C17C-0E63-50B8A305E974}"/>
              </a:ext>
            </a:extLst>
          </p:cNvPr>
          <p:cNvSpPr txBox="1"/>
          <p:nvPr/>
        </p:nvSpPr>
        <p:spPr>
          <a:xfrm>
            <a:off x="258557" y="1390378"/>
            <a:ext cx="4789714" cy="1325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en-US" sz="5000" b="0" dirty="0">
                <a:solidFill>
                  <a:schemeClr val="tx1"/>
                </a:solidFill>
              </a:rPr>
              <a:t>Go</a:t>
            </a:r>
            <a:r>
              <a:rPr lang="en-US" sz="5000" b="1" dirty="0">
                <a:solidFill>
                  <a:schemeClr val="tx1"/>
                </a:solidFill>
              </a:rPr>
              <a:t> Beyond</a:t>
            </a:r>
          </a:p>
          <a:p>
            <a:pPr>
              <a:lnSpc>
                <a:spcPts val="4500"/>
              </a:lnSpc>
            </a:pPr>
            <a:r>
              <a:rPr lang="en-US" sz="5000" b="1" dirty="0">
                <a:solidFill>
                  <a:schemeClr val="tx1"/>
                </a:solidFill>
              </a:rPr>
              <a:t>  Boundaries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2428C7-33A7-3C26-4B51-15FE5D3A298F}"/>
              </a:ext>
            </a:extLst>
          </p:cNvPr>
          <p:cNvGrpSpPr/>
          <p:nvPr/>
        </p:nvGrpSpPr>
        <p:grpSpPr>
          <a:xfrm>
            <a:off x="6389909" y="564417"/>
            <a:ext cx="2206037" cy="1286156"/>
            <a:chOff x="6973622" y="564415"/>
            <a:chExt cx="1622324" cy="104396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25F0E5B-63C6-29A8-3498-586E1A88888E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E61023-286A-E99D-BA06-019201FFBC71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F729B8-41FB-7D6D-AA5F-699CAE24EA9E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08F56B8-4679-BBC0-A8B1-E1FAD3E20DC3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54D6D76-8910-F782-7730-80F15F347E3A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477982-DE41-4715-32B6-329DA7EBD574}"/>
              </a:ext>
            </a:extLst>
          </p:cNvPr>
          <p:cNvGrpSpPr/>
          <p:nvPr/>
        </p:nvGrpSpPr>
        <p:grpSpPr>
          <a:xfrm rot="10800000">
            <a:off x="3654041" y="3159389"/>
            <a:ext cx="2735872" cy="1442977"/>
            <a:chOff x="6973622" y="564415"/>
            <a:chExt cx="1622324" cy="104396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A7FD06F-0052-0A9F-B503-1335C9958AD0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199FDAA-2913-D6CC-B0D0-4BDFF8EC30A2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93ACB9-44F4-4E0C-615A-EBB817B21066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03C0EAF-5379-0C3D-92BD-A268D884FFF6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BDF492-7BD9-E9B6-502A-4E5B619AE947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</p:grpSp>
    </p:spTree>
    <p:extLst>
      <p:ext uri="{BB962C8B-B14F-4D97-AF65-F5344CB8AC3E}">
        <p14:creationId xmlns:p14="http://schemas.microsoft.com/office/powerpoint/2010/main" val="3192793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54">
            <a:extLst>
              <a:ext uri="{FF2B5EF4-FFF2-40B4-BE49-F238E27FC236}">
                <a16:creationId xmlns:a16="http://schemas.microsoft.com/office/drawing/2014/main" id="{21022EE8-9487-F19B-8FED-F26AD3CD1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9" y="2221261"/>
            <a:ext cx="3511317" cy="1937139"/>
          </a:xfrm>
          <a:prstGeom prst="rect">
            <a:avLst/>
          </a:prstGeom>
        </p:spPr>
        <p:txBody>
          <a:bodyPr anchor="t"/>
          <a:lstStyle>
            <a:lvl1pPr>
              <a:lnSpc>
                <a:spcPts val="3825"/>
              </a:lnSpc>
              <a:defRPr/>
            </a:lvl1pPr>
          </a:lstStyle>
          <a:p>
            <a:pPr>
              <a:lnSpc>
                <a:spcPts val="5100"/>
              </a:lnSpc>
            </a:pPr>
            <a:r>
              <a:rPr lang="en-US" sz="3300" b="0" dirty="0">
                <a:solidFill>
                  <a:schemeClr val="tx1"/>
                </a:solidFill>
              </a:rPr>
              <a:t>Title</a:t>
            </a:r>
            <a:endParaRPr lang="en-US" sz="3300" b="1" dirty="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1C90CCB-4722-4D25-4FA8-FDA1C3408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45614" y="675000"/>
            <a:ext cx="3969737" cy="369240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DE0EF1-2D31-3656-BB42-09B28DF80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02" y="675000"/>
            <a:ext cx="3917411" cy="15482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4D89F58-77A9-CEFB-8FBA-DDEDF7404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00" y="534600"/>
            <a:ext cx="1870382" cy="16334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D784B1A-72F6-9126-C80B-DCE02F3CF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139706" y="2733941"/>
            <a:ext cx="1870382" cy="163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60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  <p15:guide id="5" pos="1240">
          <p15:clr>
            <a:srgbClr val="FBAE40"/>
          </p15:clr>
        </p15:guide>
        <p15:guide id="6" pos="4021">
          <p15:clr>
            <a:srgbClr val="FBAE40"/>
          </p15:clr>
        </p15:guide>
        <p15:guide id="7" orient="horz" pos="58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501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C89115-C13B-D5EB-6B6F-7E9181213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26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  <p15:guide id="5" orient="horz" pos="1616">
          <p15:clr>
            <a:srgbClr val="FBAE40"/>
          </p15:clr>
        </p15:guide>
        <p15:guide id="6" orient="horz" pos="82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C3172CFE-7FA6-4B0E-654B-FA106F165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1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11786-CDA1-67C5-BD60-4FA02E06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92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7E2B0-D9E8-D83E-AF38-586A0F884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82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5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>
          <p15:clr>
            <a:srgbClr val="FBAE40"/>
          </p15:clr>
        </p15:guide>
        <p15:guide id="2" pos="204">
          <p15:clr>
            <a:srgbClr val="FBAE40"/>
          </p15:clr>
        </p15:guide>
        <p15:guide id="3" orient="horz" pos="3026">
          <p15:clr>
            <a:srgbClr val="FBAE40"/>
          </p15:clr>
        </p15:guide>
        <p15:guide id="4" pos="553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lt">
    <p:bg>
      <p:bgPr>
        <a:solidFill>
          <a:srgbClr val="0E4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92EFCC-CF2E-A2D2-D7D9-B0A94342839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79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C52D8F7E-09E8-26BD-C2F6-417715BF46A8}"/>
              </a:ext>
            </a:extLst>
          </p:cNvPr>
          <p:cNvGrpSpPr/>
          <p:nvPr userDrawn="1"/>
        </p:nvGrpSpPr>
        <p:grpSpPr>
          <a:xfrm>
            <a:off x="2854735" y="831643"/>
            <a:ext cx="1923395" cy="1047136"/>
            <a:chOff x="2854735" y="831643"/>
            <a:chExt cx="1923395" cy="10471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BA26B9-1717-C033-0A59-4B2211D1CE37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00CC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6DBFD7-B56B-75E0-2C49-3CDD73A3945F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00CCCF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D8DEF6-27D4-AE57-B68F-36556D9E8271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00CCCF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8135E2-C088-7A35-48BB-E5DE80513407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00CCCF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A33980-BBD2-BF45-8A05-478208C4D675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00CCCF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CAA420-79F2-D1E7-F814-241061522471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10342A-B19E-983D-A206-936898B6A4F8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00CC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1C363C-E2CD-A3DC-CA9E-D4D4C6ADA52C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00CCCF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3B4330B-0998-9433-5623-B62043F72A84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00CCCF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B134D6-A55A-7CCE-A64A-8ADD920AB841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00CCCF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4F952A-312F-3105-3F3A-56A22A46418F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00CCCF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1E9037-0277-8BB8-0559-4F6A93CEAA11}"/>
              </a:ext>
            </a:extLst>
          </p:cNvPr>
          <p:cNvGrpSpPr/>
          <p:nvPr userDrawn="1"/>
        </p:nvGrpSpPr>
        <p:grpSpPr>
          <a:xfrm>
            <a:off x="14749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582AD1E-9523-8A00-454A-D37460CAA25A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D7DC96-58CC-5BD3-05F0-5478CA0A5755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51240F-F6F1-56AB-5D89-29E458E1CEC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EA3F7-CA25-7CFD-3C37-80B58D40BEDC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95E4FA-4ED6-E0C0-455F-8469081F97E3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1518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Daybreak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FBCB3B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FBCB3B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009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43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Heritage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75E0AA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75E0AA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80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7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Midnight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00CCCF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00CCCF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30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ic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2961389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5" name="Picture 4" descr="Green lights in the sky&#10;&#10;Description automatically generated">
            <a:extLst>
              <a:ext uri="{FF2B5EF4-FFF2-40B4-BE49-F238E27FC236}">
                <a16:creationId xmlns:a16="http://schemas.microsoft.com/office/drawing/2014/main" id="{D8998E38-7B7F-0C9A-943A-08547EF31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1" y="565830"/>
            <a:ext cx="4328748" cy="402794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FFC6B29-86D6-4F54-7A6A-1689EB1FF804}"/>
              </a:ext>
            </a:extLst>
          </p:cNvPr>
          <p:cNvGrpSpPr/>
          <p:nvPr userDrawn="1"/>
        </p:nvGrpSpPr>
        <p:grpSpPr>
          <a:xfrm>
            <a:off x="537166" y="565830"/>
            <a:ext cx="1585548" cy="1121430"/>
            <a:chOff x="5279444" y="0"/>
            <a:chExt cx="1493102" cy="11214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5F02B4-68FE-6BEE-99A5-B7F916FD4109}"/>
                </a:ext>
              </a:extLst>
            </p:cNvPr>
            <p:cNvSpPr/>
            <p:nvPr/>
          </p:nvSpPr>
          <p:spPr>
            <a:xfrm>
              <a:off x="5279446" y="0"/>
              <a:ext cx="1493100" cy="225086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51E83F-87B2-A240-36D4-1889BA983F68}"/>
                </a:ext>
              </a:extLst>
            </p:cNvPr>
            <p:cNvSpPr/>
            <p:nvPr/>
          </p:nvSpPr>
          <p:spPr>
            <a:xfrm>
              <a:off x="5279446" y="223006"/>
              <a:ext cx="1493100" cy="225086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C18A5C-9C4A-BAF3-0688-481D45B892D0}"/>
                </a:ext>
              </a:extLst>
            </p:cNvPr>
            <p:cNvSpPr/>
            <p:nvPr/>
          </p:nvSpPr>
          <p:spPr>
            <a:xfrm>
              <a:off x="5279446" y="448092"/>
              <a:ext cx="1493100" cy="225086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A5338C-89F2-2BB7-59A1-9A5CA3AE96A5}"/>
                </a:ext>
              </a:extLst>
            </p:cNvPr>
            <p:cNvSpPr/>
            <p:nvPr/>
          </p:nvSpPr>
          <p:spPr>
            <a:xfrm>
              <a:off x="5279445" y="671098"/>
              <a:ext cx="1493100" cy="225086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1E8B65-2649-6643-1301-8DE39597E859}"/>
                </a:ext>
              </a:extLst>
            </p:cNvPr>
            <p:cNvSpPr/>
            <p:nvPr/>
          </p:nvSpPr>
          <p:spPr>
            <a:xfrm>
              <a:off x="5279444" y="896344"/>
              <a:ext cx="1493100" cy="225086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04FDFD-F628-003D-8B43-4249C5B51A6D}"/>
              </a:ext>
            </a:extLst>
          </p:cNvPr>
          <p:cNvGrpSpPr/>
          <p:nvPr userDrawn="1"/>
        </p:nvGrpSpPr>
        <p:grpSpPr>
          <a:xfrm>
            <a:off x="2122715" y="566616"/>
            <a:ext cx="2144480" cy="1703600"/>
            <a:chOff x="6770915" y="5295"/>
            <a:chExt cx="2363830" cy="17036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5FD9AE-983D-9734-49E5-C8768A88B551}"/>
                </a:ext>
              </a:extLst>
            </p:cNvPr>
            <p:cNvSpPr/>
            <p:nvPr/>
          </p:nvSpPr>
          <p:spPr>
            <a:xfrm>
              <a:off x="6770921" y="5295"/>
              <a:ext cx="2363824" cy="341274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585D902-8201-A6E6-9737-D8026949B4C2}"/>
                </a:ext>
              </a:extLst>
            </p:cNvPr>
            <p:cNvSpPr/>
            <p:nvPr/>
          </p:nvSpPr>
          <p:spPr>
            <a:xfrm>
              <a:off x="6770921" y="346754"/>
              <a:ext cx="2363824" cy="341274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8C3BF7C-541C-CC6C-BF88-014EFB506C37}"/>
                </a:ext>
              </a:extLst>
            </p:cNvPr>
            <p:cNvSpPr/>
            <p:nvPr/>
          </p:nvSpPr>
          <p:spPr>
            <a:xfrm>
              <a:off x="6770921" y="688028"/>
              <a:ext cx="2363824" cy="341274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1FE648-D5EA-7709-3600-70DEC5ECB645}"/>
                </a:ext>
              </a:extLst>
            </p:cNvPr>
            <p:cNvSpPr/>
            <p:nvPr/>
          </p:nvSpPr>
          <p:spPr>
            <a:xfrm>
              <a:off x="6770918" y="1026347"/>
              <a:ext cx="2363824" cy="341274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B262D2-CBAA-B893-21EC-ADBDCA85B291}"/>
                </a:ext>
              </a:extLst>
            </p:cNvPr>
            <p:cNvSpPr/>
            <p:nvPr/>
          </p:nvSpPr>
          <p:spPr>
            <a:xfrm>
              <a:off x="6770915" y="1367621"/>
              <a:ext cx="2363824" cy="341274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8FF3ACE-2EDC-C17C-0E63-50B8A305E974}"/>
              </a:ext>
            </a:extLst>
          </p:cNvPr>
          <p:cNvSpPr txBox="1"/>
          <p:nvPr userDrawn="1"/>
        </p:nvSpPr>
        <p:spPr>
          <a:xfrm>
            <a:off x="258557" y="1390378"/>
            <a:ext cx="4789714" cy="1325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en-US" sz="5000" b="0" dirty="0">
                <a:solidFill>
                  <a:schemeClr val="bg1"/>
                </a:solidFill>
              </a:rPr>
              <a:t>Go</a:t>
            </a:r>
            <a:r>
              <a:rPr lang="en-US" sz="5000" b="1" dirty="0">
                <a:solidFill>
                  <a:schemeClr val="bg1"/>
                </a:solidFill>
              </a:rPr>
              <a:t> Beyond</a:t>
            </a:r>
          </a:p>
          <a:p>
            <a:pPr>
              <a:lnSpc>
                <a:spcPts val="4500"/>
              </a:lnSpc>
            </a:pPr>
            <a:r>
              <a:rPr lang="en-US" sz="5000" b="1" dirty="0">
                <a:solidFill>
                  <a:schemeClr val="bg1"/>
                </a:solidFill>
              </a:rPr>
              <a:t>  Boundaries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2428C7-33A7-3C26-4B51-15FE5D3A298F}"/>
              </a:ext>
            </a:extLst>
          </p:cNvPr>
          <p:cNvGrpSpPr/>
          <p:nvPr userDrawn="1"/>
        </p:nvGrpSpPr>
        <p:grpSpPr>
          <a:xfrm>
            <a:off x="6389908" y="564416"/>
            <a:ext cx="2206037" cy="1286156"/>
            <a:chOff x="6973622" y="564415"/>
            <a:chExt cx="1622324" cy="104396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25F0E5B-63C6-29A8-3498-586E1A88888E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E61023-286A-E99D-BA06-019201FFBC71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F729B8-41FB-7D6D-AA5F-699CAE24EA9E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08F56B8-4679-BBC0-A8B1-E1FAD3E20DC3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54D6D76-8910-F782-7730-80F15F347E3A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477982-DE41-4715-32B6-329DA7EBD574}"/>
              </a:ext>
            </a:extLst>
          </p:cNvPr>
          <p:cNvGrpSpPr/>
          <p:nvPr userDrawn="1"/>
        </p:nvGrpSpPr>
        <p:grpSpPr>
          <a:xfrm rot="10800000">
            <a:off x="3654040" y="3159388"/>
            <a:ext cx="2735872" cy="1442977"/>
            <a:chOff x="6973622" y="564415"/>
            <a:chExt cx="1622324" cy="104396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A7FD06F-0052-0A9F-B503-1335C9958AD0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199FDAA-2913-D6CC-B0D0-4BDFF8EC30A2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93ACB9-44F4-4E0C-615A-EBB817B21066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03C0EAF-5379-0C3D-92BD-A268D884FFF6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BDF492-7BD9-E9B6-502A-4E5B619AE947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924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nking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514CE09-BA96-869C-06C2-E09AF022505D}"/>
              </a:ext>
            </a:extLst>
          </p:cNvPr>
          <p:cNvGrpSpPr/>
          <p:nvPr userDrawn="1"/>
        </p:nvGrpSpPr>
        <p:grpSpPr>
          <a:xfrm>
            <a:off x="3727066" y="629836"/>
            <a:ext cx="5105880" cy="3865754"/>
            <a:chOff x="3727066" y="629836"/>
            <a:chExt cx="5105880" cy="38657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21F829-81E2-94FA-EE99-EE9F0C91862F}"/>
                </a:ext>
              </a:extLst>
            </p:cNvPr>
            <p:cNvGrpSpPr/>
            <p:nvPr/>
          </p:nvGrpSpPr>
          <p:grpSpPr>
            <a:xfrm>
              <a:off x="3727066" y="630558"/>
              <a:ext cx="1326037" cy="1854495"/>
              <a:chOff x="3727066" y="630558"/>
              <a:chExt cx="1326037" cy="1854495"/>
            </a:xfrm>
          </p:grpSpPr>
          <p:pic>
            <p:nvPicPr>
              <p:cNvPr id="25" name="Picture 24" descr="A map of the united kingdom&#10;&#10;Description automatically generated">
                <a:extLst>
                  <a:ext uri="{FF2B5EF4-FFF2-40B4-BE49-F238E27FC236}">
                    <a16:creationId xmlns:a16="http://schemas.microsoft.com/office/drawing/2014/main" id="{3B9C6297-D67D-91FD-B19E-BF4E4FAB5E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854041" y="889191"/>
                <a:ext cx="1080000" cy="10800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43E7B6-278A-7FAA-1FCA-DBFF0D1E0A2F}"/>
                  </a:ext>
                </a:extLst>
              </p:cNvPr>
              <p:cNvSpPr txBox="1"/>
              <p:nvPr/>
            </p:nvSpPr>
            <p:spPr>
              <a:xfrm>
                <a:off x="3727066" y="2000305"/>
                <a:ext cx="1326037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13th in the UK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the Guardian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University Guide 2023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1E0A1FE-308D-84A6-FB83-26D4CBFFA63A}"/>
                  </a:ext>
                </a:extLst>
              </p:cNvPr>
              <p:cNvSpPr txBox="1"/>
              <p:nvPr/>
            </p:nvSpPr>
            <p:spPr>
              <a:xfrm>
                <a:off x="3774307" y="630558"/>
                <a:ext cx="12326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UK TOP 20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779D4CB-9C49-4DAC-9D38-127CEDADFAA1}"/>
                </a:ext>
              </a:extLst>
            </p:cNvPr>
            <p:cNvGrpSpPr/>
            <p:nvPr/>
          </p:nvGrpSpPr>
          <p:grpSpPr>
            <a:xfrm>
              <a:off x="5318315" y="630558"/>
              <a:ext cx="1517581" cy="1840060"/>
              <a:chOff x="5296193" y="630558"/>
              <a:chExt cx="1517581" cy="1840060"/>
            </a:xfrm>
          </p:grpSpPr>
          <p:pic>
            <p:nvPicPr>
              <p:cNvPr id="22" name="Picture 21" descr="A white earth with a black background&#10;&#10;Description automatically generated">
                <a:extLst>
                  <a:ext uri="{FF2B5EF4-FFF2-40B4-BE49-F238E27FC236}">
                    <a16:creationId xmlns:a16="http://schemas.microsoft.com/office/drawing/2014/main" id="{33609F23-6D4C-9DB2-952E-85E913C81F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12855" y="889191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B632600-EC44-A992-54AD-38CA533DC20E}"/>
                  </a:ext>
                </a:extLst>
              </p:cNvPr>
              <p:cNvSpPr txBox="1"/>
              <p:nvPr/>
            </p:nvSpPr>
            <p:spPr>
              <a:xfrm>
                <a:off x="5303446" y="1985870"/>
                <a:ext cx="1492219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192</a:t>
                </a:r>
                <a:r>
                  <a:rPr lang="en-GB" sz="850" baseline="30000" dirty="0">
                    <a:solidFill>
                      <a:schemeClr val="bg1"/>
                    </a:solidFill>
                    <a:effectLst/>
                    <a:latin typeface="+mn-lt"/>
                  </a:rPr>
                  <a:t>nd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 in the world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the 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Times Higher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Education Ranking 2023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9FC7AC-7B31-7DF1-32B3-6FDC9753D5A3}"/>
                  </a:ext>
                </a:extLst>
              </p:cNvPr>
              <p:cNvSpPr txBox="1"/>
              <p:nvPr/>
            </p:nvSpPr>
            <p:spPr>
              <a:xfrm>
                <a:off x="5296193" y="630558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WORLD TOP 200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20BDD0D-3978-C103-5757-EB20667CD071}"/>
                </a:ext>
              </a:extLst>
            </p:cNvPr>
            <p:cNvGrpSpPr/>
            <p:nvPr/>
          </p:nvGrpSpPr>
          <p:grpSpPr>
            <a:xfrm>
              <a:off x="6788941" y="629836"/>
              <a:ext cx="2044005" cy="1840782"/>
              <a:chOff x="6788941" y="629836"/>
              <a:chExt cx="2044005" cy="1840782"/>
            </a:xfrm>
          </p:grpSpPr>
          <p:pic>
            <p:nvPicPr>
              <p:cNvPr id="19" name="Picture 18" descr="A hand with a thumb up in a circle&#10;&#10;Description automatically generated">
                <a:extLst>
                  <a:ext uri="{FF2B5EF4-FFF2-40B4-BE49-F238E27FC236}">
                    <a16:creationId xmlns:a16="http://schemas.microsoft.com/office/drawing/2014/main" id="{AD3F13E7-FD2E-FE1C-1618-D828D2DC63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274223" y="886352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3425E9-7E60-44F3-E9E5-C2134B7306D5}"/>
                  </a:ext>
                </a:extLst>
              </p:cNvPr>
              <p:cNvSpPr txBox="1"/>
              <p:nvPr/>
            </p:nvSpPr>
            <p:spPr>
              <a:xfrm>
                <a:off x="6788941" y="1985870"/>
                <a:ext cx="2044005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2</a:t>
                </a:r>
                <a:r>
                  <a:rPr lang="en-GB" sz="850" baseline="30000" dirty="0">
                    <a:solidFill>
                      <a:schemeClr val="bg1"/>
                    </a:solidFill>
                    <a:effectLst/>
                    <a:latin typeface="+mn-lt"/>
                  </a:rPr>
                  <a:t>nd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 in Scotland, Wales and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N Ireland for student satisfaction in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the 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National Student Survey 2023</a:t>
                </a:r>
                <a:endParaRPr lang="en-GB" sz="850" dirty="0"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2745DA-2DDE-8A8C-56F2-1E1D1AE73057}"/>
                  </a:ext>
                </a:extLst>
              </p:cNvPr>
              <p:cNvSpPr txBox="1"/>
              <p:nvPr/>
            </p:nvSpPr>
            <p:spPr>
              <a:xfrm>
                <a:off x="7056783" y="629836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SATISFACTION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ACEF33-44DF-8D8C-0D7A-6885B07C60C4}"/>
                </a:ext>
              </a:extLst>
            </p:cNvPr>
            <p:cNvGrpSpPr/>
            <p:nvPr/>
          </p:nvGrpSpPr>
          <p:grpSpPr>
            <a:xfrm>
              <a:off x="4094921" y="2675918"/>
              <a:ext cx="2244979" cy="1819672"/>
              <a:chOff x="4068187" y="2698040"/>
              <a:chExt cx="2244979" cy="1819672"/>
            </a:xfrm>
          </p:grpSpPr>
          <p:pic>
            <p:nvPicPr>
              <p:cNvPr id="16" name="Picture 15" descr="A white line drawing of a plant with arrows&#10;&#10;Description automatically generated">
                <a:extLst>
                  <a:ext uri="{FF2B5EF4-FFF2-40B4-BE49-F238E27FC236}">
                    <a16:creationId xmlns:a16="http://schemas.microsoft.com/office/drawing/2014/main" id="{A91BCF96-9F72-768D-AA87-C65D8DCDD0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649327" y="2942378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702396-D501-726B-6B55-1918BE76DDBF}"/>
                  </a:ext>
                </a:extLst>
              </p:cNvPr>
              <p:cNvSpPr txBox="1"/>
              <p:nvPr/>
            </p:nvSpPr>
            <p:spPr>
              <a:xfrm>
                <a:off x="4068187" y="4032964"/>
                <a:ext cx="2244979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2nd in the UK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for Sustainable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Education in the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OS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Sustainability Rankings 2023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D3F90E-9415-273B-9F01-6B856ACE12F8}"/>
                  </a:ext>
                </a:extLst>
              </p:cNvPr>
              <p:cNvSpPr txBox="1"/>
              <p:nvPr/>
            </p:nvSpPr>
            <p:spPr>
              <a:xfrm>
                <a:off x="4431886" y="2698040"/>
                <a:ext cx="15175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SUSTAINABILITY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C2BEA59-7B62-D435-8388-26A4BD9197FB}"/>
                </a:ext>
              </a:extLst>
            </p:cNvPr>
            <p:cNvGrpSpPr/>
            <p:nvPr/>
          </p:nvGrpSpPr>
          <p:grpSpPr>
            <a:xfrm>
              <a:off x="6161039" y="2675761"/>
              <a:ext cx="1890374" cy="1819828"/>
              <a:chOff x="6043053" y="2697883"/>
              <a:chExt cx="1890374" cy="1819828"/>
            </a:xfrm>
          </p:grpSpPr>
          <p:pic>
            <p:nvPicPr>
              <p:cNvPr id="13" name="Picture 12" descr="A logo of a crown with a leaf&#10;&#10;Description automatically generated">
                <a:extLst>
                  <a:ext uri="{FF2B5EF4-FFF2-40B4-BE49-F238E27FC236}">
                    <a16:creationId xmlns:a16="http://schemas.microsoft.com/office/drawing/2014/main" id="{AE42587C-A166-2078-7B8A-827D0C7B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451382" y="2942378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6F7E28-68E0-85DC-4D0C-C2B36FFBAF5A}"/>
                  </a:ext>
                </a:extLst>
              </p:cNvPr>
              <p:cNvSpPr txBox="1"/>
              <p:nvPr/>
            </p:nvSpPr>
            <p:spPr>
              <a:xfrm>
                <a:off x="6043053" y="4032963"/>
                <a:ext cx="1890374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Queen's Anniversary Prize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for research and teaching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Soil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Science in 2021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A745DA-8566-A311-5DDF-BB45B898466A}"/>
                  </a:ext>
                </a:extLst>
              </p:cNvPr>
              <p:cNvSpPr txBox="1"/>
              <p:nvPr/>
            </p:nvSpPr>
            <p:spPr>
              <a:xfrm>
                <a:off x="6233940" y="2697883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AWARD-WINNING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0823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Commitments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99396-0193-15E2-0999-743BA5DA0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80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4ED55598-9E4C-4799-CAFF-F984B129BFD6}"/>
              </a:ext>
            </a:extLst>
          </p:cNvPr>
          <p:cNvGrpSpPr/>
          <p:nvPr userDrawn="1"/>
        </p:nvGrpSpPr>
        <p:grpSpPr>
          <a:xfrm>
            <a:off x="14368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542A0A5-6C36-7B24-5BC9-B30236E699A7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4E52B1-2CE9-88D9-0C4A-15BFBA52B64F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BA3A26-FBCE-1468-224F-C463D474ACF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692206-8547-96E9-F70B-CAF34DB0FF41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EC3F97-45AE-5D0A-D138-DAEC19E93664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A208B6A8-09B6-6B63-3825-0EC7588E98D3}"/>
              </a:ext>
            </a:extLst>
          </p:cNvPr>
          <p:cNvSpPr/>
          <p:nvPr/>
        </p:nvSpPr>
        <p:spPr>
          <a:xfrm>
            <a:off x="2854737" y="831643"/>
            <a:ext cx="1923393" cy="210174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A593BB-761F-5A77-0842-0025488DEF5B}"/>
              </a:ext>
            </a:extLst>
          </p:cNvPr>
          <p:cNvSpPr/>
          <p:nvPr/>
        </p:nvSpPr>
        <p:spPr>
          <a:xfrm>
            <a:off x="2854737" y="1039875"/>
            <a:ext cx="1923393" cy="210174"/>
          </a:xfrm>
          <a:prstGeom prst="rect">
            <a:avLst/>
          </a:prstGeom>
          <a:solidFill>
            <a:srgbClr val="005BBE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575238-D78B-B687-3FEC-21494BB5C7EF}"/>
              </a:ext>
            </a:extLst>
          </p:cNvPr>
          <p:cNvSpPr/>
          <p:nvPr/>
        </p:nvSpPr>
        <p:spPr>
          <a:xfrm>
            <a:off x="2854737" y="1250049"/>
            <a:ext cx="1923393" cy="210174"/>
          </a:xfrm>
          <a:prstGeom prst="rect">
            <a:avLst/>
          </a:prstGeom>
          <a:solidFill>
            <a:srgbClr val="005BBE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7C3AE1-C98F-5C19-DBC3-AEB0CA7B2897}"/>
              </a:ext>
            </a:extLst>
          </p:cNvPr>
          <p:cNvSpPr/>
          <p:nvPr/>
        </p:nvSpPr>
        <p:spPr>
          <a:xfrm>
            <a:off x="2854736" y="1458281"/>
            <a:ext cx="1923393" cy="210174"/>
          </a:xfrm>
          <a:prstGeom prst="rect">
            <a:avLst/>
          </a:prstGeom>
          <a:solidFill>
            <a:srgbClr val="005BBE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4644305-1EA2-D606-8B47-EEF858F97279}"/>
              </a:ext>
            </a:extLst>
          </p:cNvPr>
          <p:cNvSpPr/>
          <p:nvPr/>
        </p:nvSpPr>
        <p:spPr>
          <a:xfrm>
            <a:off x="2854735" y="1668605"/>
            <a:ext cx="1923393" cy="210174"/>
          </a:xfrm>
          <a:prstGeom prst="rect">
            <a:avLst/>
          </a:prstGeom>
          <a:solidFill>
            <a:srgbClr val="005BBE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1996E15-E1F4-CB65-7CA3-87148CA46AD5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DF63502-78E0-FC0E-E2B2-9E61893CE4D8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005B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868D851-D5A4-EA11-9F9A-001642A8481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005BB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3F5CFD-B825-F0E2-0470-E8F31621422C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005BB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298BF61-8420-0BF4-8A30-6F861F86054C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005BB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C82DF77-FA60-75F4-5BD1-5DCC006843E3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005BB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1314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clus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DD088-2380-E231-BEC6-402661F62A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1575" y="831346"/>
            <a:ext cx="2880035" cy="343268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5A4E1DA0-F040-E6FE-D33D-6469E0CB9FC3}"/>
              </a:ext>
            </a:extLst>
          </p:cNvPr>
          <p:cNvGrpSpPr/>
          <p:nvPr userDrawn="1"/>
        </p:nvGrpSpPr>
        <p:grpSpPr>
          <a:xfrm>
            <a:off x="4569369" y="831643"/>
            <a:ext cx="1923395" cy="1047136"/>
            <a:chOff x="2854735" y="831643"/>
            <a:chExt cx="1923395" cy="1047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750BC8-3750-9678-E6FD-FFDA1FB61596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F261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1B83B9-40C0-8407-4D20-E549D6D21879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F261B4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7F31FC-0FC1-F22F-13C8-8B074A6C6E5E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F261B4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BAC644-9BB7-376F-F04E-D08DEB5D19E4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F261B4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4AFE28-9BB1-98D3-C36C-6DC20337BC11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F261B4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800FDA1-7462-2F30-E7EF-69B3FFB9EC6C}"/>
              </a:ext>
            </a:extLst>
          </p:cNvPr>
          <p:cNvGrpSpPr/>
          <p:nvPr userDrawn="1"/>
        </p:nvGrpSpPr>
        <p:grpSpPr>
          <a:xfrm>
            <a:off x="6492762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6AED2F-4A7A-3327-559B-33F5591272C0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F261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C217BC-C96D-84EA-308D-ABEB8B665C61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F261B4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01CF5D-EC15-A507-351D-748B339544C9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F261B4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15B0C4-4AAF-9B98-B678-9C6A898EEDC0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F261B4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3374826-74BC-8C57-F484-A47F191E362C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F261B4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84ECCA-95CD-7590-6888-9C5F1FB6DD4E}"/>
              </a:ext>
            </a:extLst>
          </p:cNvPr>
          <p:cNvGrpSpPr/>
          <p:nvPr userDrawn="1"/>
        </p:nvGrpSpPr>
        <p:grpSpPr>
          <a:xfrm>
            <a:off x="6239286" y="3294582"/>
            <a:ext cx="1622324" cy="1043961"/>
            <a:chOff x="1436881" y="3294582"/>
            <a:chExt cx="1622324" cy="104396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98D838-D4E7-1D0E-37B6-5733F7EA1154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3923D7-9058-5108-9B9A-548C6FC14AB9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35B1E2-13FA-2999-7640-EABB2D7DBA54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EFBFD6-973D-7CEC-99C5-E0A46370FFC9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B427D68-B263-BE7C-8302-C4F863429294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2341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terdisciplin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A652B-756D-EAE5-270C-A7E13A259A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7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658B205-57B0-5A95-C135-581A9A3C9C0E}"/>
              </a:ext>
            </a:extLst>
          </p:cNvPr>
          <p:cNvGrpSpPr/>
          <p:nvPr userDrawn="1"/>
        </p:nvGrpSpPr>
        <p:grpSpPr>
          <a:xfrm>
            <a:off x="2854735" y="831643"/>
            <a:ext cx="1923395" cy="1047136"/>
            <a:chOff x="2854735" y="831643"/>
            <a:chExt cx="1923395" cy="10471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0405A-5A10-E32F-B1DF-9D6F85679E2B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BDEDE2-3BB4-D61C-63FE-84E0C9BDD2E3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C56CF3-95D3-FA3C-9EA8-36872A2147C6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4FBF6-3419-0E49-1BE3-7B8C0CC71727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B44D22-A455-1F5F-8356-5830C844E0CC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04495B9-B632-AF69-47C6-B15A4A6930C4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F184E5-D263-E208-9BD9-CBF7B26B3EE5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68C379-F895-F40E-6ADB-F97551889EB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5FA9BA-1755-7CD0-E230-AB4C22B9585E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F46940-B6F5-CBEF-57DC-0EF2C8D40898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12F2A5-6821-3BB1-0048-FCBEB3D5EAED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2CAF25-B409-659B-7E08-474F8EF3CE25}"/>
              </a:ext>
            </a:extLst>
          </p:cNvPr>
          <p:cNvGrpSpPr/>
          <p:nvPr userDrawn="1"/>
        </p:nvGrpSpPr>
        <p:grpSpPr>
          <a:xfrm>
            <a:off x="14749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155C39-FB34-988C-30AA-45BEDB7CFE40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D09629-53F5-A463-B12B-D180C1BE1498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852152A-C23C-90A8-F3EE-F22AAF95E75C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8352A3-0827-D052-1312-AFAEF5A29FB8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E2E423-8FD9-E581-A71E-37FC76DF234F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2365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ternati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DA6F7-E086-E889-501C-0CD0F3FF16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4" y="831346"/>
            <a:ext cx="2880035" cy="34326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6B5B56-5008-B84B-7015-48CD599CDB74}"/>
              </a:ext>
            </a:extLst>
          </p:cNvPr>
          <p:cNvSpPr/>
          <p:nvPr/>
        </p:nvSpPr>
        <p:spPr>
          <a:xfrm>
            <a:off x="2854737" y="831643"/>
            <a:ext cx="1923393" cy="210174"/>
          </a:xfrm>
          <a:prstGeom prst="rect">
            <a:avLst/>
          </a:prstGeom>
          <a:solidFill>
            <a:srgbClr val="FF8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3D534-4CD2-F0E4-6ABC-990C9A709645}"/>
              </a:ext>
            </a:extLst>
          </p:cNvPr>
          <p:cNvSpPr/>
          <p:nvPr/>
        </p:nvSpPr>
        <p:spPr>
          <a:xfrm>
            <a:off x="2854737" y="1039875"/>
            <a:ext cx="1923393" cy="210174"/>
          </a:xfrm>
          <a:prstGeom prst="rect">
            <a:avLst/>
          </a:prstGeom>
          <a:solidFill>
            <a:srgbClr val="FF8048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053EDE-2033-558C-06CC-8E9EF6748D3F}"/>
              </a:ext>
            </a:extLst>
          </p:cNvPr>
          <p:cNvSpPr/>
          <p:nvPr/>
        </p:nvSpPr>
        <p:spPr>
          <a:xfrm>
            <a:off x="2854737" y="1250049"/>
            <a:ext cx="1923393" cy="210174"/>
          </a:xfrm>
          <a:prstGeom prst="rect">
            <a:avLst/>
          </a:prstGeom>
          <a:solidFill>
            <a:srgbClr val="FF8048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36B004-CBF5-2D40-E550-E1C90B9A3467}"/>
              </a:ext>
            </a:extLst>
          </p:cNvPr>
          <p:cNvSpPr/>
          <p:nvPr/>
        </p:nvSpPr>
        <p:spPr>
          <a:xfrm>
            <a:off x="2854736" y="1458281"/>
            <a:ext cx="1923393" cy="210174"/>
          </a:xfrm>
          <a:prstGeom prst="rect">
            <a:avLst/>
          </a:prstGeom>
          <a:solidFill>
            <a:srgbClr val="FF8048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D37AB-71D3-202F-FCB6-CAAE444804F0}"/>
              </a:ext>
            </a:extLst>
          </p:cNvPr>
          <p:cNvSpPr/>
          <p:nvPr/>
        </p:nvSpPr>
        <p:spPr>
          <a:xfrm>
            <a:off x="2854735" y="1668605"/>
            <a:ext cx="1923393" cy="210174"/>
          </a:xfrm>
          <a:prstGeom prst="rect">
            <a:avLst/>
          </a:prstGeom>
          <a:solidFill>
            <a:srgbClr val="FF8048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A61F2B-4069-59E7-CE74-DC7D83D957C1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49166A-1836-41AA-A68D-40D81C315122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FF80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455626-2347-B826-31AE-50B4C11B334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FF8048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3E59CF-E332-772C-8C1B-0985798CA848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FF8048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5F94F4-CFC6-DD75-6597-10656F0A3A33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FF8048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FA27EE-3375-3FF1-1AEC-FAFB58A24FFA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FF8048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FB9D4-7052-F0F1-982B-11548AB0D453}"/>
              </a:ext>
            </a:extLst>
          </p:cNvPr>
          <p:cNvSpPr/>
          <p:nvPr/>
        </p:nvSpPr>
        <p:spPr>
          <a:xfrm rot="10800000">
            <a:off x="1436881" y="4128369"/>
            <a:ext cx="1622322" cy="210174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2BBB8A-CB64-2A12-8EB4-33EE9B458BAB}"/>
              </a:ext>
            </a:extLst>
          </p:cNvPr>
          <p:cNvSpPr/>
          <p:nvPr/>
        </p:nvSpPr>
        <p:spPr>
          <a:xfrm rot="10800000">
            <a:off x="1436881" y="3920137"/>
            <a:ext cx="1622322" cy="210174"/>
          </a:xfrm>
          <a:prstGeom prst="rect">
            <a:avLst/>
          </a:prstGeom>
          <a:solidFill>
            <a:srgbClr val="00374E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826A63-0E3D-171C-CE2C-D9DB93CC6D17}"/>
              </a:ext>
            </a:extLst>
          </p:cNvPr>
          <p:cNvSpPr/>
          <p:nvPr/>
        </p:nvSpPr>
        <p:spPr>
          <a:xfrm rot="10800000">
            <a:off x="1436881" y="3709963"/>
            <a:ext cx="1622322" cy="210174"/>
          </a:xfrm>
          <a:prstGeom prst="rect">
            <a:avLst/>
          </a:prstGeom>
          <a:solidFill>
            <a:srgbClr val="00374E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585883-AE07-E8EE-6709-A943C07C23EE}"/>
              </a:ext>
            </a:extLst>
          </p:cNvPr>
          <p:cNvSpPr/>
          <p:nvPr/>
        </p:nvSpPr>
        <p:spPr>
          <a:xfrm rot="10800000">
            <a:off x="1436882" y="3501731"/>
            <a:ext cx="1622322" cy="210174"/>
          </a:xfrm>
          <a:prstGeom prst="rect">
            <a:avLst/>
          </a:prstGeom>
          <a:solidFill>
            <a:srgbClr val="00374E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1767ED-65D0-1A18-BBE0-C036C3F4CD20}"/>
              </a:ext>
            </a:extLst>
          </p:cNvPr>
          <p:cNvSpPr/>
          <p:nvPr/>
        </p:nvSpPr>
        <p:spPr>
          <a:xfrm rot="10800000">
            <a:off x="1436883" y="3294582"/>
            <a:ext cx="1622322" cy="210174"/>
          </a:xfrm>
          <a:prstGeom prst="rect">
            <a:avLst/>
          </a:prstGeom>
          <a:solidFill>
            <a:srgbClr val="00374E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74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Sustain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42F75C-AFAE-D11D-C0ED-28B3467E34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06"/>
          <a:stretch/>
        </p:blipFill>
        <p:spPr>
          <a:xfrm>
            <a:off x="4972825" y="831346"/>
            <a:ext cx="2887469" cy="343267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2B90A9C-A8D0-C8B2-51D7-8A7D5BBDAA54}"/>
              </a:ext>
            </a:extLst>
          </p:cNvPr>
          <p:cNvGrpSpPr/>
          <p:nvPr userDrawn="1"/>
        </p:nvGrpSpPr>
        <p:grpSpPr>
          <a:xfrm>
            <a:off x="6667365" y="831643"/>
            <a:ext cx="1622323" cy="1047136"/>
            <a:chOff x="2854735" y="831643"/>
            <a:chExt cx="1923395" cy="104713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79EC5E8-7641-B4C1-EFD9-F7E6ADDBDD35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FBCB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CC0F15D-8865-E3AA-F338-0F1BB5F37035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FBCB3B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A36A56F-FAD0-D1BF-9BDF-9C7CD525CF92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FBCB3B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EF8D0DA-92D7-4992-67C8-4A60E186434B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FBCB3B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ED0655A-E191-6F90-30BB-37FC62958B3C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FBCB3B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6BCCD1D-A4F1-300A-F2EA-5DFB7F5E72C4}"/>
              </a:ext>
            </a:extLst>
          </p:cNvPr>
          <p:cNvGrpSpPr/>
          <p:nvPr userDrawn="1"/>
        </p:nvGrpSpPr>
        <p:grpSpPr>
          <a:xfrm>
            <a:off x="5838495" y="754744"/>
            <a:ext cx="828870" cy="622088"/>
            <a:chOff x="6492762" y="711200"/>
            <a:chExt cx="828870" cy="62208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DACF6B4-C6F1-04A7-A1A5-3358117EF7C1}"/>
                </a:ext>
              </a:extLst>
            </p:cNvPr>
            <p:cNvSpPr/>
            <p:nvPr/>
          </p:nvSpPr>
          <p:spPr>
            <a:xfrm>
              <a:off x="6492764" y="711200"/>
              <a:ext cx="828868" cy="125256"/>
            </a:xfrm>
            <a:prstGeom prst="rect">
              <a:avLst/>
            </a:prstGeom>
            <a:solidFill>
              <a:srgbClr val="FBCB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C5EB085-1501-1EC8-D7D4-A6B562D9D061}"/>
                </a:ext>
              </a:extLst>
            </p:cNvPr>
            <p:cNvSpPr/>
            <p:nvPr/>
          </p:nvSpPr>
          <p:spPr>
            <a:xfrm>
              <a:off x="6492764" y="834514"/>
              <a:ext cx="828868" cy="125256"/>
            </a:xfrm>
            <a:prstGeom prst="rect">
              <a:avLst/>
            </a:prstGeom>
            <a:solidFill>
              <a:srgbClr val="FBCB3B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1BCF98D-43F1-DE37-BB76-2400C13B35C9}"/>
                </a:ext>
              </a:extLst>
            </p:cNvPr>
            <p:cNvSpPr/>
            <p:nvPr/>
          </p:nvSpPr>
          <p:spPr>
            <a:xfrm>
              <a:off x="6492764" y="959770"/>
              <a:ext cx="828868" cy="125256"/>
            </a:xfrm>
            <a:prstGeom prst="rect">
              <a:avLst/>
            </a:prstGeom>
            <a:solidFill>
              <a:srgbClr val="FBCB3B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9F0EF1E-24FF-260E-C6BE-39B3815F8158}"/>
                </a:ext>
              </a:extLst>
            </p:cNvPr>
            <p:cNvSpPr/>
            <p:nvPr/>
          </p:nvSpPr>
          <p:spPr>
            <a:xfrm>
              <a:off x="6492763" y="1082776"/>
              <a:ext cx="828868" cy="125256"/>
            </a:xfrm>
            <a:prstGeom prst="rect">
              <a:avLst/>
            </a:prstGeom>
            <a:solidFill>
              <a:srgbClr val="FBCB3B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AC5CD3-C567-52A4-CAE3-543918012470}"/>
                </a:ext>
              </a:extLst>
            </p:cNvPr>
            <p:cNvSpPr/>
            <p:nvPr/>
          </p:nvSpPr>
          <p:spPr>
            <a:xfrm>
              <a:off x="6492762" y="1208032"/>
              <a:ext cx="828868" cy="125256"/>
            </a:xfrm>
            <a:prstGeom prst="rect">
              <a:avLst/>
            </a:prstGeom>
            <a:solidFill>
              <a:srgbClr val="FBCB3B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20827D-6807-040A-ABC1-65559A21E07D}"/>
              </a:ext>
            </a:extLst>
          </p:cNvPr>
          <p:cNvGrpSpPr/>
          <p:nvPr userDrawn="1"/>
        </p:nvGrpSpPr>
        <p:grpSpPr>
          <a:xfrm>
            <a:off x="6252929" y="3315525"/>
            <a:ext cx="1622324" cy="1043961"/>
            <a:chOff x="1436881" y="3294582"/>
            <a:chExt cx="1622324" cy="104396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C34D72E-BCE5-FFBD-5E1D-B18C24DC4348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8D7C93-9EAA-83D2-4D47-2610B872F304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C423FDD-7139-7434-6566-53EAAB331D4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47D7794-2B43-826D-94D8-50AEC9DA5C0D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573849E-F1FB-CEBB-1820-F3345812FCDC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4098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DD47940-9C71-4E34-0673-47A4692B8CA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7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4E8BEA-C335-69C6-38F0-2C58EA6834CE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9" name="Picture 48" descr="University of Aberdeen Logo">
            <a:extLst>
              <a:ext uri="{FF2B5EF4-FFF2-40B4-BE49-F238E27FC236}">
                <a16:creationId xmlns:a16="http://schemas.microsoft.com/office/drawing/2014/main" id="{8788D448-90AE-367D-8157-E455BA5A0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0" name="Picture 49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B045225-84D9-CFAA-AC3D-0E364EECB4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46" name="Picture 45" descr="Green lights in the sky&#10;&#10;Description automatically generated">
            <a:extLst>
              <a:ext uri="{FF2B5EF4-FFF2-40B4-BE49-F238E27FC236}">
                <a16:creationId xmlns:a16="http://schemas.microsoft.com/office/drawing/2014/main" id="{0593E3A0-8B56-75EA-0977-489E6C6493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3531" y="551536"/>
            <a:ext cx="6041821" cy="4038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ACCF8A-ECFE-B2C7-0A4D-3D95067EE32D}"/>
              </a:ext>
            </a:extLst>
          </p:cNvPr>
          <p:cNvSpPr/>
          <p:nvPr/>
        </p:nvSpPr>
        <p:spPr>
          <a:xfrm>
            <a:off x="4631423" y="551536"/>
            <a:ext cx="1964066" cy="22508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067AF-2D18-8513-71EE-53994F7B9B4D}"/>
              </a:ext>
            </a:extLst>
          </p:cNvPr>
          <p:cNvSpPr/>
          <p:nvPr/>
        </p:nvSpPr>
        <p:spPr>
          <a:xfrm>
            <a:off x="4631426" y="774542"/>
            <a:ext cx="1964066" cy="225086"/>
          </a:xfrm>
          <a:prstGeom prst="rect">
            <a:avLst/>
          </a:prstGeom>
          <a:solidFill>
            <a:srgbClr val="00A18C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5392FF-C132-F5EA-155E-E00C3196C451}"/>
              </a:ext>
            </a:extLst>
          </p:cNvPr>
          <p:cNvSpPr/>
          <p:nvPr/>
        </p:nvSpPr>
        <p:spPr>
          <a:xfrm>
            <a:off x="4631425" y="999628"/>
            <a:ext cx="1964066" cy="225086"/>
          </a:xfrm>
          <a:prstGeom prst="rect">
            <a:avLst/>
          </a:prstGeom>
          <a:solidFill>
            <a:srgbClr val="00A18C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3641C3-12DA-DC45-25A9-4429FD9A7EA1}"/>
              </a:ext>
            </a:extLst>
          </p:cNvPr>
          <p:cNvSpPr/>
          <p:nvPr/>
        </p:nvSpPr>
        <p:spPr>
          <a:xfrm>
            <a:off x="4631422" y="1222634"/>
            <a:ext cx="1964066" cy="225086"/>
          </a:xfrm>
          <a:prstGeom prst="rect">
            <a:avLst/>
          </a:prstGeom>
          <a:solidFill>
            <a:srgbClr val="00A18C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813C0A-A98A-E9D2-398E-28367C9C61AF}"/>
              </a:ext>
            </a:extLst>
          </p:cNvPr>
          <p:cNvSpPr/>
          <p:nvPr/>
        </p:nvSpPr>
        <p:spPr>
          <a:xfrm>
            <a:off x="4631422" y="1447880"/>
            <a:ext cx="1964066" cy="225086"/>
          </a:xfrm>
          <a:prstGeom prst="rect">
            <a:avLst/>
          </a:prstGeom>
          <a:solidFill>
            <a:srgbClr val="00A18C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72F5CB5-DE41-826D-3EC7-8248E970611B}"/>
              </a:ext>
            </a:extLst>
          </p:cNvPr>
          <p:cNvGrpSpPr/>
          <p:nvPr userDrawn="1"/>
        </p:nvGrpSpPr>
        <p:grpSpPr>
          <a:xfrm>
            <a:off x="6594588" y="551536"/>
            <a:ext cx="1995116" cy="1706775"/>
            <a:chOff x="6599452" y="551536"/>
            <a:chExt cx="1995116" cy="17067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DF56D52-48E1-9A59-5ACB-642D771EE065}"/>
                </a:ext>
              </a:extLst>
            </p:cNvPr>
            <p:cNvSpPr/>
            <p:nvPr/>
          </p:nvSpPr>
          <p:spPr>
            <a:xfrm>
              <a:off x="6599457" y="551536"/>
              <a:ext cx="1995111" cy="341274"/>
            </a:xfrm>
            <a:prstGeom prst="rect">
              <a:avLst/>
            </a:prstGeom>
            <a:solidFill>
              <a:srgbClr val="00A1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ECCCA0-07C4-403F-F36D-C66C8984F514}"/>
                </a:ext>
              </a:extLst>
            </p:cNvPr>
            <p:cNvSpPr/>
            <p:nvPr/>
          </p:nvSpPr>
          <p:spPr>
            <a:xfrm>
              <a:off x="6599457" y="892995"/>
              <a:ext cx="1995111" cy="341274"/>
            </a:xfrm>
            <a:prstGeom prst="rect">
              <a:avLst/>
            </a:prstGeom>
            <a:solidFill>
              <a:srgbClr val="00A18C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42D6A1-0F76-2128-1CE3-E3094BB6E9D6}"/>
                </a:ext>
              </a:extLst>
            </p:cNvPr>
            <p:cNvSpPr/>
            <p:nvPr/>
          </p:nvSpPr>
          <p:spPr>
            <a:xfrm>
              <a:off x="6599457" y="1233344"/>
              <a:ext cx="1995111" cy="341274"/>
            </a:xfrm>
            <a:prstGeom prst="rect">
              <a:avLst/>
            </a:prstGeom>
            <a:solidFill>
              <a:srgbClr val="00A18C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8EC9345-70C5-B3BD-C941-EA066E190A30}"/>
                </a:ext>
              </a:extLst>
            </p:cNvPr>
            <p:cNvSpPr/>
            <p:nvPr/>
          </p:nvSpPr>
          <p:spPr>
            <a:xfrm>
              <a:off x="6599455" y="1575763"/>
              <a:ext cx="1995111" cy="341274"/>
            </a:xfrm>
            <a:prstGeom prst="rect">
              <a:avLst/>
            </a:prstGeom>
            <a:solidFill>
              <a:srgbClr val="00A1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B537455-7B84-7431-758D-2EDE1598EA8B}"/>
                </a:ext>
              </a:extLst>
            </p:cNvPr>
            <p:cNvSpPr/>
            <p:nvPr/>
          </p:nvSpPr>
          <p:spPr>
            <a:xfrm>
              <a:off x="6599452" y="1917037"/>
              <a:ext cx="1995111" cy="341274"/>
            </a:xfrm>
            <a:prstGeom prst="rect">
              <a:avLst/>
            </a:prstGeom>
            <a:solidFill>
              <a:srgbClr val="00A18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38C0B0-1145-4A58-EE13-7A236D15449C}"/>
              </a:ext>
            </a:extLst>
          </p:cNvPr>
          <p:cNvGrpSpPr/>
          <p:nvPr userDrawn="1"/>
        </p:nvGrpSpPr>
        <p:grpSpPr>
          <a:xfrm>
            <a:off x="547040" y="2811566"/>
            <a:ext cx="2001609" cy="1778674"/>
            <a:chOff x="1436881" y="3294582"/>
            <a:chExt cx="1622324" cy="104396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7D3523-541F-3365-D794-2ED810BED96A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1427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2F00AFC-306C-46E6-18C8-4763F3B4E521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14273D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37F71C2-197A-B4BE-C1F1-1DB3FEBCAE3E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14273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456DF7B-C689-A66D-48A8-94B67BF4FFEF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14273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D028F9-3CC9-27C2-F0D7-7847603D878E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14273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AAF58B-C320-999A-374C-1E570E0FB41A}"/>
              </a:ext>
            </a:extLst>
          </p:cNvPr>
          <p:cNvGrpSpPr/>
          <p:nvPr userDrawn="1"/>
        </p:nvGrpSpPr>
        <p:grpSpPr>
          <a:xfrm>
            <a:off x="2548782" y="3711052"/>
            <a:ext cx="2020043" cy="879188"/>
            <a:chOff x="1436881" y="3294582"/>
            <a:chExt cx="1622324" cy="104396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DA8EC87-E805-DDF6-FE3A-F3C45069CD86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1427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56C5F8F-6DBF-F3F5-3220-6B8B7AAD903D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14273D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BF0502-B606-1063-2FB9-36CAFE1FCE06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14273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59B8ED-214B-91D0-602C-EC29659F3DE3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14273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4F7E03A-51BC-D4A2-51DE-F86CA8BD249B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14273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CF6AF55-0A72-82E0-3D92-8697C77C2731}"/>
              </a:ext>
            </a:extLst>
          </p:cNvPr>
          <p:cNvSpPr/>
          <p:nvPr/>
        </p:nvSpPr>
        <p:spPr>
          <a:xfrm>
            <a:off x="2587361" y="551774"/>
            <a:ext cx="2044299" cy="10695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CE5915-CD0C-4416-32B3-59031C890729}"/>
              </a:ext>
            </a:extLst>
          </p:cNvPr>
          <p:cNvSpPr/>
          <p:nvPr/>
        </p:nvSpPr>
        <p:spPr>
          <a:xfrm>
            <a:off x="2587361" y="657742"/>
            <a:ext cx="2044299" cy="106956"/>
          </a:xfrm>
          <a:prstGeom prst="rect">
            <a:avLst/>
          </a:prstGeom>
          <a:solidFill>
            <a:srgbClr val="00A18C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61A6EC-CA1E-D068-3B76-A28854F3E7BC}"/>
              </a:ext>
            </a:extLst>
          </p:cNvPr>
          <p:cNvSpPr/>
          <p:nvPr/>
        </p:nvSpPr>
        <p:spPr>
          <a:xfrm>
            <a:off x="2587361" y="764698"/>
            <a:ext cx="2044299" cy="106956"/>
          </a:xfrm>
          <a:prstGeom prst="rect">
            <a:avLst/>
          </a:prstGeom>
          <a:solidFill>
            <a:srgbClr val="00A18C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027E81-796B-4C92-5908-DFAA1EEB101D}"/>
              </a:ext>
            </a:extLst>
          </p:cNvPr>
          <p:cNvSpPr/>
          <p:nvPr/>
        </p:nvSpPr>
        <p:spPr>
          <a:xfrm>
            <a:off x="2587359" y="870665"/>
            <a:ext cx="2044299" cy="106956"/>
          </a:xfrm>
          <a:prstGeom prst="rect">
            <a:avLst/>
          </a:prstGeom>
          <a:solidFill>
            <a:srgbClr val="00A18C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7794C8-FB78-7F55-59EC-B4A97B9B9778}"/>
              </a:ext>
            </a:extLst>
          </p:cNvPr>
          <p:cNvSpPr/>
          <p:nvPr/>
        </p:nvSpPr>
        <p:spPr>
          <a:xfrm>
            <a:off x="2587358" y="977697"/>
            <a:ext cx="2044299" cy="106956"/>
          </a:xfrm>
          <a:prstGeom prst="rect">
            <a:avLst/>
          </a:prstGeom>
          <a:solidFill>
            <a:srgbClr val="00A18C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3F05CA4-8EAE-D283-CAEA-706C862A1E42}"/>
              </a:ext>
            </a:extLst>
          </p:cNvPr>
          <p:cNvSpPr txBox="1"/>
          <p:nvPr userDrawn="1"/>
        </p:nvSpPr>
        <p:spPr>
          <a:xfrm>
            <a:off x="4063077" y="1386737"/>
            <a:ext cx="478971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5000"/>
              </a:lnSpc>
            </a:pPr>
            <a:r>
              <a:rPr lang="en-US" sz="4800" b="0" dirty="0">
                <a:solidFill>
                  <a:schemeClr val="bg1"/>
                </a:solidFill>
              </a:rPr>
              <a:t>Ready to start</a:t>
            </a:r>
            <a:r>
              <a:rPr lang="en-US" sz="4800" b="1" dirty="0">
                <a:solidFill>
                  <a:schemeClr val="bg1"/>
                </a:solidFill>
              </a:rPr>
              <a:t> breaking boundaries?</a:t>
            </a:r>
          </a:p>
        </p:txBody>
      </p:sp>
    </p:spTree>
    <p:extLst>
      <p:ext uri="{BB962C8B-B14F-4D97-AF65-F5344CB8AC3E}">
        <p14:creationId xmlns:p14="http://schemas.microsoft.com/office/powerpoint/2010/main" val="86980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9486FD-B969-7B6D-7C1D-028FDFB7F86C}"/>
              </a:ext>
            </a:extLst>
          </p:cNvPr>
          <p:cNvSpPr/>
          <p:nvPr userDrawn="1"/>
        </p:nvSpPr>
        <p:spPr>
          <a:xfrm>
            <a:off x="0" y="-532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0092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007C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7" y="901106"/>
            <a:ext cx="1493100" cy="225086"/>
          </a:xfrm>
          <a:prstGeom prst="rect">
            <a:avLst/>
          </a:prstGeom>
          <a:solidFill>
            <a:srgbClr val="004D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0092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007C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64953"/>
            <a:ext cx="2363824" cy="341274"/>
          </a:xfrm>
          <a:prstGeom prst="rect">
            <a:avLst/>
          </a:prstGeom>
          <a:solidFill>
            <a:srgbClr val="004D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8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9C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850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6613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3E21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3923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9C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8A06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710F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511B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64953"/>
            <a:ext cx="2363824" cy="341274"/>
          </a:xfrm>
          <a:prstGeom prst="rect">
            <a:avLst/>
          </a:prstGeom>
          <a:solidFill>
            <a:srgbClr val="3923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38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532E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472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363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113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532E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472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363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113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52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005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004E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0045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003F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005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004E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0045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003F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76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E0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BF2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9230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593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2E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E0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BF2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9230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593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2E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0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9486FD-B969-7B6D-7C1D-028FDFB7F86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43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60ABF9-46A9-53BA-AC99-BC1AA966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D6575-8A07-FE37-0B76-C9E93BB8E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E87A3-1234-024A-D4B3-1829CCB8A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52A69-D932-6F46-A363-34C6163FF4A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CE47-B14C-BE9D-47BE-DCCE2C7B1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2C228-D442-5CA9-8D5F-7D09FAA47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59A12-6DAF-7D4F-B93B-BC335F2DF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3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54B">
            <a:alpha val="14902"/>
          </a:srgbClr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17977C-C5F4-5194-A70C-943AED2D9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261582" y="4530600"/>
            <a:ext cx="1241999" cy="3394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A9DC41-E75D-5679-8D20-E469797D3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236" y="4760061"/>
            <a:ext cx="1127183" cy="158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1A06C3-6AAF-9117-FF9D-E2A04ED58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81" y="273476"/>
            <a:ext cx="1509300" cy="13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977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667" r:id="rId10"/>
    <p:sldLayoutId id="2147483689" r:id="rId11"/>
    <p:sldLayoutId id="2147483691" r:id="rId12"/>
    <p:sldLayoutId id="2147483690" r:id="rId13"/>
    <p:sldLayoutId id="2147483688" r:id="rId14"/>
    <p:sldLayoutId id="2147483682" r:id="rId15"/>
    <p:sldLayoutId id="2147483670" r:id="rId16"/>
    <p:sldLayoutId id="2147483671" r:id="rId17"/>
    <p:sldLayoutId id="2147483673" r:id="rId18"/>
    <p:sldLayoutId id="2147483674" r:id="rId19"/>
    <p:sldLayoutId id="2147483675" r:id="rId20"/>
    <p:sldLayoutId id="2147483681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683" r:id="rId2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E434B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65096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F1449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70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0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E89A7-476F-2BC0-ADB2-3B9D8B7D294B}"/>
              </a:ext>
            </a:extLst>
          </p:cNvPr>
          <p:cNvSpPr txBox="1"/>
          <p:nvPr/>
        </p:nvSpPr>
        <p:spPr>
          <a:xfrm>
            <a:off x="1" y="561170"/>
            <a:ext cx="9143999" cy="34778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PX5710/PX5718</a:t>
            </a: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Statistics and Time Series Analysis</a:t>
            </a: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algn="ctr"/>
            <a:r>
              <a:rPr lang="en-GB" sz="2000">
                <a:solidFill>
                  <a:schemeClr val="tx1"/>
                </a:solidFill>
                <a:ea typeface="Navigo" panose="02070503070706040303" pitchFamily="18" charset="77"/>
              </a:rPr>
              <a:t>Time Series Analysis-Time domain analysis</a:t>
            </a:r>
            <a:endParaRPr lang="en-GB" sz="200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algn="ctr"/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1800" dirty="0">
                <a:solidFill>
                  <a:schemeClr val="tx1"/>
                </a:solidFill>
                <a:ea typeface="Navigo" panose="02070503070706040303" pitchFamily="18" charset="77"/>
              </a:rPr>
              <a:t>2025-26 Term 2</a:t>
            </a:r>
          </a:p>
          <a:p>
            <a:pPr algn="ctr"/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Department of Physics</a:t>
            </a: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8D77555-379D-C787-E31A-37C8B77A9D4F}"/>
              </a:ext>
            </a:extLst>
          </p:cNvPr>
          <p:cNvSpPr txBox="1"/>
          <p:nvPr/>
        </p:nvSpPr>
        <p:spPr>
          <a:xfrm>
            <a:off x="963675" y="3591155"/>
            <a:ext cx="7558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Dr. Andrew Angel    </a:t>
            </a:r>
            <a:r>
              <a:rPr lang="en-GB" sz="1600" dirty="0">
                <a:solidFill>
                  <a:schemeClr val="tx1"/>
                </a:solidFill>
              </a:rPr>
              <a:t>andrew.angel@abdn.ac.uk      Meston 339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Dr Sandip George	sandip.george@abdn.ac.uk	Fraser Noble 141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CCBB601-6252-D324-3CC9-C71CFEF7780B}"/>
              </a:ext>
            </a:extLst>
          </p:cNvPr>
          <p:cNvSpPr txBox="1"/>
          <p:nvPr/>
        </p:nvSpPr>
        <p:spPr>
          <a:xfrm>
            <a:off x="963675" y="3591155"/>
            <a:ext cx="7558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Dr. Andrew Angel    </a:t>
            </a:r>
            <a:r>
              <a:rPr lang="en-GB" sz="1600" dirty="0">
                <a:solidFill>
                  <a:schemeClr val="tx1"/>
                </a:solidFill>
              </a:rPr>
              <a:t>andrew.angel@abdn.ac.uk      Meston 339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Dr Sandip George	sandip.george@abdn.ac.uk	Fraser Noble 141</a:t>
            </a:r>
          </a:p>
        </p:txBody>
      </p:sp>
    </p:spTree>
    <p:extLst>
      <p:ext uri="{BB962C8B-B14F-4D97-AF65-F5344CB8AC3E}">
        <p14:creationId xmlns:p14="http://schemas.microsoft.com/office/powerpoint/2010/main" val="399567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4588-22F1-9175-5B2D-E5C5EF8BE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2D06A6A-5111-FFEB-FBD4-F35AD3106399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B1D43-371D-FA88-3654-870C06E614A1}"/>
              </a:ext>
            </a:extLst>
          </p:cNvPr>
          <p:cNvSpPr txBox="1">
            <a:spLocks/>
          </p:cNvSpPr>
          <p:nvPr/>
        </p:nvSpPr>
        <p:spPr>
          <a:xfrm>
            <a:off x="213503" y="715962"/>
            <a:ext cx="8721645" cy="370898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A </a:t>
            </a:r>
            <a:r>
              <a:rPr lang="en-GB" sz="1600" dirty="0">
                <a:solidFill>
                  <a:schemeClr val="accent5"/>
                </a:solidFill>
              </a:rPr>
              <a:t>time series </a:t>
            </a:r>
            <a:r>
              <a:rPr lang="en-GB" sz="1600" dirty="0">
                <a:solidFill>
                  <a:schemeClr val="tx1"/>
                </a:solidFill>
              </a:rPr>
              <a:t>is a sequence of data points listed in time order, usually equally-spaced in time</a:t>
            </a:r>
          </a:p>
          <a:p>
            <a:pPr>
              <a:buClrTx/>
            </a:pPr>
            <a:endParaRPr lang="en-GB" sz="1600" i="1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Time is an independent variable and provides a </a:t>
            </a:r>
            <a:r>
              <a:rPr lang="en-GB" sz="1600" dirty="0">
                <a:solidFill>
                  <a:schemeClr val="accent5"/>
                </a:solidFill>
              </a:rPr>
              <a:t>natural temporal ordering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Time series analysis:</a:t>
            </a:r>
            <a:br>
              <a:rPr lang="en-GB" sz="1600" dirty="0">
                <a:solidFill>
                  <a:schemeClr val="accent2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Used to extract meaningful statistics and other characteristics from the data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Time series forecasting:</a:t>
            </a: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	Building a model to predict future values based on previously-observed values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Time series are typically characterised by </a:t>
            </a:r>
          </a:p>
          <a:p>
            <a:pPr>
              <a:buClrTx/>
            </a:pPr>
            <a:r>
              <a:rPr lang="en-GB" sz="1600" dirty="0">
                <a:solidFill>
                  <a:schemeClr val="accent5"/>
                </a:solidFill>
              </a:rPr>
              <a:t>trends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>
                <a:solidFill>
                  <a:schemeClr val="accent5"/>
                </a:solidFill>
              </a:rPr>
              <a:t>periodicities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>
                <a:solidFill>
                  <a:schemeClr val="accent5"/>
                </a:solidFill>
              </a:rPr>
              <a:t>seasonality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>
                <a:solidFill>
                  <a:schemeClr val="accent5"/>
                </a:solidFill>
              </a:rPr>
              <a:t>variability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>
                <a:solidFill>
                  <a:schemeClr val="accent5"/>
                </a:solidFill>
              </a:rPr>
              <a:t>noise</a:t>
            </a:r>
            <a:r>
              <a:rPr lang="en-GB" sz="1600" dirty="0">
                <a:solidFill>
                  <a:schemeClr val="tx1"/>
                </a:solidFill>
              </a:rPr>
              <a:t>, and </a:t>
            </a:r>
            <a:r>
              <a:rPr lang="en-GB" sz="1600" dirty="0">
                <a:solidFill>
                  <a:schemeClr val="accent5"/>
                </a:solidFill>
              </a:rPr>
              <a:t>chaos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A18F26-4FAC-7E3B-1022-8BE31E7744F6}"/>
              </a:ext>
            </a:extLst>
          </p:cNvPr>
          <p:cNvSpPr txBox="1"/>
          <p:nvPr/>
        </p:nvSpPr>
        <p:spPr>
          <a:xfrm>
            <a:off x="1060224" y="4109153"/>
            <a:ext cx="2743199" cy="30777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But first, some preliminaries.</a:t>
            </a:r>
          </a:p>
        </p:txBody>
      </p:sp>
    </p:spTree>
    <p:extLst>
      <p:ext uri="{BB962C8B-B14F-4D97-AF65-F5344CB8AC3E}">
        <p14:creationId xmlns:p14="http://schemas.microsoft.com/office/powerpoint/2010/main" val="136113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92B0-BA52-C3C8-9268-4D2885CD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CD2BA52-F527-448C-D76B-7E8F65FAE374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800">
                <a:solidFill>
                  <a:schemeClr val="tx1"/>
                </a:solidFill>
              </a:rPr>
              <a:t>Special time series: The sine wave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A6715-BE50-3FDA-76E9-3C5C47719828}"/>
              </a:ext>
            </a:extLst>
          </p:cNvPr>
          <p:cNvSpPr txBox="1">
            <a:spLocks/>
          </p:cNvSpPr>
          <p:nvPr/>
        </p:nvSpPr>
        <p:spPr>
          <a:xfrm>
            <a:off x="101991" y="641205"/>
            <a:ext cx="5704732" cy="395749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A simple harmonic </a:t>
            </a:r>
            <a:r>
              <a:rPr lang="en-GB" sz="1600">
                <a:solidFill>
                  <a:schemeClr val="tx1"/>
                </a:solidFill>
              </a:rPr>
              <a:t>oscillation is represented by  a sine function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>
                <a:solidFill>
                  <a:schemeClr val="tx1"/>
                </a:solidFill>
              </a:rPr>
              <a:t>Properties</a:t>
            </a: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Char char="•"/>
            </a:pPr>
            <a:r>
              <a:rPr lang="en-GB" sz="1600">
                <a:solidFill>
                  <a:schemeClr val="tx1"/>
                </a:solidFill>
              </a:rPr>
              <a:t>For every value of frequency, F, f(t) is periodic</a:t>
            </a: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Char char="•"/>
            </a:pPr>
            <a:r>
              <a:rPr lang="en-GB" sz="1600">
                <a:solidFill>
                  <a:schemeClr val="tx1"/>
                </a:solidFill>
              </a:rPr>
              <a:t>Increasing F leads to an increase in the rate of oscillations of the signal (more periods per time interval)</a:t>
            </a:r>
          </a:p>
          <a:p>
            <a:pPr marL="450850" indent="-285750">
              <a:buClrTx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For period, </a:t>
            </a:r>
            <a:r>
              <a:rPr lang="en-GB" sz="1600" dirty="0" err="1">
                <a:solidFill>
                  <a:schemeClr val="tx1"/>
                </a:solidFill>
              </a:rPr>
              <a:t>T</a:t>
            </a:r>
            <a:r>
              <a:rPr lang="en-GB" sz="1600" baseline="-25000" dirty="0" err="1">
                <a:solidFill>
                  <a:schemeClr val="tx1"/>
                </a:solidFill>
              </a:rPr>
              <a:t>p</a:t>
            </a:r>
            <a:r>
              <a:rPr lang="en-GB" sz="1600" dirty="0">
                <a:solidFill>
                  <a:schemeClr val="tx1"/>
                </a:solidFill>
              </a:rPr>
              <a:t>(=1/F),</a:t>
            </a:r>
          </a:p>
          <a:p>
            <a:pPr marL="450850" indent="-285750">
              <a:buClrTx/>
              <a:buChar char="•"/>
            </a:pPr>
            <a:r>
              <a:rPr lang="en-GB" sz="1600">
                <a:solidFill>
                  <a:schemeClr val="tx1"/>
                </a:solidFill>
              </a:rPr>
              <a:t>Each sine wave with a distinct frequency is distinct</a:t>
            </a: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Char char="•"/>
            </a:pPr>
            <a:r>
              <a:rPr lang="en-GB" sz="1600">
                <a:solidFill>
                  <a:schemeClr val="tx1"/>
                </a:solidFill>
              </a:rPr>
              <a:t>Euler's formula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52869A97-B733-2A12-C9B1-E2FCEA46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645" y="760092"/>
            <a:ext cx="2820266" cy="2090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7E9322-CEA9-D64C-085A-38DB40838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451" y="897643"/>
            <a:ext cx="3952875" cy="3143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19E204-F35D-AD4C-B80F-514246C0B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848" y="2365198"/>
            <a:ext cx="1533525" cy="3143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D1C279-613E-9FE3-63BC-7594B013C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1339" y="3331633"/>
            <a:ext cx="30861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6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FA4B-FD5C-59AB-8D48-D2A355645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78ECDCB-60D6-37AB-63A2-CFB463E75076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800">
                <a:solidFill>
                  <a:schemeClr val="tx1"/>
                </a:solidFill>
              </a:rPr>
              <a:t>Continuous vs discrete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A6803-50EC-9F3C-A76C-6F9804340F08}"/>
              </a:ext>
            </a:extLst>
          </p:cNvPr>
          <p:cNvSpPr txBox="1">
            <a:spLocks/>
          </p:cNvSpPr>
          <p:nvPr/>
        </p:nvSpPr>
        <p:spPr>
          <a:xfrm>
            <a:off x="101991" y="641205"/>
            <a:ext cx="9042009" cy="395749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0850" indent="-285750">
              <a:buClrTx/>
              <a:buChar char="•"/>
            </a:pPr>
            <a:r>
              <a:rPr lang="en-GB" sz="1600">
                <a:solidFill>
                  <a:schemeClr val="tx1"/>
                </a:solidFill>
              </a:rPr>
              <a:t>A continuous time series is one that varies over continuous time, i.e. the domain of the time series is continuous.</a:t>
            </a:r>
            <a:endParaRPr lang="en-US">
              <a:solidFill>
                <a:schemeClr val="tx1"/>
              </a:solidFill>
            </a:endParaRPr>
          </a:p>
          <a:p>
            <a:pPr marL="450850" indent="-285750">
              <a:buClrTx/>
              <a:buChar char="•"/>
            </a:pPr>
            <a:r>
              <a:rPr lang="en-GB" sz="1600">
                <a:solidFill>
                  <a:schemeClr val="tx1"/>
                </a:solidFill>
              </a:rPr>
              <a:t>A discrete time series is only defined at discrete points in time</a:t>
            </a:r>
            <a:endParaRPr lang="en-US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 marL="742950" lvl="1" indent="-285750">
              <a:buClrTx/>
              <a:buFont typeface="Courier New"/>
              <a:buChar char="o"/>
            </a:pPr>
            <a:r>
              <a:rPr lang="en-GB" sz="1600" dirty="0">
                <a:solidFill>
                  <a:schemeClr val="tx1"/>
                </a:solidFill>
              </a:rPr>
              <a:t>Sampling a </a:t>
            </a:r>
            <a:r>
              <a:rPr lang="en-GB" sz="1600">
                <a:solidFill>
                  <a:schemeClr val="tx1"/>
                </a:solidFill>
              </a:rPr>
              <a:t>continuous time variable at discrete intervals</a:t>
            </a:r>
          </a:p>
          <a:p>
            <a:pPr marL="742950" lvl="1" indent="-285750">
              <a:buClrTx/>
              <a:buFont typeface="Courier New"/>
              <a:buChar char="o"/>
            </a:pPr>
            <a:r>
              <a:rPr lang="en-GB" sz="1600" dirty="0">
                <a:solidFill>
                  <a:schemeClr val="tx1"/>
                </a:solidFill>
              </a:rPr>
              <a:t>An inherently discrete process (number of individuals in generation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)</a:t>
            </a: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71D7C-FF43-6060-37CB-4FB16550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401" y="862526"/>
            <a:ext cx="933450" cy="314325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43202920-0EC5-80F6-37D0-2D5266C43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8" y="2404037"/>
            <a:ext cx="2820266" cy="2090738"/>
          </a:xfrm>
          <a:prstGeom prst="rect">
            <a:avLst/>
          </a:prstGeom>
        </p:spPr>
      </p:pic>
      <p:pic>
        <p:nvPicPr>
          <p:cNvPr id="8" name="Picture 7" descr="A graph of a graph with red dots&#10;&#10;AI-generated content may be incorrect.">
            <a:extLst>
              <a:ext uri="{FF2B5EF4-FFF2-40B4-BE49-F238E27FC236}">
                <a16:creationId xmlns:a16="http://schemas.microsoft.com/office/drawing/2014/main" id="{75CC3A59-F0EA-4225-C1E1-B9FD43857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323" y="2402593"/>
            <a:ext cx="2767189" cy="2088092"/>
          </a:xfrm>
          <a:prstGeom prst="rect">
            <a:avLst/>
          </a:prstGeom>
        </p:spPr>
      </p:pic>
      <p:pic>
        <p:nvPicPr>
          <p:cNvPr id="9" name="Picture 8" descr="A graph of lines with red dots&#10;&#10;AI-generated content may be incorrect.">
            <a:extLst>
              <a:ext uri="{FF2B5EF4-FFF2-40B4-BE49-F238E27FC236}">
                <a16:creationId xmlns:a16="http://schemas.microsoft.com/office/drawing/2014/main" id="{9CD77D3C-E6AC-FBF6-520B-2CDA1BB72D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155" y="2409649"/>
            <a:ext cx="2767189" cy="2088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9AF940-6E02-72AD-8413-E8CE032B78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664" y="1405643"/>
            <a:ext cx="1695450" cy="314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2966A4-80B6-6126-920F-E3885DC108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6092" y="862446"/>
            <a:ext cx="1895475" cy="314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EE021B-3AAE-47C8-FD62-0D63472E1F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478" y="1369002"/>
            <a:ext cx="189547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2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F9607-B3DC-8B38-6F6F-3FA06499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F839E30-9D6D-C1AD-313A-41A7CB8C77A3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Sampling a </a:t>
            </a:r>
            <a:r>
              <a:rPr lang="en-GB" sz="2800">
                <a:solidFill>
                  <a:schemeClr val="tx1"/>
                </a:solidFill>
              </a:rPr>
              <a:t>continuous signal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8EDD-DA8E-98D1-B4D2-BFAFBBC7F986}"/>
              </a:ext>
            </a:extLst>
          </p:cNvPr>
          <p:cNvSpPr txBox="1">
            <a:spLocks/>
          </p:cNvSpPr>
          <p:nvPr/>
        </p:nvSpPr>
        <p:spPr>
          <a:xfrm>
            <a:off x="101991" y="641205"/>
            <a:ext cx="9042009" cy="395749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0850" indent="-285750">
              <a:buClrTx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The most common way to sample a </a:t>
            </a:r>
            <a:r>
              <a:rPr lang="en-GB" sz="1600">
                <a:solidFill>
                  <a:schemeClr val="tx1"/>
                </a:solidFill>
              </a:rPr>
              <a:t>continuous signal is uniformly sampling i</a:t>
            </a:r>
            <a:r>
              <a:rPr lang="en-GB" sz="1600" dirty="0">
                <a:solidFill>
                  <a:schemeClr val="tx1"/>
                </a:solidFill>
              </a:rPr>
              <a:t>t</a:t>
            </a:r>
          </a:p>
          <a:p>
            <a:pPr marL="742950" lvl="1" indent="-285750">
              <a:buClrTx/>
              <a:buFont typeface="Courier New"/>
              <a:buChar char="o"/>
            </a:pPr>
            <a:r>
              <a:rPr lang="en-GB" sz="1600" dirty="0">
                <a:solidFill>
                  <a:schemeClr val="tx1"/>
                </a:solidFill>
              </a:rPr>
              <a:t>If f(t) is the conti</a:t>
            </a:r>
            <a:r>
              <a:rPr lang="en-GB" sz="1600">
                <a:solidFill>
                  <a:schemeClr val="tx1"/>
                </a:solidFill>
              </a:rPr>
              <a:t>nuous signal, </a:t>
            </a:r>
            <a:endParaRPr lang="en-GB" sz="1600" dirty="0">
              <a:solidFill>
                <a:schemeClr val="tx1"/>
              </a:solidFill>
            </a:endParaRPr>
          </a:p>
          <a:p>
            <a:pPr marL="457200" lvl="1">
              <a:buClrTx/>
            </a:pPr>
            <a:r>
              <a:rPr lang="en-GB" sz="1600" dirty="0">
                <a:solidFill>
                  <a:schemeClr val="tx1"/>
                </a:solidFill>
              </a:rPr>
              <a:t>the corresponding discrete signal, sampled at </a:t>
            </a:r>
            <a:r>
              <a:rPr lang="en-GB" sz="1600" dirty="0" err="1">
                <a:solidFill>
                  <a:schemeClr val="tx1"/>
                </a:solidFill>
              </a:rPr>
              <a:t>Δt</a:t>
            </a:r>
            <a:r>
              <a:rPr lang="en-GB" sz="1600" dirty="0">
                <a:solidFill>
                  <a:schemeClr val="tx1"/>
                </a:solidFill>
              </a:rPr>
              <a:t> is obtained as </a:t>
            </a:r>
          </a:p>
          <a:p>
            <a:pPr marL="742950" lvl="1" indent="-285750">
              <a:buClrTx/>
              <a:buFont typeface="Courier New"/>
              <a:buChar char="o"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ClrTx/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D46D4ABA-07CE-5BE0-6E20-BF67655E3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8" y="2404037"/>
            <a:ext cx="2820266" cy="2090738"/>
          </a:xfrm>
          <a:prstGeom prst="rect">
            <a:avLst/>
          </a:prstGeom>
        </p:spPr>
      </p:pic>
      <p:pic>
        <p:nvPicPr>
          <p:cNvPr id="8" name="Picture 7" descr="A graph of a graph with red dots&#10;&#10;AI-generated content may be incorrect.">
            <a:extLst>
              <a:ext uri="{FF2B5EF4-FFF2-40B4-BE49-F238E27FC236}">
                <a16:creationId xmlns:a16="http://schemas.microsoft.com/office/drawing/2014/main" id="{F4E81F81-CB05-1AB2-67BF-97F5A3C6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323" y="2402593"/>
            <a:ext cx="2767189" cy="2088092"/>
          </a:xfrm>
          <a:prstGeom prst="rect">
            <a:avLst/>
          </a:prstGeom>
        </p:spPr>
      </p:pic>
      <p:pic>
        <p:nvPicPr>
          <p:cNvPr id="9" name="Picture 8" descr="A graph of lines with red dots&#10;&#10;AI-generated content may be incorrect.">
            <a:extLst>
              <a:ext uri="{FF2B5EF4-FFF2-40B4-BE49-F238E27FC236}">
                <a16:creationId xmlns:a16="http://schemas.microsoft.com/office/drawing/2014/main" id="{37D8CE95-7D62-26E6-334D-FB4620C6A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155" y="2409649"/>
            <a:ext cx="2767189" cy="2088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39923C-AEED-5F29-9C0E-8B402CD75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5481" y="1511476"/>
            <a:ext cx="2447925" cy="314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19C342-BD10-3120-7BFF-6681EBAF21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1131" y="876476"/>
            <a:ext cx="1190625" cy="3143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EC8D62-183C-38D2-20C7-74FE28DBEB25}"/>
              </a:ext>
            </a:extLst>
          </p:cNvPr>
          <p:cNvSpPr txBox="1"/>
          <p:nvPr/>
        </p:nvSpPr>
        <p:spPr>
          <a:xfrm>
            <a:off x="634999" y="1883832"/>
            <a:ext cx="577144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solidFill>
                  <a:schemeClr val="accent5"/>
                </a:solidFill>
              </a:rPr>
              <a:t>How should you sample a sin wave? </a:t>
            </a:r>
            <a:r>
              <a:rPr lang="en-GB" dirty="0">
                <a:solidFill>
                  <a:schemeClr val="accent2"/>
                </a:solidFill>
              </a:rPr>
              <a:t>Depends on the </a:t>
            </a:r>
            <a:r>
              <a:rPr lang="en-GB">
                <a:solidFill>
                  <a:schemeClr val="accent2"/>
                </a:solidFill>
              </a:rPr>
              <a:t>frequency, f</a:t>
            </a:r>
            <a:r>
              <a:rPr lang="en-GB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D90862-C382-5064-AE5F-059FF2AFC91B}"/>
              </a:ext>
            </a:extLst>
          </p:cNvPr>
          <p:cNvSpPr txBox="1"/>
          <p:nvPr/>
        </p:nvSpPr>
        <p:spPr>
          <a:xfrm>
            <a:off x="6674556" y="2024944"/>
            <a:ext cx="20940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Sampling period: </a:t>
            </a:r>
            <a:r>
              <a:rPr lang="en-GB" sz="1600" dirty="0" err="1">
                <a:solidFill>
                  <a:schemeClr val="tx1"/>
                </a:solidFill>
              </a:rPr>
              <a:t>Δt</a:t>
            </a:r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FBEED7-B9A9-B047-04E0-51CE7C251A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9702" y="876385"/>
            <a:ext cx="189547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92F4-33B1-7FA0-5F69-B666772F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4CE2E7A-69A0-5B49-DD0D-94769A34140E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800">
                <a:solidFill>
                  <a:schemeClr val="tx1"/>
                </a:solidFill>
              </a:rPr>
              <a:t>Special time series: white noise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41871-F198-8316-FDD2-06C214D7DD99}"/>
              </a:ext>
            </a:extLst>
          </p:cNvPr>
          <p:cNvSpPr txBox="1">
            <a:spLocks/>
          </p:cNvSpPr>
          <p:nvPr/>
        </p:nvSpPr>
        <p:spPr>
          <a:xfrm>
            <a:off x="101991" y="641205"/>
            <a:ext cx="5493066" cy="395749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GB" sz="1600" dirty="0">
                <a:solidFill>
                  <a:schemeClr val="tx1"/>
                </a:solidFill>
              </a:rPr>
              <a:t>Time series where each point in time is unrelated to the </a:t>
            </a:r>
            <a:r>
              <a:rPr lang="en-GB" sz="1600" err="1">
                <a:solidFill>
                  <a:schemeClr val="tx1"/>
                </a:solidFill>
              </a:rPr>
              <a:t>next</a:t>
            </a:r>
            <a:endParaRPr lang="en-GB" sz="1600" dirty="0" err="1">
              <a:solidFill>
                <a:schemeClr val="tx1"/>
              </a:solidFill>
            </a:endParaRPr>
          </a:p>
          <a:p>
            <a:pPr>
              <a:buClrTx/>
            </a:pPr>
            <a:r>
              <a:rPr lang="en-GB" sz="1600">
                <a:solidFill>
                  <a:schemeClr val="tx1"/>
                </a:solidFill>
              </a:rPr>
              <a:t>Properties</a:t>
            </a: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Char char="•"/>
            </a:pPr>
            <a:r>
              <a:rPr lang="en-GB" sz="1600" dirty="0">
                <a:solidFill>
                  <a:schemeClr val="accent5"/>
                </a:solidFill>
              </a:rPr>
              <a:t>f(t) has zero correlation with f(</a:t>
            </a:r>
            <a:r>
              <a:rPr lang="en-GB" sz="1600" dirty="0" err="1">
                <a:solidFill>
                  <a:schemeClr val="accent5"/>
                </a:solidFill>
              </a:rPr>
              <a:t>t+n</a:t>
            </a:r>
            <a:r>
              <a:rPr lang="en-GB" sz="1600" dirty="0">
                <a:solidFill>
                  <a:schemeClr val="accent5"/>
                </a:solidFill>
              </a:rPr>
              <a:t>), n=1,2,3,...</a:t>
            </a:r>
          </a:p>
          <a:p>
            <a:pPr marL="450850" indent="-285750">
              <a:buClrTx/>
              <a:buChar char="•"/>
            </a:pPr>
            <a:r>
              <a:rPr lang="en-GB" sz="1600">
                <a:solidFill>
                  <a:schemeClr val="tx1"/>
                </a:solidFill>
              </a:rPr>
              <a:t>Should have finite variance</a:t>
            </a:r>
            <a:endParaRPr lang="en-GB">
              <a:solidFill>
                <a:schemeClr val="tx1"/>
              </a:solidFill>
            </a:endParaRPr>
          </a:p>
          <a:p>
            <a:pPr marL="450850" indent="-285750">
              <a:buClrTx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When the distribution of f(t) is </a:t>
            </a:r>
            <a:r>
              <a:rPr lang="en-GB" sz="1600">
                <a:solidFill>
                  <a:schemeClr val="tx1"/>
                </a:solidFill>
              </a:rPr>
              <a:t>uniform: uniform white noise</a:t>
            </a:r>
            <a:endParaRPr lang="en-GB" sz="1600" dirty="0">
              <a:solidFill>
                <a:schemeClr val="tx1"/>
              </a:solidFill>
            </a:endParaRPr>
          </a:p>
          <a:p>
            <a:pPr marL="450850" indent="-285750">
              <a:buClrTx/>
              <a:buChar char="•"/>
            </a:pPr>
            <a:r>
              <a:rPr lang="en-GB" sz="1600">
                <a:solidFill>
                  <a:schemeClr val="tx1"/>
                </a:solidFill>
              </a:rPr>
              <a:t>When the distribution is Gaussian (normal): Gaussian white noise</a:t>
            </a:r>
          </a:p>
          <a:p>
            <a:pPr>
              <a:buClrTx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EAED2-083C-1A35-C87E-EF1A2E393C21}"/>
              </a:ext>
            </a:extLst>
          </p:cNvPr>
          <p:cNvSpPr txBox="1"/>
          <p:nvPr/>
        </p:nvSpPr>
        <p:spPr>
          <a:xfrm>
            <a:off x="1425222" y="3393722"/>
            <a:ext cx="3646310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accent5"/>
                </a:solidFill>
              </a:rPr>
              <a:t>How do we quantify this correlation?</a:t>
            </a:r>
          </a:p>
        </p:txBody>
      </p:sp>
      <p:pic>
        <p:nvPicPr>
          <p:cNvPr id="5" name="Picture 4" descr="A graph of red and blue lines&#10;&#10;AI-generated content may be incorrect.">
            <a:extLst>
              <a:ext uri="{FF2B5EF4-FFF2-40B4-BE49-F238E27FC236}">
                <a16:creationId xmlns:a16="http://schemas.microsoft.com/office/drawing/2014/main" id="{62EE4708-6A02-B0C6-CC3E-B14CB6786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826" y="795771"/>
            <a:ext cx="2761818" cy="204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1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4C88-913B-66E3-ABF8-FA78118F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A0D15C2-50E3-6320-0EFC-33AE766E3CF0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The </a:t>
            </a:r>
            <a:r>
              <a:rPr lang="en-GB" sz="2800">
                <a:solidFill>
                  <a:schemeClr val="tx1"/>
                </a:solidFill>
              </a:rPr>
              <a:t>autocorrelation function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3847-680F-0984-11B1-1DC2DCCAE4D7}"/>
              </a:ext>
            </a:extLst>
          </p:cNvPr>
          <p:cNvSpPr txBox="1">
            <a:spLocks/>
          </p:cNvSpPr>
          <p:nvPr/>
        </p:nvSpPr>
        <p:spPr>
          <a:xfrm>
            <a:off x="101991" y="641205"/>
            <a:ext cx="5493066" cy="395749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600" dirty="0">
                <a:solidFill>
                  <a:schemeClr val="tx1"/>
                </a:solidFill>
              </a:rPr>
              <a:t>If we have a discrete time series, x(n), the autocorrelatio</a:t>
            </a:r>
            <a:r>
              <a:rPr lang="en-GB" sz="1600">
                <a:solidFill>
                  <a:schemeClr val="tx1"/>
                </a:solidFill>
              </a:rPr>
              <a:t>n of x(n) for a time delay of h points is defined as</a:t>
            </a:r>
          </a:p>
          <a:p>
            <a:pPr>
              <a:buClrTx/>
            </a:pPr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13509D-8277-3E62-8991-9912354B574E}"/>
                  </a:ext>
                </a:extLst>
              </p:cNvPr>
              <p:cNvSpPr txBox="1"/>
              <p:nvPr/>
            </p:nvSpPr>
            <p:spPr>
              <a:xfrm>
                <a:off x="1432052" y="1237081"/>
                <a:ext cx="3769829" cy="7389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13509D-8277-3E62-8991-9912354B5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052" y="1237081"/>
                <a:ext cx="3769829" cy="738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EA29B77-598B-B4CB-D60E-6F7D60526F86}"/>
              </a:ext>
            </a:extLst>
          </p:cNvPr>
          <p:cNvSpPr txBox="1"/>
          <p:nvPr/>
        </p:nvSpPr>
        <p:spPr>
          <a:xfrm>
            <a:off x="156184" y="2097184"/>
            <a:ext cx="2743200" cy="73866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Pearson correlation coefficient, </a:t>
            </a:r>
            <a:r>
              <a:rPr lang="en-GB"/>
              <a:t>for a time delayed version of the time series</a:t>
            </a:r>
            <a:r>
              <a:rPr lang="en-GB" dirty="0"/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6CEEA4-757C-8016-494A-15302AF24FE0}"/>
                  </a:ext>
                </a:extLst>
              </p:cNvPr>
              <p:cNvSpPr txBox="1"/>
              <p:nvPr/>
            </p:nvSpPr>
            <p:spPr>
              <a:xfrm>
                <a:off x="3432839" y="2261569"/>
                <a:ext cx="2089392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∈[−1, 1]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6CEEA4-757C-8016-494A-15302AF24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839" y="2261569"/>
                <a:ext cx="2089392" cy="413511"/>
              </a:xfrm>
              <a:prstGeom prst="rect">
                <a:avLst/>
              </a:prstGeom>
              <a:blipFill>
                <a:blip r:embed="rId4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5CC48-BC32-610A-F2BC-BD83E336CF9B}"/>
                  </a:ext>
                </a:extLst>
              </p:cNvPr>
              <p:cNvSpPr txBox="1"/>
              <p:nvPr/>
            </p:nvSpPr>
            <p:spPr>
              <a:xfrm>
                <a:off x="2897624" y="3098388"/>
                <a:ext cx="2761590" cy="119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   Perfectly correlated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Uncorrelated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=−1  </m:t>
                    </m:r>
                  </m:oMath>
                </a14:m>
                <a:r>
                  <a:rPr lang="en-US" dirty="0"/>
                  <a:t>Anticorrelated</a:t>
                </a:r>
              </a:p>
              <a:p>
                <a:endParaRPr lang="en-US" dirty="0"/>
              </a:p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always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5CC48-BC32-610A-F2BC-BD83E336C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624" y="3098388"/>
                <a:ext cx="2761590" cy="1197828"/>
              </a:xfrm>
              <a:prstGeom prst="rect">
                <a:avLst/>
              </a:prstGeom>
              <a:blipFill>
                <a:blip r:embed="rId5"/>
                <a:stretch>
                  <a:fillRect l="-662" t="-508" b="-4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time series and its delayed copy overlaid on top of each other">
            <a:extLst>
              <a:ext uri="{FF2B5EF4-FFF2-40B4-BE49-F238E27FC236}">
                <a16:creationId xmlns:a16="http://schemas.microsoft.com/office/drawing/2014/main" id="{6449E05C-8386-A40D-DD34-FF21D9616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053" y="535966"/>
            <a:ext cx="2900347" cy="21347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FE99C1-5308-3DCF-4DE9-FA1D16932954}"/>
              </a:ext>
            </a:extLst>
          </p:cNvPr>
          <p:cNvSpPr txBox="1"/>
          <p:nvPr/>
        </p:nvSpPr>
        <p:spPr>
          <a:xfrm>
            <a:off x="2941926" y="4299238"/>
            <a:ext cx="74684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τ=h*</a:t>
            </a:r>
            <a:r>
              <a:rPr lang="en-US" dirty="0" err="1">
                <a:latin typeface="Calibri"/>
                <a:ea typeface="Calibri"/>
                <a:cs typeface="Calibri"/>
              </a:rPr>
              <a:t>Δt</a:t>
            </a:r>
          </a:p>
          <a:p>
            <a:pPr algn="ctr"/>
            <a:endParaRPr lang="en-GB"/>
          </a:p>
        </p:txBody>
      </p:sp>
      <p:pic>
        <p:nvPicPr>
          <p:cNvPr id="4" name="Picture 3" descr="A graph with red dots&#10;&#10;AI-generated content may be incorrect.">
            <a:extLst>
              <a:ext uri="{FF2B5EF4-FFF2-40B4-BE49-F238E27FC236}">
                <a16:creationId xmlns:a16="http://schemas.microsoft.com/office/drawing/2014/main" id="{3C616694-44B4-426D-D927-9DF208F70B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5992" y="2666567"/>
            <a:ext cx="2902527" cy="2252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09560C-5100-C7D2-AF69-B3A6E7658B4F}"/>
              </a:ext>
            </a:extLst>
          </p:cNvPr>
          <p:cNvSpPr txBox="1"/>
          <p:nvPr/>
        </p:nvSpPr>
        <p:spPr>
          <a:xfrm>
            <a:off x="2070986" y="4608007"/>
            <a:ext cx="3129383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Example: </a:t>
            </a:r>
            <a:r>
              <a:rPr lang="en-US" dirty="0" err="1">
                <a:solidFill>
                  <a:schemeClr val="accent6"/>
                </a:solidFill>
              </a:rPr>
              <a:t>autocorrelation_lecture.nb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150F7-8232-BEF7-4121-D3A214158173}"/>
              </a:ext>
            </a:extLst>
          </p:cNvPr>
          <p:cNvSpPr txBox="1"/>
          <p:nvPr/>
        </p:nvSpPr>
        <p:spPr>
          <a:xfrm>
            <a:off x="149214" y="3052007"/>
            <a:ext cx="2743200" cy="5232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What is the correlation when h=0?</a:t>
            </a:r>
          </a:p>
        </p:txBody>
      </p:sp>
    </p:spTree>
    <p:extLst>
      <p:ext uri="{BB962C8B-B14F-4D97-AF65-F5344CB8AC3E}">
        <p14:creationId xmlns:p14="http://schemas.microsoft.com/office/powerpoint/2010/main" val="378527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1F504-7601-6C8F-1ABC-9C9113E12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2BB4FB-0FA5-A4D5-E3F5-77BD53971058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800">
                <a:solidFill>
                  <a:schemeClr val="tx1"/>
                </a:solidFill>
              </a:rPr>
              <a:t>Multiple related time series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 descr="A graph of stock market&#10;&#10;AI-generated content may be incorrect.">
            <a:extLst>
              <a:ext uri="{FF2B5EF4-FFF2-40B4-BE49-F238E27FC236}">
                <a16:creationId xmlns:a16="http://schemas.microsoft.com/office/drawing/2014/main" id="{3C2F2838-C147-AC00-4C52-1FD99D0D6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330" y="3157188"/>
            <a:ext cx="3294721" cy="1937524"/>
          </a:xfrm>
          <a:prstGeom prst="rect">
            <a:avLst/>
          </a:prstGeom>
        </p:spPr>
      </p:pic>
      <p:pic>
        <p:nvPicPr>
          <p:cNvPr id="5" name="Picture 4" descr="A person with a device attached to his head&#10;&#10;AI-generated content may be incorrect.">
            <a:extLst>
              <a:ext uri="{FF2B5EF4-FFF2-40B4-BE49-F238E27FC236}">
                <a16:creationId xmlns:a16="http://schemas.microsoft.com/office/drawing/2014/main" id="{5CDAFC8C-0C9E-6FCF-D8E2-C64C6117D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928" y="789878"/>
            <a:ext cx="3292815" cy="2216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3EDB3C-E88D-74EE-5F9B-A41928011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74" y="792201"/>
            <a:ext cx="3937775" cy="22163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13B67E-2ADB-6054-184B-3892FE3757A2}"/>
              </a:ext>
            </a:extLst>
          </p:cNvPr>
          <p:cNvSpPr txBox="1"/>
          <p:nvPr/>
        </p:nvSpPr>
        <p:spPr>
          <a:xfrm>
            <a:off x="6406003" y="4486260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800" i="1" dirty="0"/>
              <a:t>https://tradersunion.com/interesting-articles/when-to-sell-stocks-top-5-triggers/</a:t>
            </a:r>
            <a:endParaRPr lang="en-US" sz="8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877892-7D7D-1A47-59C0-90BBF9E983EB}"/>
              </a:ext>
            </a:extLst>
          </p:cNvPr>
          <p:cNvSpPr txBox="1"/>
          <p:nvPr/>
        </p:nvSpPr>
        <p:spPr>
          <a:xfrm>
            <a:off x="5338124" y="3004328"/>
            <a:ext cx="490374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00"/>
              <a:t>"Volunteer Duty" Psychology Testing Photo by Chris Hope, flickr.com</a:t>
            </a:r>
            <a:endParaRPr lang="en-US" sz="800"/>
          </a:p>
          <a:p>
            <a:pPr algn="l"/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58B8B-C14D-FEED-D90C-9E91C087E222}"/>
              </a:ext>
            </a:extLst>
          </p:cNvPr>
          <p:cNvSpPr txBox="1"/>
          <p:nvPr/>
        </p:nvSpPr>
        <p:spPr>
          <a:xfrm>
            <a:off x="169413" y="3009914"/>
            <a:ext cx="3934985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00" dirty="0"/>
              <a:t>Wikimedia </a:t>
            </a:r>
            <a:r>
              <a:rPr lang="en-GB" sz="800"/>
              <a:t>commons, Rubin </a:t>
            </a:r>
            <a:r>
              <a:rPr lang="en-GB" sz="800" dirty="0"/>
              <a:t>Observatory/N</a:t>
            </a:r>
            <a:r>
              <a:rPr lang="en-GB" sz="800" err="1"/>
              <a:t>OIRLab/</a:t>
            </a:r>
            <a:r>
              <a:rPr lang="en-GB" sz="800" dirty="0"/>
              <a:t>NSF/AURA/P. M</a:t>
            </a:r>
            <a:r>
              <a:rPr lang="en-GB" sz="800" err="1"/>
              <a:t>arenfeld</a:t>
            </a:r>
            <a:endParaRPr lang="en-US" sz="800" err="1"/>
          </a:p>
        </p:txBody>
      </p:sp>
    </p:spTree>
    <p:extLst>
      <p:ext uri="{BB962C8B-B14F-4D97-AF65-F5344CB8AC3E}">
        <p14:creationId xmlns:p14="http://schemas.microsoft.com/office/powerpoint/2010/main" val="407612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A0FCE1-6C89-A1F3-F0AE-1DA9D403C498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Cross-correlation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7E06A-647F-C7C6-7B42-7032FA7815C7}"/>
              </a:ext>
            </a:extLst>
          </p:cNvPr>
          <p:cNvSpPr txBox="1"/>
          <p:nvPr/>
        </p:nvSpPr>
        <p:spPr>
          <a:xfrm>
            <a:off x="649111" y="1283549"/>
            <a:ext cx="33017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We can </a:t>
            </a:r>
            <a:r>
              <a:rPr lang="en-GB" err="1"/>
              <a:t>gener</a:t>
            </a:r>
            <a:r>
              <a:rPr lang="en-GB"/>
              <a:t>alize the autocorrelation function to the correlation between two time series.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17D6F5-F0AB-D70B-ABC9-D35EA5A9E082}"/>
                  </a:ext>
                </a:extLst>
              </p:cNvPr>
              <p:cNvSpPr txBox="1"/>
              <p:nvPr/>
            </p:nvSpPr>
            <p:spPr>
              <a:xfrm>
                <a:off x="602205" y="2274499"/>
                <a:ext cx="5166360" cy="1017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17D6F5-F0AB-D70B-ABC9-D35EA5A9E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05" y="2274499"/>
                <a:ext cx="5166360" cy="1017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4428A7-FFFB-F674-BEF5-F73FF3B26475}"/>
                  </a:ext>
                </a:extLst>
              </p:cNvPr>
              <p:cNvSpPr txBox="1"/>
              <p:nvPr/>
            </p:nvSpPr>
            <p:spPr>
              <a:xfrm>
                <a:off x="657069" y="3274054"/>
                <a:ext cx="2089392" cy="424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∈[−1, 1]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4428A7-FFFB-F674-BEF5-F73FF3B26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69" y="3274054"/>
                <a:ext cx="2089392" cy="424283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02F8691-CC47-89B3-F9BB-C27707A7E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451" y="639907"/>
            <a:ext cx="2656610" cy="1954358"/>
          </a:xfrm>
          <a:prstGeom prst="rect">
            <a:avLst/>
          </a:prstGeom>
        </p:spPr>
      </p:pic>
      <p:pic>
        <p:nvPicPr>
          <p:cNvPr id="10" name="Picture 9" descr="A graph with red dots&#10;&#10;AI-generated content may be incorrect.">
            <a:extLst>
              <a:ext uri="{FF2B5EF4-FFF2-40B4-BE49-F238E27FC236}">
                <a16:creationId xmlns:a16="http://schemas.microsoft.com/office/drawing/2014/main" id="{C7AEF84D-7616-9624-B658-394EF6D51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584" y="2673061"/>
            <a:ext cx="2658343" cy="1953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CADE20-9A18-B845-832C-0C0464DB8393}"/>
              </a:ext>
            </a:extLst>
          </p:cNvPr>
          <p:cNvSpPr txBox="1"/>
          <p:nvPr/>
        </p:nvSpPr>
        <p:spPr>
          <a:xfrm>
            <a:off x="2644300" y="3888349"/>
            <a:ext cx="2743200" cy="73866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Pearson correlation coefficient, for a time delayed version of </a:t>
            </a:r>
            <a:r>
              <a:rPr lang="en-GB"/>
              <a:t>two time</a:t>
            </a:r>
            <a:r>
              <a:rPr lang="en-GB" dirty="0"/>
              <a:t> series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52056-79A1-6F53-649F-A554B073A8B6}"/>
              </a:ext>
            </a:extLst>
          </p:cNvPr>
          <p:cNvSpPr txBox="1"/>
          <p:nvPr/>
        </p:nvSpPr>
        <p:spPr>
          <a:xfrm>
            <a:off x="655926" y="3888037"/>
            <a:ext cx="74684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τ=h*</a:t>
            </a:r>
            <a:r>
              <a:rPr lang="en-US" dirty="0" err="1">
                <a:latin typeface="Calibri"/>
                <a:ea typeface="Calibri"/>
                <a:cs typeface="Calibri"/>
              </a:rPr>
              <a:t>Δt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87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1AF93-2915-427E-7785-660C0E3A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9FA64E3-2A25-6A43-7E39-AF4A318C03EE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Cross-correlation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C6175-FF7D-4DB5-FCE0-F70B0B2F95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736" y="829606"/>
                <a:ext cx="8970264" cy="377458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Similar to autocorrelation but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compares two different time series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with each other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The cross-correlation function (XCF) is also a function of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delay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600" dirty="0">
                    <a:solidFill>
                      <a:schemeClr val="accent5"/>
                    </a:solidFill>
                  </a:rPr>
                  <a:t>.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used to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Find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repeating patterns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between different time series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Find a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short, known pattern </a:t>
                </a:r>
                <a:r>
                  <a:rPr lang="en-US" sz="1600" dirty="0">
                    <a:solidFill>
                      <a:schemeClr val="tx1"/>
                    </a:solidFill>
                  </a:rPr>
                  <a:t>within a longer time series</a:t>
                </a:r>
              </a:p>
              <a:p>
                <a:pPr marL="450850" indent="-285750"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tx1"/>
                    </a:solidFill>
                  </a:rPr>
                  <a:t>Identify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time delays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between two time series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accent5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the </a:t>
                </a:r>
                <a:r>
                  <a:rPr lang="en-US" sz="1600" dirty="0">
                    <a:solidFill>
                      <a:schemeClr val="accent5"/>
                    </a:solidFill>
                  </a:rPr>
                  <a:t>Pearson correlation coefficient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between the time series as a function of delay</a:t>
                </a:r>
              </a:p>
              <a:p>
                <a:pPr>
                  <a:buClrTx/>
                </a:pPr>
                <a:endParaRPr lang="en-US" sz="1600" dirty="0">
                  <a:solidFill>
                    <a:schemeClr val="accent5"/>
                  </a:solidFill>
                </a:endParaRPr>
              </a:p>
              <a:p>
                <a:pPr>
                  <a:buClrTx/>
                </a:pPr>
                <a:r>
                  <a:rPr lang="en-US" sz="1600" dirty="0">
                    <a:solidFill>
                      <a:schemeClr val="accent6"/>
                    </a:solidFill>
                  </a:rPr>
                  <a:t>Mathematica: </a:t>
                </a:r>
                <a:r>
                  <a:rPr lang="en-US" sz="1600" dirty="0" err="1">
                    <a:solidFill>
                      <a:schemeClr val="accent6"/>
                    </a:solidFill>
                  </a:rPr>
                  <a:t>CorrelationFunction</a:t>
                </a:r>
                <a:endParaRPr lang="en-US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C6175-FF7D-4DB5-FCE0-F70B0B2F9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829606"/>
                <a:ext cx="8970264" cy="3774588"/>
              </a:xfrm>
              <a:prstGeom prst="rect">
                <a:avLst/>
              </a:prstGeom>
              <a:blipFill>
                <a:blip r:embed="rId3"/>
                <a:stretch>
                  <a:fillRect t="-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E7D2D7-E11F-C50D-4639-CB82EC8C7D28}"/>
                  </a:ext>
                </a:extLst>
              </p:cNvPr>
              <p:cNvSpPr txBox="1"/>
              <p:nvPr/>
            </p:nvSpPr>
            <p:spPr>
              <a:xfrm>
                <a:off x="3803904" y="3586351"/>
                <a:ext cx="5166360" cy="1017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p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E7D2D7-E11F-C50D-4639-CB82EC8C7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904" y="3586351"/>
                <a:ext cx="5166360" cy="1017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754CD-AD60-CDEC-45E4-8A2E1CFC9EFC}"/>
                  </a:ext>
                </a:extLst>
              </p:cNvPr>
              <p:cNvSpPr txBox="1"/>
              <p:nvPr/>
            </p:nvSpPr>
            <p:spPr>
              <a:xfrm>
                <a:off x="3858768" y="4585906"/>
                <a:ext cx="2089392" cy="424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∈[−1, 1]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7754CD-AD60-CDEC-45E4-8A2E1CFC9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768" y="4585906"/>
                <a:ext cx="2089392" cy="424283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50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94A7-D22F-8EC4-9514-A014A3A2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FA343BE-1899-0021-52E4-FC0FCA995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07909"/>
            <a:ext cx="4343400" cy="2567432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68F367-ACB1-AE35-E1EE-A699833F0BB6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Cross-correlation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6113E-F65D-1634-9751-5DC5BAF30626}"/>
              </a:ext>
            </a:extLst>
          </p:cNvPr>
          <p:cNvSpPr txBox="1"/>
          <p:nvPr/>
        </p:nvSpPr>
        <p:spPr>
          <a:xfrm>
            <a:off x="1547798" y="891891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time series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60D5F-00E0-3A6A-3F09-3C31B3D272B1}"/>
              </a:ext>
            </a:extLst>
          </p:cNvPr>
          <p:cNvSpPr txBox="1"/>
          <p:nvPr/>
        </p:nvSpPr>
        <p:spPr>
          <a:xfrm>
            <a:off x="5631857" y="891891"/>
            <a:ext cx="2223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Cross-correlation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58005D-F93C-BC5D-2ED9-714B18A44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07909"/>
            <a:ext cx="4097451" cy="2549525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52E798-9BCE-1CA5-1D1A-65F2B762F035}"/>
              </a:ext>
            </a:extLst>
          </p:cNvPr>
          <p:cNvSpPr txBox="1"/>
          <p:nvPr/>
        </p:nvSpPr>
        <p:spPr>
          <a:xfrm>
            <a:off x="2684303" y="4587098"/>
            <a:ext cx="3129383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Example: </a:t>
            </a:r>
            <a:r>
              <a:rPr lang="en-US" dirty="0" err="1">
                <a:solidFill>
                  <a:schemeClr val="accent6"/>
                </a:solidFill>
              </a:rPr>
              <a:t>crosscorrelation_lecture.nb</a:t>
            </a:r>
          </a:p>
        </p:txBody>
      </p:sp>
    </p:spTree>
    <p:extLst>
      <p:ext uri="{BB962C8B-B14F-4D97-AF65-F5344CB8AC3E}">
        <p14:creationId xmlns:p14="http://schemas.microsoft.com/office/powerpoint/2010/main" val="139491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91C2-4463-0B6F-3A12-EA65D2C6B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5FF75AA-CC96-170C-ED37-A706B5201D8F}"/>
              </a:ext>
            </a:extLst>
          </p:cNvPr>
          <p:cNvSpPr txBox="1"/>
          <p:nvPr/>
        </p:nvSpPr>
        <p:spPr>
          <a:xfrm>
            <a:off x="1845780" y="119043"/>
            <a:ext cx="697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Time-domain analysis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Visualisation and processing in Mathematica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67FF7-70CB-43A9-4876-F861883835D0}"/>
              </a:ext>
            </a:extLst>
          </p:cNvPr>
          <p:cNvSpPr txBox="1">
            <a:spLocks/>
          </p:cNvSpPr>
          <p:nvPr/>
        </p:nvSpPr>
        <p:spPr>
          <a:xfrm>
            <a:off x="63322" y="931275"/>
            <a:ext cx="9080678" cy="36204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Plotting</a:t>
            </a:r>
            <a:r>
              <a:rPr lang="en-US" sz="1600" dirty="0">
                <a:solidFill>
                  <a:schemeClr val="tx1"/>
                </a:solidFill>
              </a:rPr>
              <a:t> using line charts:		</a:t>
            </a:r>
            <a:r>
              <a:rPr lang="en-US" sz="1600" dirty="0" err="1">
                <a:solidFill>
                  <a:schemeClr val="accent6"/>
                </a:solidFill>
              </a:rPr>
              <a:t>ListLinePlot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Binning</a:t>
            </a:r>
            <a:r>
              <a:rPr lang="en-US" sz="1600" dirty="0">
                <a:solidFill>
                  <a:schemeClr val="tx1"/>
                </a:solidFill>
              </a:rPr>
              <a:t> the data:	</a:t>
            </a:r>
            <a:r>
              <a:rPr lang="en-US" sz="1600" dirty="0">
                <a:solidFill>
                  <a:schemeClr val="accent2"/>
                </a:solidFill>
              </a:rPr>
              <a:t>		</a:t>
            </a:r>
            <a:r>
              <a:rPr lang="en-US" sz="1600" dirty="0" err="1">
                <a:solidFill>
                  <a:schemeClr val="accent6"/>
                </a:solidFill>
              </a:rPr>
              <a:t>BinCounts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(grouping data by some property)</a:t>
            </a:r>
          </a:p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Smoothing</a:t>
            </a:r>
            <a:r>
              <a:rPr lang="en-US" sz="1600" dirty="0">
                <a:solidFill>
                  <a:schemeClr val="tx1"/>
                </a:solidFill>
              </a:rPr>
              <a:t> the data:</a:t>
            </a:r>
            <a:r>
              <a:rPr lang="en-US" sz="1600" dirty="0">
                <a:solidFill>
                  <a:schemeClr val="accent2"/>
                </a:solidFill>
              </a:rPr>
              <a:t>		</a:t>
            </a:r>
            <a:r>
              <a:rPr lang="en-US" sz="1600" dirty="0" err="1">
                <a:solidFill>
                  <a:schemeClr val="accent6"/>
                </a:solidFill>
              </a:rPr>
              <a:t>MovingAverage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MovingMedian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MeanFilter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(producing a visually smoother time 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MedianFilter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MinFilter</a:t>
            </a:r>
            <a:r>
              <a:rPr lang="en-US" sz="1600" dirty="0">
                <a:solidFill>
                  <a:schemeClr val="accent6"/>
                </a:solidFill>
              </a:rPr>
              <a:t>		</a:t>
            </a:r>
            <a:r>
              <a:rPr lang="en-US" sz="1600" dirty="0" err="1">
                <a:solidFill>
                  <a:schemeClr val="accent6"/>
                </a:solidFill>
              </a:rPr>
              <a:t>MaxFilter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 series to identify underlying trends) 	</a:t>
            </a:r>
            <a:r>
              <a:rPr lang="en-US" sz="1600" dirty="0" err="1">
                <a:solidFill>
                  <a:schemeClr val="accent6"/>
                </a:solidFill>
              </a:rPr>
              <a:t>GaussianFilter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</a:p>
          <a:p>
            <a:pPr>
              <a:buClrTx/>
            </a:pP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Filtering</a:t>
            </a:r>
            <a:r>
              <a:rPr lang="en-US" sz="1600" dirty="0">
                <a:solidFill>
                  <a:schemeClr val="tx1"/>
                </a:solidFill>
              </a:rPr>
              <a:t> the data:	</a:t>
            </a:r>
            <a:r>
              <a:rPr lang="en-US" sz="1600" dirty="0">
                <a:solidFill>
                  <a:schemeClr val="accent6"/>
                </a:solidFill>
              </a:rPr>
              <a:t>		</a:t>
            </a:r>
            <a:r>
              <a:rPr lang="en-US" sz="1600" dirty="0" err="1">
                <a:solidFill>
                  <a:schemeClr val="accent6"/>
                </a:solidFill>
              </a:rPr>
              <a:t>GradientFilter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LaplacianFilter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(modifying certain frequencies) 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LowpassFilter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HighpassFilter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BandpassFilter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accent5"/>
                </a:solidFill>
              </a:rPr>
              <a:t>Interpolating</a:t>
            </a:r>
            <a:r>
              <a:rPr lang="en-US" sz="1600" dirty="0">
                <a:solidFill>
                  <a:schemeClr val="tx1"/>
                </a:solidFill>
              </a:rPr>
              <a:t> or </a:t>
            </a:r>
            <a:r>
              <a:rPr lang="en-US" sz="1600" dirty="0">
                <a:solidFill>
                  <a:schemeClr val="accent5"/>
                </a:solidFill>
              </a:rPr>
              <a:t>fitting</a:t>
            </a:r>
            <a:r>
              <a:rPr lang="en-US" sz="1600" dirty="0">
                <a:solidFill>
                  <a:schemeClr val="tx1"/>
                </a:solidFill>
              </a:rPr>
              <a:t> the data:</a:t>
            </a:r>
            <a:r>
              <a:rPr lang="en-US" sz="1600" dirty="0">
                <a:solidFill>
                  <a:schemeClr val="accent2"/>
                </a:solidFill>
              </a:rPr>
              <a:t>	</a:t>
            </a:r>
            <a:r>
              <a:rPr lang="en-US" sz="1600" dirty="0">
                <a:solidFill>
                  <a:schemeClr val="accent6"/>
                </a:solidFill>
              </a:rPr>
              <a:t>Interpolation	Fit		</a:t>
            </a:r>
            <a:r>
              <a:rPr lang="en-US" sz="1600" dirty="0" err="1">
                <a:solidFill>
                  <a:schemeClr val="accent6"/>
                </a:solidFill>
              </a:rPr>
              <a:t>FindFit</a:t>
            </a:r>
            <a:endParaRPr lang="en-US" sz="1600" dirty="0">
              <a:solidFill>
                <a:schemeClr val="accent6"/>
              </a:solidFill>
            </a:endParaRP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(predicting values at arbitrary times)	</a:t>
            </a:r>
            <a:r>
              <a:rPr lang="en-US" sz="1600" dirty="0" err="1">
                <a:solidFill>
                  <a:schemeClr val="accent6"/>
                </a:solidFill>
              </a:rPr>
              <a:t>LinearModelFit</a:t>
            </a:r>
            <a:r>
              <a:rPr lang="en-US" sz="1600" dirty="0">
                <a:solidFill>
                  <a:schemeClr val="accent6"/>
                </a:solidFill>
              </a:rPr>
              <a:t>	</a:t>
            </a:r>
            <a:r>
              <a:rPr lang="en-US" sz="1600" dirty="0" err="1">
                <a:solidFill>
                  <a:schemeClr val="accent6"/>
                </a:solidFill>
              </a:rPr>
              <a:t>NonlinearModelFit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E4EF9-53D4-0EF9-32BA-DF0BE63F4429}"/>
              </a:ext>
            </a:extLst>
          </p:cNvPr>
          <p:cNvSpPr txBox="1"/>
          <p:nvPr/>
        </p:nvSpPr>
        <p:spPr>
          <a:xfrm>
            <a:off x="2146978" y="4620280"/>
            <a:ext cx="491336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ClrTx/>
            </a:pPr>
            <a:r>
              <a:rPr lang="en-US" sz="1400" dirty="0">
                <a:solidFill>
                  <a:schemeClr val="accent6"/>
                </a:solidFill>
              </a:rPr>
              <a:t>Examples: 	</a:t>
            </a:r>
            <a:r>
              <a:rPr lang="en-US" dirty="0" err="1">
                <a:solidFill>
                  <a:schemeClr val="accent6"/>
                </a:solidFill>
              </a:rPr>
              <a:t>binning</a:t>
            </a:r>
            <a:r>
              <a:rPr lang="en-US" sz="1400" dirty="0" err="1">
                <a:solidFill>
                  <a:schemeClr val="accent6"/>
                </a:solidFill>
              </a:rPr>
              <a:t>_spiketimes.nb</a:t>
            </a:r>
            <a:r>
              <a:rPr lang="en-US" sz="1400" dirty="0">
                <a:solidFill>
                  <a:schemeClr val="accent6"/>
                </a:solidFill>
              </a:rPr>
              <a:t> (Binning)</a:t>
            </a:r>
          </a:p>
          <a:p>
            <a:pPr>
              <a:buClrTx/>
            </a:pPr>
            <a:r>
              <a:rPr lang="en-US" sz="1400" dirty="0">
                <a:solidFill>
                  <a:schemeClr val="accent6"/>
                </a:solidFill>
              </a:rPr>
              <a:t>	</a:t>
            </a:r>
            <a:r>
              <a:rPr lang="en-US" sz="1400" dirty="0" err="1">
                <a:solidFill>
                  <a:schemeClr val="accent6"/>
                </a:solidFill>
              </a:rPr>
              <a:t>interpolation_fit.nb</a:t>
            </a:r>
            <a:r>
              <a:rPr lang="en-US" sz="1400" dirty="0">
                <a:solidFill>
                  <a:schemeClr val="accent6"/>
                </a:solidFill>
              </a:rPr>
              <a:t> (Interpolation and fitting)</a:t>
            </a:r>
          </a:p>
        </p:txBody>
      </p:sp>
    </p:spTree>
    <p:extLst>
      <p:ext uri="{BB962C8B-B14F-4D97-AF65-F5344CB8AC3E}">
        <p14:creationId xmlns:p14="http://schemas.microsoft.com/office/powerpoint/2010/main" val="407278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A945-B78F-8702-5E32-F59E6F3E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6486697-0181-E68B-FCCC-C8E3778AF058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Smoothing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677630-7765-675A-63E2-243C921356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22" y="1948952"/>
                <a:ext cx="9080678" cy="362043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Define a smoothing window. In this example, it is a box with width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</a:rPr>
                  <a:t> (i.e.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</a:rPr>
                  <a:t>+1 points)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Identify paired data in the window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Assign time to window, e.g. midpoint</a:t>
                </a:r>
                <a:r>
                  <a:rPr lang="en-US" sz="1600" dirty="0">
                    <a:solidFill>
                      <a:schemeClr val="accent2"/>
                    </a:solidFill>
                  </a:rPr>
                  <a:t> (= 4 above)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Apply function to signal in the window, e.g. for a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moving average</a:t>
                </a:r>
                <a:br>
                  <a:rPr lang="en-US" sz="1600" i="1" dirty="0">
                    <a:solidFill>
                      <a:schemeClr val="tx1"/>
                    </a:solidFill>
                  </a:rPr>
                </a:br>
                <a:endParaRPr lang="en-US" sz="800" i="1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6+7+2+5+9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=5.8</m:t>
                      </m:r>
                    </m:oMath>
                  </m:oMathPara>
                </a14:m>
                <a:endParaRPr lang="en-US" sz="1600" dirty="0">
                  <a:solidFill>
                    <a:schemeClr val="accent2"/>
                  </a:solidFill>
                </a:endParaRP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endParaRPr lang="en-US" sz="800" dirty="0">
                  <a:solidFill>
                    <a:schemeClr val="tx1"/>
                  </a:solidFill>
                </a:endParaRP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r>
                  <a:rPr lang="en-US" sz="1600" dirty="0">
                    <a:solidFill>
                      <a:schemeClr val="tx1"/>
                    </a:solidFill>
                  </a:rPr>
                  <a:t>Add result to smoothed paired data: </a:t>
                </a:r>
                <a:r>
                  <a:rPr lang="en-US" sz="1600" dirty="0">
                    <a:solidFill>
                      <a:schemeClr val="accent2"/>
                    </a:solidFill>
                  </a:rPr>
                  <a:t>{4, 5.8}</a:t>
                </a: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r>
                  <a:rPr lang="en-US" sz="1600" dirty="0">
                    <a:solidFill>
                      <a:schemeClr val="tx1"/>
                    </a:solidFill>
                  </a:rPr>
                  <a:t>Move window and repeat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677630-7765-675A-63E2-243C92135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2" y="1948952"/>
                <a:ext cx="9080678" cy="3620433"/>
              </a:xfrm>
              <a:prstGeom prst="rect">
                <a:avLst/>
              </a:prstGeom>
              <a:blipFill>
                <a:blip r:embed="rId3"/>
                <a:stretch>
                  <a:fillRect t="-5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CC87E04-6AE1-89B9-3C32-627D51D30924}"/>
              </a:ext>
            </a:extLst>
          </p:cNvPr>
          <p:cNvSpPr txBox="1">
            <a:spLocks/>
          </p:cNvSpPr>
          <p:nvPr/>
        </p:nvSpPr>
        <p:spPr>
          <a:xfrm>
            <a:off x="246202" y="1103966"/>
            <a:ext cx="9080678" cy="94991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ED5FD-21DF-35FB-5E99-F4440F606C43}"/>
              </a:ext>
            </a:extLst>
          </p:cNvPr>
          <p:cNvSpPr txBox="1"/>
          <p:nvPr/>
        </p:nvSpPr>
        <p:spPr>
          <a:xfrm>
            <a:off x="4993809" y="4501237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Mathematica: </a:t>
            </a:r>
            <a:r>
              <a:rPr lang="en-US" dirty="0" err="1">
                <a:solidFill>
                  <a:schemeClr val="accent6"/>
                </a:solidFill>
              </a:rPr>
              <a:t>MovingAverage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	    </a:t>
            </a:r>
            <a:r>
              <a:rPr lang="en-US" dirty="0" err="1">
                <a:solidFill>
                  <a:schemeClr val="accent6"/>
                </a:solidFill>
              </a:rPr>
              <a:t>MeanFilter</a:t>
            </a:r>
            <a:r>
              <a:rPr lang="en-US" dirty="0">
                <a:solidFill>
                  <a:schemeClr val="accent6"/>
                </a:solidFill>
              </a:rPr>
              <a:t>	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CC6753-EA23-069C-2680-4BFCD75973AE}"/>
              </a:ext>
            </a:extLst>
          </p:cNvPr>
          <p:cNvSpPr/>
          <p:nvPr/>
        </p:nvSpPr>
        <p:spPr>
          <a:xfrm>
            <a:off x="3072984" y="1208896"/>
            <a:ext cx="1169232" cy="739824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C3098-8B0A-3362-6011-22991D78B20E}"/>
              </a:ext>
            </a:extLst>
          </p:cNvPr>
          <p:cNvSpPr txBox="1"/>
          <p:nvPr/>
        </p:nvSpPr>
        <p:spPr>
          <a:xfrm>
            <a:off x="2827885" y="685676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Window with width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i="1" dirty="0">
                <a:solidFill>
                  <a:schemeClr val="accent5"/>
                </a:solidFill>
              </a:rPr>
              <a:t>w = 4 at n =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DAD5A-3D48-7549-EF78-81DE1D1602BF}"/>
              </a:ext>
            </a:extLst>
          </p:cNvPr>
          <p:cNvSpPr txBox="1"/>
          <p:nvPr/>
        </p:nvSpPr>
        <p:spPr>
          <a:xfrm>
            <a:off x="1614276" y="1218351"/>
            <a:ext cx="63445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Index </a:t>
            </a:r>
            <a:r>
              <a:rPr lang="en-US" i="1" dirty="0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:	1,  2,  3,  4,  5,  6,  7,   8,   9, 10, 11, 12, 13, 14, 15, …</a:t>
            </a:r>
          </a:p>
          <a:p>
            <a:r>
              <a:rPr lang="en-US" dirty="0">
                <a:solidFill>
                  <a:schemeClr val="tx1"/>
                </a:solidFill>
              </a:rPr>
              <a:t>Time </a:t>
            </a:r>
            <a:r>
              <a:rPr lang="en-US" i="1" dirty="0">
                <a:solidFill>
                  <a:schemeClr val="tx1"/>
                </a:solidFill>
              </a:rPr>
              <a:t>t</a:t>
            </a:r>
            <a:r>
              <a:rPr lang="en-US" dirty="0">
                <a:solidFill>
                  <a:schemeClr val="tx1"/>
                </a:solidFill>
              </a:rPr>
              <a:t>:	0,  1,  2,  3,  4,  5,  6,   7,   8,   9, 10, 11, 12, 13, 14, … </a:t>
            </a:r>
          </a:p>
          <a:p>
            <a:r>
              <a:rPr lang="en-US" dirty="0">
                <a:solidFill>
                  <a:schemeClr val="tx1"/>
                </a:solidFill>
              </a:rPr>
              <a:t>Signal 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:	3,  5,  6,  7,  2,  5,  9, 32, 42, 12, 24, 33, 46, 86, 11, …</a:t>
            </a:r>
          </a:p>
        </p:txBody>
      </p:sp>
    </p:spTree>
    <p:extLst>
      <p:ext uri="{BB962C8B-B14F-4D97-AF65-F5344CB8AC3E}">
        <p14:creationId xmlns:p14="http://schemas.microsoft.com/office/powerpoint/2010/main" val="841945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B448-5995-BF74-9A28-0EBEF19CA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4007BC-A855-7BD1-FDF6-FD6101BBA1A2}"/>
              </a:ext>
            </a:extLst>
          </p:cNvPr>
          <p:cNvSpPr/>
          <p:nvPr/>
        </p:nvSpPr>
        <p:spPr>
          <a:xfrm>
            <a:off x="3297834" y="1208896"/>
            <a:ext cx="1274166" cy="739824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48E3D-26C6-802D-6DA5-5DB5BF3C496A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Smoothing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5ECB28-3D03-B331-59AB-2880034090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22" y="1948952"/>
                <a:ext cx="9080678" cy="362043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US" sz="1600" dirty="0">
                    <a:solidFill>
                      <a:schemeClr val="tx1"/>
                    </a:solidFill>
                  </a:rPr>
                  <a:t>Define a smoothing window. In this example, it is a box with width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</a:rPr>
                  <a:t> (i.e.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w</a:t>
                </a:r>
                <a:r>
                  <a:rPr lang="en-US" sz="1600" dirty="0">
                    <a:solidFill>
                      <a:schemeClr val="tx1"/>
                    </a:solidFill>
                  </a:rPr>
                  <a:t>+1 points)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Identify paired data in the window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Assign time to window, e.g. midpoint</a:t>
                </a:r>
                <a:r>
                  <a:rPr lang="en-US" sz="1600" dirty="0">
                    <a:solidFill>
                      <a:schemeClr val="accent2"/>
                    </a:solidFill>
                  </a:rPr>
                  <a:t> (= 5 above)</a:t>
                </a:r>
              </a:p>
              <a:p>
                <a:pPr marL="508000" indent="-342900">
                  <a:buClrTx/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</a:rPr>
                  <a:t>Apply function to signal in the window, e.g. for a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moving average</a:t>
                </a:r>
                <a:br>
                  <a:rPr lang="en-US" sz="1600" i="1" dirty="0">
                    <a:solidFill>
                      <a:schemeClr val="tx1"/>
                    </a:solidFill>
                  </a:rPr>
                </a:br>
                <a:endParaRPr lang="en-US" sz="800" i="1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7+2+5+9+32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1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US" sz="1600" dirty="0">
                  <a:solidFill>
                    <a:schemeClr val="accent2"/>
                  </a:solidFill>
                </a:endParaRP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endParaRPr lang="en-US" sz="800" dirty="0">
                  <a:solidFill>
                    <a:schemeClr val="tx1"/>
                  </a:solidFill>
                </a:endParaRP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r>
                  <a:rPr lang="en-US" sz="1600" dirty="0">
                    <a:solidFill>
                      <a:schemeClr val="tx1"/>
                    </a:solidFill>
                  </a:rPr>
                  <a:t>Add result to smoothed paired data:</a:t>
                </a:r>
                <a:r>
                  <a:rPr lang="en-US" sz="1600" dirty="0">
                    <a:solidFill>
                      <a:schemeClr val="accent2"/>
                    </a:solidFill>
                  </a:rPr>
                  <a:t> {…, {4, 5.8}, {5, 11}, …}</a:t>
                </a:r>
              </a:p>
              <a:p>
                <a:pPr marL="508000" indent="-342900">
                  <a:buClrTx/>
                  <a:buFont typeface="+mj-lt"/>
                  <a:buAutoNum type="arabicPeriod" startAt="4"/>
                </a:pPr>
                <a:r>
                  <a:rPr lang="en-US" sz="1600" dirty="0">
                    <a:solidFill>
                      <a:schemeClr val="tx1"/>
                    </a:solidFill>
                  </a:rPr>
                  <a:t>Move window and repeat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5ECB28-3D03-B331-59AB-288003409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2" y="1948952"/>
                <a:ext cx="9080678" cy="3620433"/>
              </a:xfrm>
              <a:prstGeom prst="rect">
                <a:avLst/>
              </a:prstGeom>
              <a:blipFill>
                <a:blip r:embed="rId3"/>
                <a:stretch>
                  <a:fillRect t="-5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196B63-EBDD-8616-E0E1-DB4AD8C1BC27}"/>
              </a:ext>
            </a:extLst>
          </p:cNvPr>
          <p:cNvSpPr txBox="1">
            <a:spLocks/>
          </p:cNvSpPr>
          <p:nvPr/>
        </p:nvSpPr>
        <p:spPr>
          <a:xfrm>
            <a:off x="246202" y="1103966"/>
            <a:ext cx="9080678" cy="94991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92257-B7DC-75DC-164C-B2028A918D29}"/>
              </a:ext>
            </a:extLst>
          </p:cNvPr>
          <p:cNvSpPr txBox="1"/>
          <p:nvPr/>
        </p:nvSpPr>
        <p:spPr>
          <a:xfrm>
            <a:off x="4993809" y="4501237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Mathematica: </a:t>
            </a:r>
            <a:r>
              <a:rPr lang="en-US" dirty="0" err="1">
                <a:solidFill>
                  <a:schemeClr val="accent6"/>
                </a:solidFill>
              </a:rPr>
              <a:t>MovingAverage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	    </a:t>
            </a:r>
            <a:r>
              <a:rPr lang="en-US" dirty="0" err="1">
                <a:solidFill>
                  <a:schemeClr val="accent6"/>
                </a:solidFill>
              </a:rPr>
              <a:t>MeanFilter</a:t>
            </a:r>
            <a:r>
              <a:rPr lang="en-US" dirty="0">
                <a:solidFill>
                  <a:schemeClr val="accent6"/>
                </a:solidFill>
              </a:rPr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C635F4-C027-743A-2F7B-7A647C9BB4D2}"/>
              </a:ext>
            </a:extLst>
          </p:cNvPr>
          <p:cNvSpPr txBox="1"/>
          <p:nvPr/>
        </p:nvSpPr>
        <p:spPr>
          <a:xfrm>
            <a:off x="3105202" y="685560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Window with width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i="1" dirty="0">
                <a:solidFill>
                  <a:schemeClr val="accent5"/>
                </a:solidFill>
              </a:rPr>
              <a:t>w = 4 at n =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0B1BA-8E91-A0BE-BB85-A74E2CEC4C0D}"/>
              </a:ext>
            </a:extLst>
          </p:cNvPr>
          <p:cNvSpPr txBox="1"/>
          <p:nvPr/>
        </p:nvSpPr>
        <p:spPr>
          <a:xfrm>
            <a:off x="1614276" y="1218351"/>
            <a:ext cx="63445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Index </a:t>
            </a:r>
            <a:r>
              <a:rPr lang="en-US" i="1" dirty="0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:	1,  2,  3,  4,  5,  6,  7,   8,   9, 10, 11, 12, 13, 14, 15, …</a:t>
            </a:r>
          </a:p>
          <a:p>
            <a:r>
              <a:rPr lang="en-US" dirty="0">
                <a:solidFill>
                  <a:schemeClr val="tx1"/>
                </a:solidFill>
              </a:rPr>
              <a:t>Time </a:t>
            </a:r>
            <a:r>
              <a:rPr lang="en-US" i="1" dirty="0">
                <a:solidFill>
                  <a:schemeClr val="tx1"/>
                </a:solidFill>
              </a:rPr>
              <a:t>t</a:t>
            </a:r>
            <a:r>
              <a:rPr lang="en-US" dirty="0">
                <a:solidFill>
                  <a:schemeClr val="tx1"/>
                </a:solidFill>
              </a:rPr>
              <a:t>:	0,  1,  2,  3,  4,  5,  6,   7,   8,   9, 10, 11, 12, 13, 14, … </a:t>
            </a:r>
          </a:p>
          <a:p>
            <a:r>
              <a:rPr lang="en-US" dirty="0">
                <a:solidFill>
                  <a:schemeClr val="tx1"/>
                </a:solidFill>
              </a:rPr>
              <a:t>Signal 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:	3,  5,  6,  7,  2,  5,  9, 32, 42, 12, 24, 33, 46, 86, 11, …</a:t>
            </a:r>
          </a:p>
        </p:txBody>
      </p:sp>
    </p:spTree>
    <p:extLst>
      <p:ext uri="{BB962C8B-B14F-4D97-AF65-F5344CB8AC3E}">
        <p14:creationId xmlns:p14="http://schemas.microsoft.com/office/powerpoint/2010/main" val="3337510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BCF5-3846-9E1F-31F4-A226F052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CD3FD6-0150-1687-A0FB-B9AC0FE63758}"/>
              </a:ext>
            </a:extLst>
          </p:cNvPr>
          <p:cNvSpPr/>
          <p:nvPr/>
        </p:nvSpPr>
        <p:spPr>
          <a:xfrm>
            <a:off x="3297834" y="993501"/>
            <a:ext cx="1274166" cy="36057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78393-4540-ECFB-222B-553EB5A69E2B}"/>
              </a:ext>
            </a:extLst>
          </p:cNvPr>
          <p:cNvSpPr txBox="1"/>
          <p:nvPr/>
        </p:nvSpPr>
        <p:spPr>
          <a:xfrm>
            <a:off x="2641166" y="-8969"/>
            <a:ext cx="55279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Smoothing using a moving average of different widths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9617C8F-EF2D-A1E1-AE8E-B4A342D3EEEC}"/>
              </a:ext>
            </a:extLst>
          </p:cNvPr>
          <p:cNvSpPr txBox="1">
            <a:spLocks/>
          </p:cNvSpPr>
          <p:nvPr/>
        </p:nvSpPr>
        <p:spPr>
          <a:xfrm>
            <a:off x="246202" y="1103966"/>
            <a:ext cx="9080678" cy="94991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76F3D-3E3E-9A7F-CA30-002ABE20E895}"/>
              </a:ext>
            </a:extLst>
          </p:cNvPr>
          <p:cNvSpPr txBox="1"/>
          <p:nvPr/>
        </p:nvSpPr>
        <p:spPr>
          <a:xfrm>
            <a:off x="4052784" y="4726953"/>
            <a:ext cx="3877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Mathematica: </a:t>
            </a:r>
            <a:r>
              <a:rPr lang="en-US" dirty="0" err="1">
                <a:solidFill>
                  <a:schemeClr val="accent6"/>
                </a:solidFill>
              </a:rPr>
              <a:t>MovingAverage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MeanFilter</a:t>
            </a:r>
            <a:r>
              <a:rPr lang="en-US" dirty="0">
                <a:solidFill>
                  <a:schemeClr val="accent6"/>
                </a:solidFill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C96D7-71E7-9D53-D4D1-B09479761F9E}"/>
              </a:ext>
            </a:extLst>
          </p:cNvPr>
          <p:cNvSpPr txBox="1"/>
          <p:nvPr/>
        </p:nvSpPr>
        <p:spPr>
          <a:xfrm>
            <a:off x="1614276" y="1023481"/>
            <a:ext cx="6344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Signal </a:t>
            </a:r>
            <a:r>
              <a:rPr lang="en-US" i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:	3,  5,  6,  7,  2,  5,  9, 32, 42, 12, 24, 33, 46, 86, 11,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E21DA-6833-7302-F293-5197C09823C5}"/>
              </a:ext>
            </a:extLst>
          </p:cNvPr>
          <p:cNvSpPr txBox="1"/>
          <p:nvPr/>
        </p:nvSpPr>
        <p:spPr>
          <a:xfrm>
            <a:off x="3523586" y="1339464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Window</a:t>
            </a:r>
            <a:endParaRPr lang="en-US" i="1" dirty="0">
              <a:solidFill>
                <a:schemeClr val="accent5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9AC28F-60EA-980B-E159-34A47EC06849}"/>
              </a:ext>
            </a:extLst>
          </p:cNvPr>
          <p:cNvCxnSpPr>
            <a:stCxn id="4" idx="3"/>
          </p:cNvCxnSpPr>
          <p:nvPr/>
        </p:nvCxnSpPr>
        <p:spPr>
          <a:xfrm flipV="1">
            <a:off x="4346247" y="1493352"/>
            <a:ext cx="647562" cy="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ADAA98-1A23-9707-90C4-FEBFC0C92D36}"/>
                  </a:ext>
                </a:extLst>
              </p:cNvPr>
              <p:cNvSpPr txBox="1"/>
              <p:nvPr/>
            </p:nvSpPr>
            <p:spPr>
              <a:xfrm>
                <a:off x="5816470" y="817799"/>
                <a:ext cx="4661940" cy="691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GB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sSub>
                            <m:sSubPr>
                              <m:ctrlPr>
                                <a:rPr lang="en-GB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ADAA98-1A23-9707-90C4-FEBFC0C92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470" y="817799"/>
                <a:ext cx="4661940" cy="691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6B84AC4-50A1-1F8E-17F5-73534E5FB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61" y="1635758"/>
            <a:ext cx="7772400" cy="302459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817999-D9C5-3E90-4300-87EEB07AAE63}"/>
              </a:ext>
            </a:extLst>
          </p:cNvPr>
          <p:cNvSpPr txBox="1"/>
          <p:nvPr/>
        </p:nvSpPr>
        <p:spPr>
          <a:xfrm>
            <a:off x="904497" y="274525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140545-4318-F0EA-BF54-34C9AD24B834}"/>
              </a:ext>
            </a:extLst>
          </p:cNvPr>
          <p:cNvSpPr txBox="1"/>
          <p:nvPr/>
        </p:nvSpPr>
        <p:spPr>
          <a:xfrm>
            <a:off x="3744047" y="2742856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AC4777-A2EC-CF9B-FAE7-A8F0DE419A8F}"/>
              </a:ext>
            </a:extLst>
          </p:cNvPr>
          <p:cNvSpPr txBox="1"/>
          <p:nvPr/>
        </p:nvSpPr>
        <p:spPr>
          <a:xfrm>
            <a:off x="6453603" y="2743647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C09F81-5D73-2BF0-863D-313F237749DF}"/>
              </a:ext>
            </a:extLst>
          </p:cNvPr>
          <p:cNvSpPr txBox="1"/>
          <p:nvPr/>
        </p:nvSpPr>
        <p:spPr>
          <a:xfrm>
            <a:off x="1016706" y="4278002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F3F6BC-F21A-AE34-32D6-44C6D9DD1450}"/>
              </a:ext>
            </a:extLst>
          </p:cNvPr>
          <p:cNvSpPr txBox="1"/>
          <p:nvPr/>
        </p:nvSpPr>
        <p:spPr>
          <a:xfrm>
            <a:off x="3644660" y="4278002"/>
            <a:ext cx="816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200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D2AEEB-23C9-DA66-2C5A-57F8C8C805D3}"/>
              </a:ext>
            </a:extLst>
          </p:cNvPr>
          <p:cNvSpPr txBox="1"/>
          <p:nvPr/>
        </p:nvSpPr>
        <p:spPr>
          <a:xfrm>
            <a:off x="7373728" y="4278002"/>
            <a:ext cx="915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</a:t>
            </a:r>
            <a:r>
              <a:rPr lang="en-US" dirty="0"/>
              <a:t> = 1000</a:t>
            </a:r>
          </a:p>
        </p:txBody>
      </p:sp>
    </p:spTree>
    <p:extLst>
      <p:ext uri="{BB962C8B-B14F-4D97-AF65-F5344CB8AC3E}">
        <p14:creationId xmlns:p14="http://schemas.microsoft.com/office/powerpoint/2010/main" val="101108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4949-5183-5D10-6D0B-C2438F78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60D5E3B-2612-557B-E58C-AC6A1B26A3DE}"/>
              </a:ext>
            </a:extLst>
          </p:cNvPr>
          <p:cNvSpPr txBox="1"/>
          <p:nvPr/>
        </p:nvSpPr>
        <p:spPr>
          <a:xfrm>
            <a:off x="1990159" y="135085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Choice of smoothing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B3716-BFA1-7DCB-8B1E-78796387CEE5}"/>
              </a:ext>
            </a:extLst>
          </p:cNvPr>
          <p:cNvSpPr txBox="1">
            <a:spLocks/>
          </p:cNvSpPr>
          <p:nvPr/>
        </p:nvSpPr>
        <p:spPr>
          <a:xfrm>
            <a:off x="63322" y="1261055"/>
            <a:ext cx="9080678" cy="36204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MeanFilter</a:t>
            </a:r>
            <a:r>
              <a:rPr lang="en-US" sz="1600" dirty="0">
                <a:solidFill>
                  <a:schemeClr val="tx1"/>
                </a:solidFill>
              </a:rPr>
              <a:t>	Replace data in window with mean value (moving average)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Choose width depending on which frequencies you want to remove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MedianFilter</a:t>
            </a:r>
            <a:r>
              <a:rPr lang="en-US" sz="1600" dirty="0">
                <a:solidFill>
                  <a:schemeClr val="tx1"/>
                </a:solidFill>
              </a:rPr>
              <a:t>	Replace data in window with median value</a:t>
            </a:r>
          </a:p>
          <a:p>
            <a:pPr>
              <a:buClrTx/>
            </a:pPr>
            <a:r>
              <a:rPr lang="en-US" sz="1600" dirty="0">
                <a:solidFill>
                  <a:schemeClr val="tx1"/>
                </a:solidFill>
              </a:rPr>
              <a:t>		Good where there are large outliers that would skew a mean filter</a:t>
            </a:r>
          </a:p>
          <a:p>
            <a:pPr>
              <a:buClrTx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MinFilter</a:t>
            </a:r>
            <a:r>
              <a:rPr lang="en-US" sz="1600" dirty="0">
                <a:solidFill>
                  <a:schemeClr val="tx1"/>
                </a:solidFill>
              </a:rPr>
              <a:t>	Replace data in window with minimum value</a:t>
            </a:r>
          </a:p>
          <a:p>
            <a:pPr>
              <a:buClrTx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600" dirty="0" err="1">
                <a:solidFill>
                  <a:schemeClr val="accent6"/>
                </a:solidFill>
              </a:rPr>
              <a:t>MaxFilter</a:t>
            </a:r>
            <a:r>
              <a:rPr lang="en-US" sz="1600" dirty="0">
                <a:solidFill>
                  <a:schemeClr val="tx1"/>
                </a:solidFill>
              </a:rPr>
              <a:t>	Replace data in window with maximum value</a:t>
            </a:r>
          </a:p>
        </p:txBody>
      </p:sp>
    </p:spTree>
    <p:extLst>
      <p:ext uri="{BB962C8B-B14F-4D97-AF65-F5344CB8AC3E}">
        <p14:creationId xmlns:p14="http://schemas.microsoft.com/office/powerpoint/2010/main" val="209925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9558-9DF2-F655-BB07-B72D9AFA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68E97-63D1-EE39-12EE-17625B74B2DB}"/>
              </a:ext>
            </a:extLst>
          </p:cNvPr>
          <p:cNvSpPr txBox="1">
            <a:spLocks/>
          </p:cNvSpPr>
          <p:nvPr/>
        </p:nvSpPr>
        <p:spPr>
          <a:xfrm>
            <a:off x="63322" y="714487"/>
            <a:ext cx="9080678" cy="36204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</a:pPr>
            <a:r>
              <a:rPr lang="en-US" dirty="0" err="1">
                <a:solidFill>
                  <a:schemeClr val="accent6"/>
                </a:solidFill>
              </a:rPr>
              <a:t>GaussianFilter</a:t>
            </a:r>
            <a:r>
              <a:rPr lang="en-US" dirty="0">
                <a:solidFill>
                  <a:schemeClr val="tx1"/>
                </a:solidFill>
              </a:rPr>
              <a:t>	Replace data in window with a </a:t>
            </a:r>
            <a:r>
              <a:rPr lang="en-US" dirty="0">
                <a:solidFill>
                  <a:schemeClr val="accent5"/>
                </a:solidFill>
              </a:rPr>
              <a:t>weighted average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Weighting function is a Gaussian centered on the middle of the window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(Compare with a step function for the mean filter)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Width is the standard deviation of the Gaussian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C5E79-434B-FF65-8CB6-AF48647AE113}"/>
              </a:ext>
            </a:extLst>
          </p:cNvPr>
          <p:cNvSpPr txBox="1"/>
          <p:nvPr/>
        </p:nvSpPr>
        <p:spPr>
          <a:xfrm>
            <a:off x="241834" y="1701675"/>
            <a:ext cx="4744386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Compare with </a:t>
            </a:r>
            <a:r>
              <a:rPr lang="en-US" dirty="0" err="1">
                <a:solidFill>
                  <a:schemeClr val="accent6"/>
                </a:solidFill>
              </a:rPr>
              <a:t>MeanFilter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buClrTx/>
            </a:pPr>
            <a:endParaRPr lang="en-US" sz="800" dirty="0">
              <a:solidFill>
                <a:schemeClr val="tx1"/>
              </a:solidFill>
            </a:endParaRP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More weight at middle of window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Individual points do not suddenly enter and leave the window	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Individual points exert an influence over a larger range of smoothed points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Smoothing is “gentler”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Preserves sharp changes better</a:t>
            </a:r>
          </a:p>
          <a:p>
            <a:pPr marL="508000" indent="-342900">
              <a:buClrTx/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Includes whole time series in each sum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C0158-8962-0C0F-A1D5-2D472F1912D3}"/>
              </a:ext>
            </a:extLst>
          </p:cNvPr>
          <p:cNvSpPr txBox="1"/>
          <p:nvPr/>
        </p:nvSpPr>
        <p:spPr>
          <a:xfrm>
            <a:off x="241834" y="3861952"/>
            <a:ext cx="97127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 err="1">
                <a:solidFill>
                  <a:schemeClr val="accent6"/>
                </a:solidFill>
              </a:rPr>
              <a:t>GradientFilter</a:t>
            </a:r>
            <a:r>
              <a:rPr lang="en-US" dirty="0">
                <a:solidFill>
                  <a:schemeClr val="tx1"/>
                </a:solidFill>
              </a:rPr>
              <a:t>	Replace data with an approximation of the gradient of the time series at each point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Mathematica </a:t>
            </a:r>
            <a:r>
              <a:rPr lang="en-US" dirty="0" err="1">
                <a:solidFill>
                  <a:schemeClr val="tx1"/>
                </a:solidFill>
              </a:rPr>
              <a:t>smoothes</a:t>
            </a:r>
            <a:r>
              <a:rPr lang="en-US" dirty="0">
                <a:solidFill>
                  <a:schemeClr val="tx1"/>
                </a:solidFill>
              </a:rPr>
              <a:t> using the </a:t>
            </a:r>
            <a:r>
              <a:rPr lang="en-US" dirty="0">
                <a:solidFill>
                  <a:schemeClr val="accent5"/>
                </a:solidFill>
              </a:rPr>
              <a:t>gradient of the Gaussian function </a:t>
            </a:r>
            <a:r>
              <a:rPr lang="en-US" dirty="0">
                <a:solidFill>
                  <a:schemeClr val="tx1"/>
                </a:solidFill>
              </a:rPr>
              <a:t>as the weights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Use when you want to find where the time series changes rapidly</a:t>
            </a:r>
          </a:p>
          <a:p>
            <a:pPr>
              <a:buClrTx/>
            </a:pPr>
            <a:r>
              <a:rPr lang="en-US" sz="1000" dirty="0">
                <a:solidFill>
                  <a:schemeClr val="accent6"/>
                </a:solidFill>
              </a:rPr>
              <a:t>		</a:t>
            </a:r>
          </a:p>
          <a:p>
            <a:pPr>
              <a:buClrTx/>
            </a:pPr>
            <a:r>
              <a:rPr lang="en-US" dirty="0">
                <a:solidFill>
                  <a:schemeClr val="accent6"/>
                </a:solidFill>
              </a:rPr>
              <a:t>			</a:t>
            </a:r>
            <a:r>
              <a:rPr lang="en-US" dirty="0" err="1">
                <a:solidFill>
                  <a:schemeClr val="accent6"/>
                </a:solidFill>
              </a:rPr>
              <a:t>LaplacianFilter</a:t>
            </a:r>
            <a:r>
              <a:rPr lang="en-US" dirty="0">
                <a:solidFill>
                  <a:schemeClr val="tx1"/>
                </a:solidFill>
              </a:rPr>
              <a:t>: 	Similar effect, replacing data with</a:t>
            </a:r>
          </a:p>
          <a:p>
            <a:pPr>
              <a:buClrTx/>
            </a:pPr>
            <a:r>
              <a:rPr lang="en-US" dirty="0">
                <a:solidFill>
                  <a:schemeClr val="tx1"/>
                </a:solidFill>
              </a:rPr>
              <a:t>					its approximate second derivative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7D8BAE-779C-BDD0-4F03-DE8F01B66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585" y="1652000"/>
            <a:ext cx="4349093" cy="21888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F55E09-B5EA-8588-2357-87BE0A4E809D}"/>
              </a:ext>
            </a:extLst>
          </p:cNvPr>
          <p:cNvSpPr txBox="1"/>
          <p:nvPr/>
        </p:nvSpPr>
        <p:spPr>
          <a:xfrm>
            <a:off x="1990159" y="135085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Choice of smoothing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6D931-C207-CC5D-6497-67B16026A639}"/>
              </a:ext>
            </a:extLst>
          </p:cNvPr>
          <p:cNvSpPr txBox="1"/>
          <p:nvPr/>
        </p:nvSpPr>
        <p:spPr>
          <a:xfrm>
            <a:off x="-14288" y="4854526"/>
            <a:ext cx="240295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ClrTx/>
            </a:pPr>
            <a:r>
              <a:rPr lang="en-US" sz="1400">
                <a:solidFill>
                  <a:schemeClr val="accent6"/>
                </a:solidFill>
              </a:rPr>
              <a:t>Example: smoothing.nb</a:t>
            </a:r>
          </a:p>
        </p:txBody>
      </p:sp>
    </p:spTree>
    <p:extLst>
      <p:ext uri="{BB962C8B-B14F-4D97-AF65-F5344CB8AC3E}">
        <p14:creationId xmlns:p14="http://schemas.microsoft.com/office/powerpoint/2010/main" val="357536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F111-9B52-FC94-D68F-62BC2DBFF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5CFCBF3-5CCA-580B-BE3B-347635898B97}"/>
              </a:ext>
            </a:extLst>
          </p:cNvPr>
          <p:cNvSpPr txBox="1"/>
          <p:nvPr/>
        </p:nvSpPr>
        <p:spPr>
          <a:xfrm>
            <a:off x="1845780" y="119043"/>
            <a:ext cx="697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Cross-correlation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A9328-8E54-431E-65E5-8D3CA81C23CB}"/>
              </a:ext>
            </a:extLst>
          </p:cNvPr>
          <p:cNvSpPr txBox="1"/>
          <p:nvPr/>
        </p:nvSpPr>
        <p:spPr>
          <a:xfrm>
            <a:off x="104974" y="586591"/>
            <a:ext cx="382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Aside, for general interest:</a:t>
            </a:r>
          </a:p>
          <a:p>
            <a:endParaRPr lang="en-US" dirty="0"/>
          </a:p>
          <a:p>
            <a:r>
              <a:rPr lang="en-US" dirty="0" err="1"/>
              <a:t>Lotka</a:t>
            </a:r>
            <a:r>
              <a:rPr lang="en-US" dirty="0"/>
              <a:t>-Volterra predator-prey model compared with hare-lynx data used in Example 5.</a:t>
            </a:r>
          </a:p>
          <a:p>
            <a:endParaRPr lang="en-US" dirty="0"/>
          </a:p>
          <a:p>
            <a:r>
              <a:rPr lang="en-US" dirty="0"/>
              <a:t>This is a nonlinear model of the interaction between two populations – one predator population, one prey population.</a:t>
            </a:r>
          </a:p>
          <a:p>
            <a:endParaRPr lang="en-US" dirty="0"/>
          </a:p>
          <a:p>
            <a:r>
              <a:rPr lang="en-US" dirty="0"/>
              <a:t>Possible outcomes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populations die out</a:t>
            </a:r>
            <a:br>
              <a:rPr lang="en-US" dirty="0"/>
            </a:br>
            <a:r>
              <a:rPr lang="en-US" dirty="0"/>
              <a:t>(will occur if all prey die)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Prey population stabilizes</a:t>
            </a:r>
            <a:br>
              <a:rPr lang="en-US" dirty="0"/>
            </a:br>
            <a:r>
              <a:rPr lang="en-US" dirty="0"/>
              <a:t>(will occur if all predators die)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Cycle between predator and prey</a:t>
            </a:r>
            <a:br>
              <a:rPr lang="en-US" dirty="0"/>
            </a:br>
            <a:r>
              <a:rPr lang="en-US" dirty="0"/>
              <a:t>(when natural predator death rate is low)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Equilibrium between predator and prey</a:t>
            </a:r>
            <a:br>
              <a:rPr lang="en-US" dirty="0"/>
            </a:br>
            <a:r>
              <a:rPr lang="en-US" dirty="0"/>
              <a:t>(when natural predator death rate is high)</a:t>
            </a:r>
          </a:p>
        </p:txBody>
      </p:sp>
      <p:pic>
        <p:nvPicPr>
          <p:cNvPr id="4" name="Picture 3" descr="A diagram of a number of hares&#10;&#10;AI-generated content may be incorrect.">
            <a:extLst>
              <a:ext uri="{FF2B5EF4-FFF2-40B4-BE49-F238E27FC236}">
                <a16:creationId xmlns:a16="http://schemas.microsoft.com/office/drawing/2014/main" id="{5E190776-07C2-C1A3-EDEE-90B22FB01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148" y="683757"/>
            <a:ext cx="5108878" cy="383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408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t Natives - Slide Template 2022">
  <a:themeElements>
    <a:clrScheme name="UoA NB">
      <a:dk1>
        <a:srgbClr val="00354B"/>
      </a:dk1>
      <a:lt1>
        <a:sysClr val="window" lastClr="FFFFFF"/>
      </a:lt1>
      <a:dk2>
        <a:srgbClr val="00354B"/>
      </a:dk2>
      <a:lt2>
        <a:srgbClr val="E7E6E6"/>
      </a:lt2>
      <a:accent1>
        <a:srgbClr val="00354B"/>
      </a:accent1>
      <a:accent2>
        <a:srgbClr val="00A092"/>
      </a:accent2>
      <a:accent3>
        <a:srgbClr val="2A5CAA"/>
      </a:accent3>
      <a:accent4>
        <a:srgbClr val="A01A59"/>
      </a:accent4>
      <a:accent5>
        <a:srgbClr val="E73331"/>
      </a:accent5>
      <a:accent6>
        <a:srgbClr val="462E8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F9979B35931449F7D5B555FF11DBF" ma:contentTypeVersion="15" ma:contentTypeDescription="Create a new document." ma:contentTypeScope="" ma:versionID="40028b60f78d3b1e1027daf11f117501">
  <xsd:schema xmlns:xsd="http://www.w3.org/2001/XMLSchema" xmlns:xs="http://www.w3.org/2001/XMLSchema" xmlns:p="http://schemas.microsoft.com/office/2006/metadata/properties" xmlns:ns3="afda85e8-169f-4de6-ab20-dcb4d9f52f1d" xmlns:ns4="8b1dd782-ccf7-4009-b7ca-c017af54b4e8" targetNamespace="http://schemas.microsoft.com/office/2006/metadata/properties" ma:root="true" ma:fieldsID="2814960e859bcb58c5184922c838c881" ns3:_="" ns4:_="">
    <xsd:import namespace="afda85e8-169f-4de6-ab20-dcb4d9f52f1d"/>
    <xsd:import namespace="8b1dd782-ccf7-4009-b7ca-c017af54b4e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da85e8-169f-4de6-ab20-dcb4d9f52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dd782-ccf7-4009-b7ca-c017af54b4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b1dd782-ccf7-4009-b7ca-c017af54b4e8" xsi:nil="true"/>
  </documentManagement>
</p:properties>
</file>

<file path=customXml/itemProps1.xml><?xml version="1.0" encoding="utf-8"?>
<ds:datastoreItem xmlns:ds="http://schemas.openxmlformats.org/officeDocument/2006/customXml" ds:itemID="{42F9613A-C801-49EA-A7FA-513B2D0914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da85e8-169f-4de6-ab20-dcb4d9f52f1d"/>
    <ds:schemaRef ds:uri="8b1dd782-ccf7-4009-b7ca-c017af54b4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7700E5-9302-469D-A5F8-2104E8F64D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15FE96-BD7D-43F9-B325-35CBEA89D188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8b1dd782-ccf7-4009-b7ca-c017af54b4e8"/>
    <ds:schemaRef ds:uri="afda85e8-169f-4de6-ab20-dcb4d9f52f1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18995</TotalTime>
  <Words>3531</Words>
  <Application>Microsoft Office PowerPoint</Application>
  <PresentationFormat>On-screen Show (16:9)</PresentationFormat>
  <Paragraphs>461</Paragraphs>
  <Slides>18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Custom Design</vt:lpstr>
      <vt:lpstr>Net Natives - Slide Template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Lee, Craig</dc:creator>
  <cp:lastModifiedBy>Young, Roland</cp:lastModifiedBy>
  <cp:revision>593</cp:revision>
  <dcterms:modified xsi:type="dcterms:W3CDTF">2026-02-23T11:00:10Z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0x010100CD4F9979B35931449F7D5B555FF11DBF</vt:lpwstr>
  </property>
</Properties>
</file>