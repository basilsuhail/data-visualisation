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86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5058" y="285750"/>
            <a:ext cx="661385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to Wolfram/Mathematica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657350" y="1139428"/>
            <a:ext cx="19219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 Mathematica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657350" y="1139428"/>
            <a:ext cx="2680106" cy="126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 a powerful computational software system used for mathematical computing, data analysis, visualization, and programming.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657350" y="2539603"/>
            <a:ext cx="15533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a student at the 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657350" y="2539603"/>
            <a:ext cx="2651168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 of Aberdeen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57350" y="2796778"/>
            <a:ext cx="2785421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you have free access to Wolfram products through the university license.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57350" y="3671888"/>
            <a:ext cx="28003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guide will walk you through the complete process of obtaining, installing, and activating your Wolfram/Mathematica license.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657350" y="4825603"/>
            <a:ext cx="24910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latest version is now called 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57350" y="5082778"/>
            <a:ext cx="73349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57350" y="5082778"/>
            <a:ext cx="2675865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(formerly Mathematica) for versions 14.1 and higher.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796136"/>
            <a:ext cx="2857500" cy="11228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35743" y="5672138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07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 Eligibility &amp; Overview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535781" y="1000125"/>
            <a:ext cx="39219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is eligible?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35781" y="1257300"/>
            <a:ext cx="39219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enrolled students in the course at the University of Aberdeen.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35781" y="1793081"/>
            <a:ext cx="39219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 includes: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707231" y="2050256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version of Wolfram/Mathematica software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707231" y="2264569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to Wolfram Language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707231" y="2478881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and learning resources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35781" y="2800350"/>
            <a:ext cx="39219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 duration: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35781" y="3066455"/>
            <a:ext cx="4692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Initial: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1005008" y="3066455"/>
            <a:ext cx="19509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Two-week temporary license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535781" y="3280767"/>
            <a:ext cx="11624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validation: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1698231" y="3280767"/>
            <a:ext cx="21615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Extended for the academic year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535781" y="3593306"/>
            <a:ext cx="39219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Number of installations: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535781" y="3859411"/>
            <a:ext cx="4046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 to 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940408" y="3859411"/>
            <a:ext cx="8752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licenses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1815685" y="3859411"/>
            <a:ext cx="818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student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535781" y="4064794"/>
            <a:ext cx="39219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additional licenses, contact your instructor</a:t>
            </a:r>
            <a:endParaRPr lang="en-US" sz="1046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000125"/>
            <a:ext cx="3214688" cy="40405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935743" y="5126422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378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Accessing the Activation Key Request Form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00050" y="1000125"/>
            <a:ext cx="4057650" cy="11858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00125"/>
            <a:ext cx="28575" cy="118586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Shape 3"/>
          <p:cNvSpPr/>
          <p:nvPr/>
        </p:nvSpPr>
        <p:spPr>
          <a:xfrm>
            <a:off x="507206" y="1107281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" name="Text 4"/>
          <p:cNvSpPr/>
          <p:nvPr/>
        </p:nvSpPr>
        <p:spPr>
          <a:xfrm>
            <a:off x="507206" y="110728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792956" y="1114425"/>
            <a:ext cx="9277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the Link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07206" y="1378744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link to the Wolfram Activation Key Request Form is provided in your course materials.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07206" y="1873448"/>
            <a:ext cx="6312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 for: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1138451" y="1873448"/>
            <a:ext cx="243459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"Wolfram Activation Key Request"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400050" y="2293144"/>
            <a:ext cx="405765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00050" y="2293144"/>
            <a:ext cx="28575" cy="914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206" y="2400300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507206" y="24003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792956" y="2407444"/>
            <a:ext cx="11585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the Form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507206" y="2671763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on the link to open the Wolfram Activation Key Request Form in your web browser.</a:t>
            </a:r>
            <a:endParaRPr lang="en-US" sz="1046" dirty="0"/>
          </a:p>
        </p:txBody>
      </p:sp>
      <p:sp>
        <p:nvSpPr>
          <p:cNvPr id="18" name="Shape 15"/>
          <p:cNvSpPr/>
          <p:nvPr/>
        </p:nvSpPr>
        <p:spPr>
          <a:xfrm>
            <a:off x="400050" y="3314700"/>
            <a:ext cx="405765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00050" y="3314700"/>
            <a:ext cx="28575" cy="914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0" name="Shape 17"/>
          <p:cNvSpPr/>
          <p:nvPr/>
        </p:nvSpPr>
        <p:spPr>
          <a:xfrm>
            <a:off x="507206" y="3421856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1" name="Text 18"/>
          <p:cNvSpPr/>
          <p:nvPr/>
        </p:nvSpPr>
        <p:spPr>
          <a:xfrm>
            <a:off x="507206" y="342185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792956" y="3429000"/>
            <a:ext cx="11320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 Note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507206" y="3702248"/>
            <a:ext cx="2856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792817" y="3702248"/>
            <a:ext cx="28185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must use your University email address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3611333" y="3702248"/>
            <a:ext cx="4066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when 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507206" y="3916561"/>
            <a:ext cx="32487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filling out this form to verify your student status.</a:t>
            </a:r>
            <a:endParaRPr lang="en-US" sz="1046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000125"/>
            <a:ext cx="3214688" cy="44376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935743" y="5523542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29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Completing the Activation Key Request Form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00050" y="1000125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Fill out all required fields (marked with *) in the form: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00050" y="1328738"/>
            <a:ext cx="4057650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3"/>
          <p:cNvSpPr/>
          <p:nvPr/>
        </p:nvSpPr>
        <p:spPr>
          <a:xfrm>
            <a:off x="400050" y="1328738"/>
            <a:ext cx="28575" cy="38576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7" name="Text 4"/>
          <p:cNvSpPr/>
          <p:nvPr/>
        </p:nvSpPr>
        <p:spPr>
          <a:xfrm>
            <a:off x="485775" y="1414463"/>
            <a:ext cx="9028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Name*: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1388622" y="1423392"/>
            <a:ext cx="1485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Your first/given name </a:t>
            </a:r>
            <a:endParaRPr lang="en-US" sz="1046" dirty="0"/>
          </a:p>
        </p:txBody>
      </p:sp>
      <p:sp>
        <p:nvSpPr>
          <p:cNvPr id="9" name="Shape 6"/>
          <p:cNvSpPr/>
          <p:nvPr/>
        </p:nvSpPr>
        <p:spPr>
          <a:xfrm>
            <a:off x="400050" y="1800225"/>
            <a:ext cx="4057650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1800225"/>
            <a:ext cx="28575" cy="38576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8"/>
          <p:cNvSpPr/>
          <p:nvPr/>
        </p:nvSpPr>
        <p:spPr>
          <a:xfrm>
            <a:off x="485775" y="1885950"/>
            <a:ext cx="8829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 Name*: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1368754" y="1894880"/>
            <a:ext cx="18625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Your surname/family name 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400050" y="2271713"/>
            <a:ext cx="4057650" cy="6000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00050" y="2271713"/>
            <a:ext cx="28575" cy="6000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485775" y="2357438"/>
            <a:ext cx="857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Email*: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1380195" y="2366367"/>
            <a:ext cx="21284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University email address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3508614" y="2366367"/>
            <a:ext cx="3633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(e.g., 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485775" y="2580680"/>
            <a:ext cx="14687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s01ab23@abdn.ac.uk) </a:t>
            </a:r>
            <a:endParaRPr lang="en-US" sz="1046" dirty="0"/>
          </a:p>
        </p:txBody>
      </p:sp>
      <p:sp>
        <p:nvSpPr>
          <p:cNvPr id="19" name="Shape 16"/>
          <p:cNvSpPr/>
          <p:nvPr/>
        </p:nvSpPr>
        <p:spPr>
          <a:xfrm>
            <a:off x="400050" y="2957513"/>
            <a:ext cx="4057650" cy="6000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7"/>
          <p:cNvSpPr/>
          <p:nvPr/>
        </p:nvSpPr>
        <p:spPr>
          <a:xfrm>
            <a:off x="400050" y="2957513"/>
            <a:ext cx="28575" cy="6000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" y="3043238"/>
            <a:ext cx="9929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Department*: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1478756" y="3052167"/>
            <a:ext cx="22358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your department from the 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485775" y="3266480"/>
            <a:ext cx="11183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dropdown menu </a:t>
            </a:r>
            <a:endParaRPr lang="en-US" sz="1046" dirty="0"/>
          </a:p>
        </p:txBody>
      </p:sp>
      <p:sp>
        <p:nvSpPr>
          <p:cNvPr id="24" name="Shape 21"/>
          <p:cNvSpPr/>
          <p:nvPr/>
        </p:nvSpPr>
        <p:spPr>
          <a:xfrm>
            <a:off x="400050" y="3643313"/>
            <a:ext cx="4057650" cy="6000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400050" y="3643313"/>
            <a:ext cx="28575" cy="6000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" y="3729038"/>
            <a:ext cx="857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Product*: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1343025" y="3737967"/>
            <a:ext cx="29142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"Mathematica for Students for Sites (Single 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485775" y="3952280"/>
            <a:ext cx="6735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Machine)" </a:t>
            </a:r>
            <a:endParaRPr lang="en-US" sz="1046" dirty="0"/>
          </a:p>
        </p:txBody>
      </p:sp>
      <p:sp>
        <p:nvSpPr>
          <p:cNvPr id="29" name="Shape 26"/>
          <p:cNvSpPr/>
          <p:nvPr/>
        </p:nvSpPr>
        <p:spPr>
          <a:xfrm>
            <a:off x="400050" y="4329113"/>
            <a:ext cx="4057650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7"/>
          <p:cNvSpPr/>
          <p:nvPr/>
        </p:nvSpPr>
        <p:spPr>
          <a:xfrm>
            <a:off x="400050" y="4329113"/>
            <a:ext cx="28575" cy="38576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1" name="Text 28"/>
          <p:cNvSpPr/>
          <p:nvPr/>
        </p:nvSpPr>
        <p:spPr>
          <a:xfrm>
            <a:off x="485775" y="4414838"/>
            <a:ext cx="857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Version*:</a:t>
            </a:r>
            <a:endParaRPr lang="en-US" sz="1046" dirty="0"/>
          </a:p>
        </p:txBody>
      </p:sp>
      <p:sp>
        <p:nvSpPr>
          <p:cNvPr id="32" name="Text 29"/>
          <p:cNvSpPr/>
          <p:nvPr/>
        </p:nvSpPr>
        <p:spPr>
          <a:xfrm>
            <a:off x="1343025" y="4423767"/>
            <a:ext cx="22562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the latest version available </a:t>
            </a:r>
            <a:endParaRPr lang="en-US" sz="1046" dirty="0"/>
          </a:p>
        </p:txBody>
      </p:sp>
      <p:sp>
        <p:nvSpPr>
          <p:cNvPr id="33" name="Shape 30"/>
          <p:cNvSpPr/>
          <p:nvPr/>
        </p:nvSpPr>
        <p:spPr>
          <a:xfrm>
            <a:off x="400050" y="4800600"/>
            <a:ext cx="4057650" cy="6000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31"/>
          <p:cNvSpPr/>
          <p:nvPr/>
        </p:nvSpPr>
        <p:spPr>
          <a:xfrm>
            <a:off x="400050" y="4800600"/>
            <a:ext cx="28575" cy="6000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5" name="Text 32"/>
          <p:cNvSpPr/>
          <p:nvPr/>
        </p:nvSpPr>
        <p:spPr>
          <a:xfrm>
            <a:off x="485775" y="4886325"/>
            <a:ext cx="9288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Graduation*:</a:t>
            </a:r>
            <a:endParaRPr lang="en-US" sz="1046" dirty="0"/>
          </a:p>
        </p:txBody>
      </p:sp>
      <p:sp>
        <p:nvSpPr>
          <p:cNvPr id="36" name="Text 33"/>
          <p:cNvSpPr/>
          <p:nvPr/>
        </p:nvSpPr>
        <p:spPr>
          <a:xfrm>
            <a:off x="1414630" y="4895255"/>
            <a:ext cx="28312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your anticipated graduation month </a:t>
            </a:r>
            <a:endParaRPr lang="en-US" sz="1046" dirty="0"/>
          </a:p>
        </p:txBody>
      </p:sp>
      <p:sp>
        <p:nvSpPr>
          <p:cNvPr id="37" name="Text 34"/>
          <p:cNvSpPr/>
          <p:nvPr/>
        </p:nvSpPr>
        <p:spPr>
          <a:xfrm>
            <a:off x="485775" y="5109567"/>
            <a:ext cx="586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year </a:t>
            </a:r>
            <a:endParaRPr lang="en-US" sz="1046" dirty="0"/>
          </a:p>
        </p:txBody>
      </p:sp>
      <p:sp>
        <p:nvSpPr>
          <p:cNvPr id="38" name="Text 35"/>
          <p:cNvSpPr/>
          <p:nvPr/>
        </p:nvSpPr>
        <p:spPr>
          <a:xfrm>
            <a:off x="400050" y="5523905"/>
            <a:ext cx="23725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completing all fields, click the </a:t>
            </a:r>
            <a:endParaRPr lang="en-US" sz="1046" dirty="0"/>
          </a:p>
        </p:txBody>
      </p:sp>
      <p:sp>
        <p:nvSpPr>
          <p:cNvPr id="39" name="Text 36"/>
          <p:cNvSpPr/>
          <p:nvPr/>
        </p:nvSpPr>
        <p:spPr>
          <a:xfrm>
            <a:off x="2772640" y="5523905"/>
            <a:ext cx="5089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Submit</a:t>
            </a:r>
            <a:endParaRPr lang="en-US" sz="1046" dirty="0"/>
          </a:p>
        </p:txBody>
      </p:sp>
      <p:sp>
        <p:nvSpPr>
          <p:cNvPr id="40" name="Text 37"/>
          <p:cNvSpPr/>
          <p:nvPr/>
        </p:nvSpPr>
        <p:spPr>
          <a:xfrm>
            <a:off x="3281576" y="5523905"/>
            <a:ext cx="5295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button.</a:t>
            </a:r>
            <a:endParaRPr lang="en-US" sz="1046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000125"/>
            <a:ext cx="3214688" cy="2441767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935743" y="5815013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769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a Wolfram ID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342900" y="871538"/>
            <a:ext cx="4114800" cy="10001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871538"/>
            <a:ext cx="28575" cy="100012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957263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957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685800" y="957263"/>
            <a:ext cx="144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New Account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428625" y="1185863"/>
            <a:ext cx="3943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submitting the form, create a Wolfram ID if you don't have one.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428625" y="1587698"/>
            <a:ext cx="3460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774678" y="1587698"/>
            <a:ext cx="90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"Create one"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1682242" y="1587698"/>
            <a:ext cx="18101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when prompted to sign in.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342900" y="1957388"/>
            <a:ext cx="4114800" cy="8001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42900" y="1957388"/>
            <a:ext cx="28575" cy="8001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043113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20431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85800" y="2043113"/>
            <a:ext cx="12853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 Your Details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428625" y="2273498"/>
            <a:ext cx="6343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your 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1062996" y="2273498"/>
            <a:ext cx="17620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 email address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2825074" y="2273498"/>
            <a:ext cx="13614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 your Wolfram ID.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428625" y="2471738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a secure password and fill in required information.</a:t>
            </a:r>
            <a:endParaRPr lang="en-US" sz="1046" dirty="0"/>
          </a:p>
        </p:txBody>
      </p:sp>
      <p:sp>
        <p:nvSpPr>
          <p:cNvPr id="22" name="Shape 19"/>
          <p:cNvSpPr/>
          <p:nvPr/>
        </p:nvSpPr>
        <p:spPr>
          <a:xfrm>
            <a:off x="342900" y="2843213"/>
            <a:ext cx="4114800" cy="10001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0"/>
          <p:cNvSpPr/>
          <p:nvPr/>
        </p:nvSpPr>
        <p:spPr>
          <a:xfrm>
            <a:off x="342900" y="2843213"/>
            <a:ext cx="28575" cy="100012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2928938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5" name="Text 22"/>
          <p:cNvSpPr/>
          <p:nvPr/>
        </p:nvSpPr>
        <p:spPr>
          <a:xfrm>
            <a:off x="428625" y="29289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685800" y="2928938"/>
            <a:ext cx="12167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Verify Your Email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428625" y="3157538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your university email for a verification message.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428625" y="3357563"/>
            <a:ext cx="3943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the verification link or enter the code to complete setup.</a:t>
            </a:r>
            <a:endParaRPr lang="en-US" sz="1046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356" y="871538"/>
            <a:ext cx="3214688" cy="3276693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342900" y="4291106"/>
            <a:ext cx="8458200" cy="8001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31" name="Shape 27"/>
          <p:cNvSpPr/>
          <p:nvPr/>
        </p:nvSpPr>
        <p:spPr>
          <a:xfrm>
            <a:off x="342900" y="4291106"/>
            <a:ext cx="28575" cy="800100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412549"/>
            <a:ext cx="128588" cy="128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14363" y="4389332"/>
            <a:ext cx="10188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 Note</a:t>
            </a:r>
            <a:endParaRPr lang="en-US" sz="942" dirty="0"/>
          </a:p>
        </p:txBody>
      </p:sp>
      <p:sp>
        <p:nvSpPr>
          <p:cNvPr id="34" name="Text 29"/>
          <p:cNvSpPr/>
          <p:nvPr/>
        </p:nvSpPr>
        <p:spPr>
          <a:xfrm>
            <a:off x="428625" y="4607216"/>
            <a:ext cx="12864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Wolfram ID is </a:t>
            </a:r>
            <a:endParaRPr lang="en-US" sz="1046" dirty="0"/>
          </a:p>
        </p:txBody>
      </p:sp>
      <p:sp>
        <p:nvSpPr>
          <p:cNvPr id="35" name="Text 30"/>
          <p:cNvSpPr/>
          <p:nvPr/>
        </p:nvSpPr>
        <p:spPr>
          <a:xfrm>
            <a:off x="1715086" y="4607216"/>
            <a:ext cx="6269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separate</a:t>
            </a:r>
            <a:endParaRPr lang="en-US" sz="1046" dirty="0"/>
          </a:p>
        </p:txBody>
      </p:sp>
      <p:sp>
        <p:nvSpPr>
          <p:cNvPr id="36" name="Text 31"/>
          <p:cNvSpPr/>
          <p:nvPr/>
        </p:nvSpPr>
        <p:spPr>
          <a:xfrm>
            <a:off x="2342034" y="4607216"/>
            <a:ext cx="60107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your University credentials. Wolfram is an independent company and does not have </a:t>
            </a:r>
            <a:endParaRPr lang="en-US" sz="1046" dirty="0"/>
          </a:p>
        </p:txBody>
      </p:sp>
      <p:sp>
        <p:nvSpPr>
          <p:cNvPr id="37" name="Text 32"/>
          <p:cNvSpPr/>
          <p:nvPr/>
        </p:nvSpPr>
        <p:spPr>
          <a:xfrm>
            <a:off x="428625" y="4807241"/>
            <a:ext cx="289179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to your university login information.</a:t>
            </a:r>
            <a:endParaRPr lang="en-US" sz="1046" dirty="0"/>
          </a:p>
        </p:txBody>
      </p:sp>
      <p:sp>
        <p:nvSpPr>
          <p:cNvPr id="38" name="Text 33"/>
          <p:cNvSpPr/>
          <p:nvPr/>
        </p:nvSpPr>
        <p:spPr>
          <a:xfrm>
            <a:off x="8935743" y="5062631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07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Downloading the Installer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00050" y="1000125"/>
            <a:ext cx="4057650" cy="11858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00125"/>
            <a:ext cx="28575" cy="118586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Shape 3"/>
          <p:cNvSpPr/>
          <p:nvPr/>
        </p:nvSpPr>
        <p:spPr>
          <a:xfrm>
            <a:off x="507206" y="1107281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" name="Text 4"/>
          <p:cNvSpPr/>
          <p:nvPr/>
        </p:nvSpPr>
        <p:spPr>
          <a:xfrm>
            <a:off x="507206" y="110728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792956" y="1114425"/>
            <a:ext cx="16133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Download Page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07206" y="1378744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receiving your activation key by email, log in to your Wolfram Account or Wolfram User Portal.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07206" y="1873448"/>
            <a:ext cx="6603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to the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1167585" y="1873448"/>
            <a:ext cx="1394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Products &amp; Services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561760" y="1873448"/>
            <a:ext cx="2950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tab.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400050" y="2293144"/>
            <a:ext cx="4057650" cy="1400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00050" y="2293144"/>
            <a:ext cx="28575" cy="14001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Shape 12"/>
          <p:cNvSpPr/>
          <p:nvPr/>
        </p:nvSpPr>
        <p:spPr>
          <a:xfrm>
            <a:off x="507206" y="2400300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3"/>
          <p:cNvSpPr/>
          <p:nvPr/>
        </p:nvSpPr>
        <p:spPr>
          <a:xfrm>
            <a:off x="507206" y="24003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792956" y="2407444"/>
            <a:ext cx="13663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Your Version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507206" y="2671763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the correct version for your operating system: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678656" y="2943225"/>
            <a:ext cx="3671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Windows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678656" y="3157538"/>
            <a:ext cx="3671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macOS (Apple Silicon or Intel)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678656" y="3371850"/>
            <a:ext cx="3671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</a:t>
            </a:r>
            <a:endParaRPr lang="en-US" sz="1046" dirty="0"/>
          </a:p>
        </p:txBody>
      </p:sp>
      <p:sp>
        <p:nvSpPr>
          <p:cNvPr id="22" name="Shape 19"/>
          <p:cNvSpPr/>
          <p:nvPr/>
        </p:nvSpPr>
        <p:spPr>
          <a:xfrm>
            <a:off x="400050" y="3800475"/>
            <a:ext cx="4057650" cy="1400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0"/>
          <p:cNvSpPr/>
          <p:nvPr/>
        </p:nvSpPr>
        <p:spPr>
          <a:xfrm>
            <a:off x="400050" y="3800475"/>
            <a:ext cx="28575" cy="14001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4" name="Shape 21"/>
          <p:cNvSpPr/>
          <p:nvPr/>
        </p:nvSpPr>
        <p:spPr>
          <a:xfrm>
            <a:off x="507206" y="3907631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5" name="Text 22"/>
          <p:cNvSpPr/>
          <p:nvPr/>
        </p:nvSpPr>
        <p:spPr>
          <a:xfrm>
            <a:off x="507206" y="390763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792956" y="3914775"/>
            <a:ext cx="13943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Manager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507206" y="4188023"/>
            <a:ext cx="5482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the 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1055433" y="4188023"/>
            <a:ext cx="20426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 Download Manager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3098127" y="4188023"/>
            <a:ext cx="8665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the most </a:t>
            </a:r>
            <a:endParaRPr lang="en-US" sz="1046" dirty="0"/>
          </a:p>
        </p:txBody>
      </p:sp>
      <p:sp>
        <p:nvSpPr>
          <p:cNvPr id="30" name="Text 27"/>
          <p:cNvSpPr/>
          <p:nvPr/>
        </p:nvSpPr>
        <p:spPr>
          <a:xfrm>
            <a:off x="507206" y="4402336"/>
            <a:ext cx="20865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reliable installation experience.</a:t>
            </a:r>
            <a:endParaRPr lang="en-US" sz="1046" dirty="0"/>
          </a:p>
        </p:txBody>
      </p:sp>
      <p:sp>
        <p:nvSpPr>
          <p:cNvPr id="31" name="Text 28"/>
          <p:cNvSpPr/>
          <p:nvPr/>
        </p:nvSpPr>
        <p:spPr>
          <a:xfrm>
            <a:off x="507206" y="4664869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will download both the core product and documentation.</a:t>
            </a:r>
            <a:endParaRPr lang="en-US" sz="1046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000125"/>
            <a:ext cx="3214688" cy="19065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935743" y="5393531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364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Installing Wolfram/Mathematica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00050" y="1000125"/>
            <a:ext cx="4057650" cy="1614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00125"/>
            <a:ext cx="28575" cy="16144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Shape 3"/>
          <p:cNvSpPr/>
          <p:nvPr/>
        </p:nvSpPr>
        <p:spPr>
          <a:xfrm>
            <a:off x="507206" y="1107281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" name="Text 4"/>
          <p:cNvSpPr/>
          <p:nvPr/>
        </p:nvSpPr>
        <p:spPr>
          <a:xfrm>
            <a:off x="507206" y="110728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792956" y="1114425"/>
            <a:ext cx="12018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the Installer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07206" y="1378744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Double-click the downloaded installer file to begin the installation process.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07206" y="1873448"/>
            <a:ext cx="9424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Windows: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1449623" y="1873448"/>
            <a:ext cx="5505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.exe file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507206" y="2087761"/>
            <a:ext cx="6105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Mac: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1117718" y="2087761"/>
            <a:ext cx="6259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.dmg file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07206" y="2302073"/>
            <a:ext cx="12563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Linux: Run the 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1763530" y="2302073"/>
            <a:ext cx="6481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.sh script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2411630" y="2302073"/>
            <a:ext cx="7663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terminal</a:t>
            </a:r>
            <a:endParaRPr lang="en-US" sz="1046" dirty="0"/>
          </a:p>
        </p:txBody>
      </p:sp>
      <p:sp>
        <p:nvSpPr>
          <p:cNvPr id="17" name="Shape 14"/>
          <p:cNvSpPr/>
          <p:nvPr/>
        </p:nvSpPr>
        <p:spPr>
          <a:xfrm>
            <a:off x="400050" y="2721769"/>
            <a:ext cx="4057650" cy="1614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5"/>
          <p:cNvSpPr/>
          <p:nvPr/>
        </p:nvSpPr>
        <p:spPr>
          <a:xfrm>
            <a:off x="400050" y="2721769"/>
            <a:ext cx="28575" cy="16144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9" name="Shape 16"/>
          <p:cNvSpPr/>
          <p:nvPr/>
        </p:nvSpPr>
        <p:spPr>
          <a:xfrm>
            <a:off x="507206" y="2828925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7"/>
          <p:cNvSpPr/>
          <p:nvPr/>
        </p:nvSpPr>
        <p:spPr>
          <a:xfrm>
            <a:off x="507206" y="282892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792956" y="2836069"/>
            <a:ext cx="14303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 Options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507206" y="3100388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the on-screen prompts and select the recommended options: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678656" y="3586163"/>
            <a:ext cx="3671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Default installation location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678656" y="3800475"/>
            <a:ext cx="3671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Include wolframscript (recommended)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678656" y="4014788"/>
            <a:ext cx="3671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desktop shortcuts</a:t>
            </a:r>
            <a:endParaRPr lang="en-US" sz="1046" dirty="0"/>
          </a:p>
        </p:txBody>
      </p:sp>
      <p:sp>
        <p:nvSpPr>
          <p:cNvPr id="26" name="Shape 23"/>
          <p:cNvSpPr/>
          <p:nvPr/>
        </p:nvSpPr>
        <p:spPr>
          <a:xfrm>
            <a:off x="400050" y="4443413"/>
            <a:ext cx="4057650" cy="11858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4"/>
          <p:cNvSpPr/>
          <p:nvPr/>
        </p:nvSpPr>
        <p:spPr>
          <a:xfrm>
            <a:off x="400050" y="4443413"/>
            <a:ext cx="28575" cy="118586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8" name="Shape 25"/>
          <p:cNvSpPr/>
          <p:nvPr/>
        </p:nvSpPr>
        <p:spPr>
          <a:xfrm>
            <a:off x="507206" y="4550569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9" name="Text 26"/>
          <p:cNvSpPr/>
          <p:nvPr/>
        </p:nvSpPr>
        <p:spPr>
          <a:xfrm>
            <a:off x="507206" y="455056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30" name="Text 27"/>
          <p:cNvSpPr/>
          <p:nvPr/>
        </p:nvSpPr>
        <p:spPr>
          <a:xfrm>
            <a:off x="792956" y="4557713"/>
            <a:ext cx="15519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Installation</a:t>
            </a:r>
            <a:endParaRPr lang="en-US" sz="1046" dirty="0"/>
          </a:p>
        </p:txBody>
      </p:sp>
      <p:sp>
        <p:nvSpPr>
          <p:cNvPr id="31" name="Text 28"/>
          <p:cNvSpPr/>
          <p:nvPr/>
        </p:nvSpPr>
        <p:spPr>
          <a:xfrm>
            <a:off x="507206" y="4822031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"Install" to begin the installation process.</a:t>
            </a:r>
            <a:endParaRPr lang="en-US" sz="1046" dirty="0"/>
          </a:p>
        </p:txBody>
      </p:sp>
      <p:sp>
        <p:nvSpPr>
          <p:cNvPr id="32" name="Text 29"/>
          <p:cNvSpPr/>
          <p:nvPr/>
        </p:nvSpPr>
        <p:spPr>
          <a:xfrm>
            <a:off x="507206" y="5093494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installation is complete, click "Finish" to launch Wolfram/Mathematica.</a:t>
            </a:r>
            <a:endParaRPr lang="en-US" sz="1046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000125"/>
            <a:ext cx="3214688" cy="245848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935743" y="5822156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3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Activating Your License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00050" y="1000125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installation, you'll need to activate your Wolfram/Mathematica license. There are several methods available: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00050" y="1757363"/>
            <a:ext cx="4057650" cy="14358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3"/>
          <p:cNvSpPr/>
          <p:nvPr/>
        </p:nvSpPr>
        <p:spPr>
          <a:xfrm>
            <a:off x="400050" y="1757363"/>
            <a:ext cx="28575" cy="1435894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1905595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1519" y="1875234"/>
            <a:ext cx="26756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Online Activation through Sign In 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507206" y="2180630"/>
            <a:ext cx="16615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Recommended method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2168714" y="2180630"/>
            <a:ext cx="20434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Sign in with your Wolfram ID 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507206" y="2394942"/>
            <a:ext cx="9411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password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507206" y="2657475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university licenses, select the SSO (Single Sign-On) option if available</a:t>
            </a:r>
            <a:endParaRPr lang="en-US" sz="1046" dirty="0"/>
          </a:p>
        </p:txBody>
      </p:sp>
      <p:sp>
        <p:nvSpPr>
          <p:cNvPr id="13" name="Shape 9"/>
          <p:cNvSpPr/>
          <p:nvPr/>
        </p:nvSpPr>
        <p:spPr>
          <a:xfrm>
            <a:off x="400050" y="3300413"/>
            <a:ext cx="4057650" cy="9501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00050" y="3300413"/>
            <a:ext cx="28575" cy="950119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3448645"/>
            <a:ext cx="157163" cy="1571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1519" y="3418284"/>
            <a:ext cx="21276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Online Activation with Key </a:t>
            </a:r>
            <a:endParaRPr lang="en-US" sz="1238" dirty="0"/>
          </a:p>
        </p:txBody>
      </p:sp>
      <p:sp>
        <p:nvSpPr>
          <p:cNvPr id="17" name="Text 12"/>
          <p:cNvSpPr/>
          <p:nvPr/>
        </p:nvSpPr>
        <p:spPr>
          <a:xfrm>
            <a:off x="507206" y="3714750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 the activation key you received via email after submitting the request form</a:t>
            </a:r>
            <a:endParaRPr lang="en-US" sz="1046" dirty="0"/>
          </a:p>
        </p:txBody>
      </p:sp>
      <p:sp>
        <p:nvSpPr>
          <p:cNvPr id="18" name="Text 13"/>
          <p:cNvSpPr/>
          <p:nvPr/>
        </p:nvSpPr>
        <p:spPr>
          <a:xfrm>
            <a:off x="400050" y="4364831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activation, you'll need to accept the Wolfram License Agreement to complete the setup process.</a:t>
            </a:r>
            <a:endParaRPr lang="en-US" sz="1046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781" y="1000125"/>
            <a:ext cx="3214688" cy="23300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35743" y="4879181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83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Temporary License &amp; Validation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00050" y="1000125"/>
            <a:ext cx="4057650" cy="14358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00125"/>
            <a:ext cx="28575" cy="1435894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1146572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1519" y="1107281"/>
            <a:ext cx="1985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Initial Temporary License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507206" y="1423392"/>
            <a:ext cx="37620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completing the activation process, you will receive 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4269256" y="1423392"/>
            <a:ext cx="80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507206" y="1637705"/>
            <a:ext cx="20272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two-week temporary license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2534469" y="1637705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507206" y="1900238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allows you to begin using Wolfram/Mathematica immediately while your student status is being verified.</a:t>
            </a:r>
            <a:endParaRPr lang="en-US" sz="1046" dirty="0"/>
          </a:p>
        </p:txBody>
      </p:sp>
      <p:sp>
        <p:nvSpPr>
          <p:cNvPr id="13" name="Shape 9"/>
          <p:cNvSpPr/>
          <p:nvPr/>
        </p:nvSpPr>
        <p:spPr>
          <a:xfrm>
            <a:off x="400050" y="2543175"/>
            <a:ext cx="4057650" cy="12215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00050" y="2543175"/>
            <a:ext cx="28575" cy="1221581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2689622"/>
            <a:ext cx="196453" cy="1571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0809" y="2650331"/>
            <a:ext cx="16447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Instructor Validation </a:t>
            </a:r>
            <a:endParaRPr lang="en-US" sz="1238" dirty="0"/>
          </a:p>
        </p:txBody>
      </p:sp>
      <p:sp>
        <p:nvSpPr>
          <p:cNvPr id="17" name="Text 12"/>
          <p:cNvSpPr/>
          <p:nvPr/>
        </p:nvSpPr>
        <p:spPr>
          <a:xfrm>
            <a:off x="507206" y="2966442"/>
            <a:ext cx="32557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During the two-week period, your instructor will </a:t>
            </a:r>
            <a:endParaRPr lang="en-US" sz="1046" dirty="0"/>
          </a:p>
        </p:txBody>
      </p:sp>
      <p:sp>
        <p:nvSpPr>
          <p:cNvPr id="18" name="Text 13"/>
          <p:cNvSpPr/>
          <p:nvPr/>
        </p:nvSpPr>
        <p:spPr>
          <a:xfrm>
            <a:off x="507206" y="2966442"/>
            <a:ext cx="3815516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 your enrollment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1669377" y="3180755"/>
            <a:ext cx="9467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course.</a:t>
            </a:r>
            <a:endParaRPr lang="en-US" sz="1046" dirty="0"/>
          </a:p>
        </p:txBody>
      </p:sp>
      <p:sp>
        <p:nvSpPr>
          <p:cNvPr id="20" name="Text 15"/>
          <p:cNvSpPr/>
          <p:nvPr/>
        </p:nvSpPr>
        <p:spPr>
          <a:xfrm>
            <a:off x="507206" y="3443288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action is required on your part for this step.</a:t>
            </a:r>
            <a:endParaRPr lang="en-US" sz="1046" dirty="0"/>
          </a:p>
        </p:txBody>
      </p:sp>
      <p:sp>
        <p:nvSpPr>
          <p:cNvPr id="21" name="Shape 16"/>
          <p:cNvSpPr/>
          <p:nvPr/>
        </p:nvSpPr>
        <p:spPr>
          <a:xfrm>
            <a:off x="400050" y="3871913"/>
            <a:ext cx="4057650" cy="12215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17"/>
          <p:cNvSpPr/>
          <p:nvPr/>
        </p:nvSpPr>
        <p:spPr>
          <a:xfrm>
            <a:off x="400050" y="3871913"/>
            <a:ext cx="28575" cy="1221581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4018359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1519" y="3979069"/>
            <a:ext cx="15053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Permanent License </a:t>
            </a:r>
            <a:endParaRPr lang="en-US" sz="1238" dirty="0"/>
          </a:p>
        </p:txBody>
      </p:sp>
      <p:sp>
        <p:nvSpPr>
          <p:cNvPr id="25" name="Text 19"/>
          <p:cNvSpPr/>
          <p:nvPr/>
        </p:nvSpPr>
        <p:spPr>
          <a:xfrm>
            <a:off x="507206" y="4295180"/>
            <a:ext cx="24085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validation, your license will be </a:t>
            </a:r>
            <a:endParaRPr lang="en-US" sz="1046" dirty="0"/>
          </a:p>
        </p:txBody>
      </p:sp>
      <p:sp>
        <p:nvSpPr>
          <p:cNvPr id="26" name="Text 20"/>
          <p:cNvSpPr/>
          <p:nvPr/>
        </p:nvSpPr>
        <p:spPr>
          <a:xfrm>
            <a:off x="2915794" y="4295180"/>
            <a:ext cx="99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automatically </a:t>
            </a:r>
            <a:endParaRPr lang="en-US" sz="1046" dirty="0"/>
          </a:p>
        </p:txBody>
      </p:sp>
      <p:sp>
        <p:nvSpPr>
          <p:cNvPr id="27" name="Text 21"/>
          <p:cNvSpPr/>
          <p:nvPr/>
        </p:nvSpPr>
        <p:spPr>
          <a:xfrm>
            <a:off x="507206" y="4509492"/>
            <a:ext cx="6698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extended</a:t>
            </a:r>
            <a:endParaRPr lang="en-US" sz="1046" dirty="0"/>
          </a:p>
        </p:txBody>
      </p:sp>
      <p:sp>
        <p:nvSpPr>
          <p:cNvPr id="28" name="Text 22"/>
          <p:cNvSpPr/>
          <p:nvPr/>
        </p:nvSpPr>
        <p:spPr>
          <a:xfrm>
            <a:off x="1177017" y="4509492"/>
            <a:ext cx="150805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the academic year.</a:t>
            </a:r>
            <a:endParaRPr lang="en-US" sz="1046" dirty="0"/>
          </a:p>
        </p:txBody>
      </p:sp>
      <p:sp>
        <p:nvSpPr>
          <p:cNvPr id="29" name="Text 23"/>
          <p:cNvSpPr/>
          <p:nvPr/>
        </p:nvSpPr>
        <p:spPr>
          <a:xfrm>
            <a:off x="507206" y="4772025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will not need to reinstall or reactivate the software.</a:t>
            </a:r>
            <a:endParaRPr lang="en-US" sz="1046" dirty="0"/>
          </a:p>
        </p:txBody>
      </p:sp>
      <p:sp>
        <p:nvSpPr>
          <p:cNvPr id="30" name="Shape 24"/>
          <p:cNvSpPr/>
          <p:nvPr/>
        </p:nvSpPr>
        <p:spPr>
          <a:xfrm>
            <a:off x="4686300" y="1000125"/>
            <a:ext cx="4057650" cy="3186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4857750" y="1171575"/>
            <a:ext cx="3714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 Validation Timeline</a:t>
            </a:r>
            <a:endParaRPr lang="en-US" sz="1046" dirty="0"/>
          </a:p>
        </p:txBody>
      </p:sp>
      <p:sp>
        <p:nvSpPr>
          <p:cNvPr id="32" name="Shape 26"/>
          <p:cNvSpPr/>
          <p:nvPr/>
        </p:nvSpPr>
        <p:spPr>
          <a:xfrm>
            <a:off x="4857750" y="1585913"/>
            <a:ext cx="142875" cy="14287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3" name="Text 27"/>
          <p:cNvSpPr/>
          <p:nvPr/>
        </p:nvSpPr>
        <p:spPr>
          <a:xfrm>
            <a:off x="5106051" y="1809155"/>
            <a:ext cx="3922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 1</a:t>
            </a:r>
            <a:endParaRPr lang="en-US" sz="1046" dirty="0"/>
          </a:p>
        </p:txBody>
      </p:sp>
      <p:sp>
        <p:nvSpPr>
          <p:cNvPr id="34" name="Text 28"/>
          <p:cNvSpPr/>
          <p:nvPr/>
        </p:nvSpPr>
        <p:spPr>
          <a:xfrm>
            <a:off x="5087913" y="2023467"/>
            <a:ext cx="4284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Initial </a:t>
            </a:r>
            <a:endParaRPr lang="en-US" sz="1046" dirty="0"/>
          </a:p>
        </p:txBody>
      </p:sp>
      <p:sp>
        <p:nvSpPr>
          <p:cNvPr id="35" name="Text 29"/>
          <p:cNvSpPr/>
          <p:nvPr/>
        </p:nvSpPr>
        <p:spPr>
          <a:xfrm>
            <a:off x="5011899" y="2237780"/>
            <a:ext cx="5805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</a:t>
            </a:r>
            <a:endParaRPr lang="en-US" sz="1046" dirty="0"/>
          </a:p>
        </p:txBody>
      </p:sp>
      <p:sp>
        <p:nvSpPr>
          <p:cNvPr id="36" name="Shape 30"/>
          <p:cNvSpPr/>
          <p:nvPr/>
        </p:nvSpPr>
        <p:spPr>
          <a:xfrm>
            <a:off x="5746561" y="1693069"/>
            <a:ext cx="142875" cy="14287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7" name="Text 31"/>
          <p:cNvSpPr/>
          <p:nvPr/>
        </p:nvSpPr>
        <p:spPr>
          <a:xfrm>
            <a:off x="5853131" y="1916311"/>
            <a:ext cx="5199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 1-2</a:t>
            </a:r>
            <a:endParaRPr lang="en-US" sz="1046" dirty="0"/>
          </a:p>
        </p:txBody>
      </p:sp>
      <p:sp>
        <p:nvSpPr>
          <p:cNvPr id="38" name="Text 32"/>
          <p:cNvSpPr/>
          <p:nvPr/>
        </p:nvSpPr>
        <p:spPr>
          <a:xfrm>
            <a:off x="5746561" y="2130623"/>
            <a:ext cx="7330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Activation</a:t>
            </a:r>
            <a:endParaRPr lang="en-US" sz="1046" dirty="0"/>
          </a:p>
        </p:txBody>
      </p:sp>
      <p:sp>
        <p:nvSpPr>
          <p:cNvPr id="39" name="Shape 33"/>
          <p:cNvSpPr/>
          <p:nvPr/>
        </p:nvSpPr>
        <p:spPr>
          <a:xfrm>
            <a:off x="6479660" y="1585913"/>
            <a:ext cx="142875" cy="14287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0" name="Text 34"/>
          <p:cNvSpPr/>
          <p:nvPr/>
        </p:nvSpPr>
        <p:spPr>
          <a:xfrm>
            <a:off x="6647790" y="1809155"/>
            <a:ext cx="5939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Within 2 </a:t>
            </a:r>
            <a:endParaRPr lang="en-US" sz="1046" dirty="0"/>
          </a:p>
        </p:txBody>
      </p:sp>
      <p:sp>
        <p:nvSpPr>
          <p:cNvPr id="41" name="Text 35"/>
          <p:cNvSpPr/>
          <p:nvPr/>
        </p:nvSpPr>
        <p:spPr>
          <a:xfrm>
            <a:off x="6712865" y="2023467"/>
            <a:ext cx="4637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Weeks</a:t>
            </a:r>
            <a:endParaRPr lang="en-US" sz="1046" dirty="0"/>
          </a:p>
        </p:txBody>
      </p:sp>
      <p:sp>
        <p:nvSpPr>
          <p:cNvPr id="42" name="Text 36"/>
          <p:cNvSpPr/>
          <p:nvPr/>
        </p:nvSpPr>
        <p:spPr>
          <a:xfrm>
            <a:off x="6580705" y="2237780"/>
            <a:ext cx="7281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</a:t>
            </a:r>
            <a:endParaRPr lang="en-US" sz="1046" dirty="0"/>
          </a:p>
        </p:txBody>
      </p:sp>
      <p:sp>
        <p:nvSpPr>
          <p:cNvPr id="43" name="Shape 37"/>
          <p:cNvSpPr/>
          <p:nvPr/>
        </p:nvSpPr>
        <p:spPr>
          <a:xfrm>
            <a:off x="7409855" y="1585913"/>
            <a:ext cx="142875" cy="14287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4" name="Text 38"/>
          <p:cNvSpPr/>
          <p:nvPr/>
        </p:nvSpPr>
        <p:spPr>
          <a:xfrm>
            <a:off x="7425956" y="1809155"/>
            <a:ext cx="11304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Validation</a:t>
            </a:r>
            <a:endParaRPr lang="en-US" sz="1046" dirty="0"/>
          </a:p>
        </p:txBody>
      </p:sp>
      <p:sp>
        <p:nvSpPr>
          <p:cNvPr id="45" name="Text 39"/>
          <p:cNvSpPr/>
          <p:nvPr/>
        </p:nvSpPr>
        <p:spPr>
          <a:xfrm>
            <a:off x="7591267" y="2023467"/>
            <a:ext cx="7998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Permanent </a:t>
            </a:r>
            <a:endParaRPr lang="en-US" sz="1046" dirty="0"/>
          </a:p>
        </p:txBody>
      </p:sp>
      <p:sp>
        <p:nvSpPr>
          <p:cNvPr id="46" name="Text 40"/>
          <p:cNvSpPr/>
          <p:nvPr/>
        </p:nvSpPr>
        <p:spPr>
          <a:xfrm>
            <a:off x="7725408" y="2237780"/>
            <a:ext cx="5315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</a:t>
            </a:r>
            <a:endParaRPr lang="en-US" sz="1046" dirty="0"/>
          </a:p>
        </p:txBody>
      </p:sp>
      <p:sp>
        <p:nvSpPr>
          <p:cNvPr id="47" name="Shape 41"/>
          <p:cNvSpPr/>
          <p:nvPr/>
        </p:nvSpPr>
        <p:spPr>
          <a:xfrm>
            <a:off x="4857750" y="2657475"/>
            <a:ext cx="3714750" cy="1357313"/>
          </a:xfrm>
          <a:prstGeom prst="rect">
            <a:avLst/>
          </a:prstGeom>
          <a:solidFill>
            <a:srgbClr val="EFF6FF"/>
          </a:solidFill>
          <a:ln w="99">
            <a:solidFill>
              <a:srgbClr val="BFDBFE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807494"/>
            <a:ext cx="128588" cy="12858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157788" y="2784277"/>
            <a:ext cx="10188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 Note</a:t>
            </a:r>
            <a:endParaRPr lang="en-US" sz="942" dirty="0"/>
          </a:p>
        </p:txBody>
      </p:sp>
      <p:sp>
        <p:nvSpPr>
          <p:cNvPr id="50" name="Text 43"/>
          <p:cNvSpPr/>
          <p:nvPr/>
        </p:nvSpPr>
        <p:spPr>
          <a:xfrm>
            <a:off x="4972050" y="3028950"/>
            <a:ext cx="348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your license is not validated within two weeks, the software will stop working. Contact your instructor if you experience any issues with validation.</a:t>
            </a:r>
            <a:endParaRPr lang="en-US" sz="1046" dirty="0"/>
          </a:p>
        </p:txBody>
      </p:sp>
      <p:sp>
        <p:nvSpPr>
          <p:cNvPr id="51" name="Text 44"/>
          <p:cNvSpPr/>
          <p:nvPr/>
        </p:nvSpPr>
        <p:spPr>
          <a:xfrm>
            <a:off x="8935743" y="52863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83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007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CC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Troubleshooting &amp; Support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00050" y="1000125"/>
            <a:ext cx="4057650" cy="22574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00125"/>
            <a:ext cx="28575" cy="225742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Shape 3"/>
          <p:cNvSpPr/>
          <p:nvPr/>
        </p:nvSpPr>
        <p:spPr>
          <a:xfrm>
            <a:off x="507206" y="1107281"/>
            <a:ext cx="257175" cy="257175"/>
          </a:xfrm>
          <a:prstGeom prst="ellipse">
            <a:avLst/>
          </a:prstGeom>
          <a:solidFill>
            <a:srgbClr val="0066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157288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5819" y="1117997"/>
            <a:ext cx="219304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Common Installation Issues 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78656" y="1444823"/>
            <a:ext cx="19323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Activation key not working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678656" y="1444823"/>
            <a:ext cx="3547876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Verify you're using the correct key and that it hasn't expired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678656" y="1873448"/>
            <a:ext cx="11670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 fails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678656" y="1873448"/>
            <a:ext cx="3346177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Ensure you have administrator privileges and sufficient disk space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678656" y="2302073"/>
            <a:ext cx="10261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Cannot sign in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678656" y="2302073"/>
            <a:ext cx="364917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Verify your Wolfram ID and password are correct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678656" y="2730698"/>
            <a:ext cx="16309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 not recognized</a:t>
            </a:r>
            <a:endParaRPr lang="en-US" sz="1046" dirty="0"/>
          </a:p>
        </p:txBody>
      </p:sp>
      <p:sp>
        <p:nvSpPr>
          <p:cNvPr id="16" name="Text 12"/>
          <p:cNvSpPr/>
          <p:nvPr/>
        </p:nvSpPr>
        <p:spPr>
          <a:xfrm>
            <a:off x="678656" y="2730698"/>
            <a:ext cx="3538891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Contact your instructor for validation status</a:t>
            </a:r>
            <a:endParaRPr lang="en-US" sz="1046" dirty="0"/>
          </a:p>
        </p:txBody>
      </p:sp>
      <p:sp>
        <p:nvSpPr>
          <p:cNvPr id="17" name="Shape 13"/>
          <p:cNvSpPr/>
          <p:nvPr/>
        </p:nvSpPr>
        <p:spPr>
          <a:xfrm>
            <a:off x="400050" y="3364706"/>
            <a:ext cx="4057650" cy="1828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00050" y="3364706"/>
            <a:ext cx="28575" cy="1828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9" name="Shape 15"/>
          <p:cNvSpPr/>
          <p:nvPr/>
        </p:nvSpPr>
        <p:spPr>
          <a:xfrm>
            <a:off x="507206" y="3471863"/>
            <a:ext cx="257175" cy="257175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3521869"/>
            <a:ext cx="157163" cy="15716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819" y="3482578"/>
            <a:ext cx="14327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Where to Get Help </a:t>
            </a:r>
            <a:endParaRPr lang="en-US" sz="1238" dirty="0"/>
          </a:p>
        </p:txBody>
      </p:sp>
      <p:sp>
        <p:nvSpPr>
          <p:cNvPr id="22" name="Text 17"/>
          <p:cNvSpPr/>
          <p:nvPr/>
        </p:nvSpPr>
        <p:spPr>
          <a:xfrm>
            <a:off x="678656" y="3809405"/>
            <a:ext cx="12487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Course instructor</a:t>
            </a:r>
            <a:endParaRPr lang="en-US" sz="1046" dirty="0"/>
          </a:p>
        </p:txBody>
      </p:sp>
      <p:sp>
        <p:nvSpPr>
          <p:cNvPr id="23" name="Text 18"/>
          <p:cNvSpPr/>
          <p:nvPr/>
        </p:nvSpPr>
        <p:spPr>
          <a:xfrm>
            <a:off x="1927389" y="3809405"/>
            <a:ext cx="19802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For license validation issues</a:t>
            </a:r>
            <a:endParaRPr lang="en-US" sz="1046" dirty="0"/>
          </a:p>
        </p:txBody>
      </p:sp>
      <p:sp>
        <p:nvSpPr>
          <p:cNvPr id="24" name="Text 19"/>
          <p:cNvSpPr/>
          <p:nvPr/>
        </p:nvSpPr>
        <p:spPr>
          <a:xfrm>
            <a:off x="678656" y="4023717"/>
            <a:ext cx="15076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 IT support</a:t>
            </a:r>
            <a:endParaRPr lang="en-US" sz="1046" dirty="0"/>
          </a:p>
        </p:txBody>
      </p:sp>
      <p:sp>
        <p:nvSpPr>
          <p:cNvPr id="25" name="Text 20"/>
          <p:cNvSpPr/>
          <p:nvPr/>
        </p:nvSpPr>
        <p:spPr>
          <a:xfrm>
            <a:off x="2186294" y="4023717"/>
            <a:ext cx="18481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For installation assistance</a:t>
            </a:r>
            <a:endParaRPr lang="en-US" sz="1046" dirty="0"/>
          </a:p>
        </p:txBody>
      </p:sp>
      <p:sp>
        <p:nvSpPr>
          <p:cNvPr id="26" name="Text 21"/>
          <p:cNvSpPr/>
          <p:nvPr/>
        </p:nvSpPr>
        <p:spPr>
          <a:xfrm>
            <a:off x="678656" y="4238030"/>
            <a:ext cx="1217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 Support</a:t>
            </a:r>
            <a:endParaRPr lang="en-US" sz="1046" dirty="0"/>
          </a:p>
        </p:txBody>
      </p:sp>
      <p:sp>
        <p:nvSpPr>
          <p:cNvPr id="27" name="Text 22"/>
          <p:cNvSpPr/>
          <p:nvPr/>
        </p:nvSpPr>
        <p:spPr>
          <a:xfrm>
            <a:off x="678656" y="4238030"/>
            <a:ext cx="3226017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For technical issues with the software</a:t>
            </a:r>
            <a:endParaRPr lang="en-US" sz="1046" dirty="0"/>
          </a:p>
        </p:txBody>
      </p:sp>
      <p:sp>
        <p:nvSpPr>
          <p:cNvPr id="28" name="Text 23"/>
          <p:cNvSpPr/>
          <p:nvPr/>
        </p:nvSpPr>
        <p:spPr>
          <a:xfrm>
            <a:off x="678656" y="4666655"/>
            <a:ext cx="1483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 Community</a:t>
            </a:r>
            <a:endParaRPr lang="en-US" sz="1046" dirty="0"/>
          </a:p>
        </p:txBody>
      </p:sp>
      <p:sp>
        <p:nvSpPr>
          <p:cNvPr id="29" name="Text 24"/>
          <p:cNvSpPr/>
          <p:nvPr/>
        </p:nvSpPr>
        <p:spPr>
          <a:xfrm>
            <a:off x="678656" y="4666655"/>
            <a:ext cx="3598050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For usage questions and peer assistance</a:t>
            </a:r>
            <a:endParaRPr lang="en-US" sz="1046" dirty="0"/>
          </a:p>
        </p:txBody>
      </p:sp>
      <p:sp>
        <p:nvSpPr>
          <p:cNvPr id="30" name="Shape 25"/>
          <p:cNvSpPr/>
          <p:nvPr/>
        </p:nvSpPr>
        <p:spPr>
          <a:xfrm>
            <a:off x="4686300" y="1000125"/>
            <a:ext cx="4057650" cy="1828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1" name="Shape 26"/>
          <p:cNvSpPr/>
          <p:nvPr/>
        </p:nvSpPr>
        <p:spPr>
          <a:xfrm>
            <a:off x="4686300" y="1000125"/>
            <a:ext cx="28575" cy="1828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2" name="Shape 27"/>
          <p:cNvSpPr/>
          <p:nvPr/>
        </p:nvSpPr>
        <p:spPr>
          <a:xfrm>
            <a:off x="4793456" y="1107281"/>
            <a:ext cx="257175" cy="257175"/>
          </a:xfrm>
          <a:prstGeom prst="ellipse">
            <a:avLst/>
          </a:prstGeom>
          <a:solidFill>
            <a:srgbClr val="0066C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285" y="1157288"/>
            <a:ext cx="137517" cy="15716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22069" y="1117997"/>
            <a:ext cx="165101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Additional Resources </a:t>
            </a:r>
            <a:endParaRPr lang="en-US" sz="1238" dirty="0"/>
          </a:p>
        </p:txBody>
      </p:sp>
      <p:sp>
        <p:nvSpPr>
          <p:cNvPr id="35" name="Text 29"/>
          <p:cNvSpPr/>
          <p:nvPr/>
        </p:nvSpPr>
        <p:spPr>
          <a:xfrm>
            <a:off x="4964906" y="1444823"/>
            <a:ext cx="1217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 Support</a:t>
            </a:r>
            <a:endParaRPr lang="en-US" sz="1046" dirty="0"/>
          </a:p>
        </p:txBody>
      </p:sp>
      <p:sp>
        <p:nvSpPr>
          <p:cNvPr id="36" name="Text 30"/>
          <p:cNvSpPr/>
          <p:nvPr/>
        </p:nvSpPr>
        <p:spPr>
          <a:xfrm>
            <a:off x="6182078" y="1444823"/>
            <a:ext cx="15952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Official support portal</a:t>
            </a:r>
            <a:endParaRPr lang="en-US" sz="1046" dirty="0"/>
          </a:p>
        </p:txBody>
      </p:sp>
      <p:sp>
        <p:nvSpPr>
          <p:cNvPr id="37" name="Text 31"/>
          <p:cNvSpPr/>
          <p:nvPr/>
        </p:nvSpPr>
        <p:spPr>
          <a:xfrm>
            <a:off x="4964906" y="1659136"/>
            <a:ext cx="1483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Wolfram Community</a:t>
            </a:r>
            <a:endParaRPr lang="en-US" sz="1046" dirty="0"/>
          </a:p>
        </p:txBody>
      </p:sp>
      <p:sp>
        <p:nvSpPr>
          <p:cNvPr id="38" name="Text 32"/>
          <p:cNvSpPr/>
          <p:nvPr/>
        </p:nvSpPr>
        <p:spPr>
          <a:xfrm>
            <a:off x="6447960" y="1659136"/>
            <a:ext cx="20524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User forums and discussions</a:t>
            </a:r>
            <a:endParaRPr lang="en-US" sz="1046" dirty="0"/>
          </a:p>
        </p:txBody>
      </p:sp>
      <p:sp>
        <p:nvSpPr>
          <p:cNvPr id="39" name="Text 33"/>
          <p:cNvSpPr/>
          <p:nvPr/>
        </p:nvSpPr>
        <p:spPr>
          <a:xfrm>
            <a:off x="4964906" y="1873448"/>
            <a:ext cx="25051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Introduction for Programmers</a:t>
            </a:r>
            <a:endParaRPr lang="en-US" sz="1046" dirty="0"/>
          </a:p>
        </p:txBody>
      </p:sp>
      <p:sp>
        <p:nvSpPr>
          <p:cNvPr id="40" name="Text 34"/>
          <p:cNvSpPr/>
          <p:nvPr/>
        </p:nvSpPr>
        <p:spPr>
          <a:xfrm>
            <a:off x="4964906" y="1873448"/>
            <a:ext cx="3354995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Quick start guide</a:t>
            </a:r>
            <a:endParaRPr lang="en-US" sz="1046" dirty="0"/>
          </a:p>
        </p:txBody>
      </p:sp>
      <p:sp>
        <p:nvSpPr>
          <p:cNvPr id="41" name="Text 35"/>
          <p:cNvSpPr/>
          <p:nvPr/>
        </p:nvSpPr>
        <p:spPr>
          <a:xfrm>
            <a:off x="4964906" y="2302073"/>
            <a:ext cx="17658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Elementary Introduction</a:t>
            </a:r>
            <a:endParaRPr lang="en-US" sz="1046" dirty="0"/>
          </a:p>
        </p:txBody>
      </p:sp>
      <p:sp>
        <p:nvSpPr>
          <p:cNvPr id="42" name="Text 36"/>
          <p:cNvSpPr/>
          <p:nvPr/>
        </p:nvSpPr>
        <p:spPr>
          <a:xfrm>
            <a:off x="4964906" y="2302073"/>
            <a:ext cx="3196298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Beginner's guide to Wolfram Language</a:t>
            </a:r>
            <a:endParaRPr lang="en-US" sz="1046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3050381"/>
            <a:ext cx="2857500" cy="1978679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870361" y="5386388"/>
            <a:ext cx="1307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2025-09-16T19:15:28Z</dcterms:created>
  <dcterms:modified xsi:type="dcterms:W3CDTF">2025-09-16T19:15:28Z</dcterms:modified>
</cp:coreProperties>
</file>