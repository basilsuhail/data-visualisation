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64" r:id="rId3"/>
    <p:sldId id="285" r:id="rId4"/>
    <p:sldId id="291" r:id="rId5"/>
    <p:sldId id="292" r:id="rId6"/>
    <p:sldId id="293" r:id="rId7"/>
    <p:sldId id="284" r:id="rId8"/>
    <p:sldId id="287" r:id="rId9"/>
    <p:sldId id="289" r:id="rId10"/>
    <p:sldId id="290" r:id="rId11"/>
    <p:sldId id="283" r:id="rId12"/>
    <p:sldId id="294" r:id="rId13"/>
    <p:sldId id="295" r:id="rId14"/>
    <p:sldId id="297" r:id="rId15"/>
    <p:sldId id="298" r:id="rId16"/>
    <p:sldId id="299" r:id="rId17"/>
    <p:sldId id="30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0000FF"/>
    <a:srgbClr val="45718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DBD182-37D6-854A-97BB-09B517A9BAF1}" v="1149" dt="2025-03-16T08:41:21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49" autoAdjust="0"/>
    <p:restoredTop sz="95331" autoAdjust="0"/>
  </p:normalViewPr>
  <p:slideViewPr>
    <p:cSldViewPr snapToGrid="0">
      <p:cViewPr varScale="1">
        <p:scale>
          <a:sx n="95" d="100"/>
          <a:sy n="95" d="100"/>
        </p:scale>
        <p:origin x="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o, M. Carmen" userId="aa8fdb40-17a6-4858-bc4e-f32e31186fd2" providerId="ADAL" clId="{DBDBD182-37D6-854A-97BB-09B517A9BAF1}"/>
    <pc:docChg chg="delSld modSld">
      <pc:chgData name="Romano, M. Carmen" userId="aa8fdb40-17a6-4858-bc4e-f32e31186fd2" providerId="ADAL" clId="{DBDBD182-37D6-854A-97BB-09B517A9BAF1}" dt="2025-03-16T08:41:21.787" v="27" actId="5793"/>
      <pc:docMkLst>
        <pc:docMk/>
      </pc:docMkLst>
      <pc:sldChg chg="addSp delSp modSp modAnim">
        <pc:chgData name="Romano, M. Carmen" userId="aa8fdb40-17a6-4858-bc4e-f32e31186fd2" providerId="ADAL" clId="{DBDBD182-37D6-854A-97BB-09B517A9BAF1}" dt="2025-03-16T08:35:21.194" v="11"/>
        <pc:sldMkLst>
          <pc:docMk/>
          <pc:sldMk cId="378488151" sldId="289"/>
        </pc:sldMkLst>
        <pc:spChg chg="mod">
          <ac:chgData name="Romano, M. Carmen" userId="aa8fdb40-17a6-4858-bc4e-f32e31186fd2" providerId="ADAL" clId="{DBDBD182-37D6-854A-97BB-09B517A9BAF1}" dt="2025-03-16T08:34:53.325" v="9" actId="165"/>
          <ac:spMkLst>
            <pc:docMk/>
            <pc:sldMk cId="378488151" sldId="289"/>
            <ac:spMk id="7" creationId="{1F1B657B-B061-D8FD-3832-3376B55DE9F5}"/>
          </ac:spMkLst>
        </pc:spChg>
        <pc:spChg chg="mod">
          <ac:chgData name="Romano, M. Carmen" userId="aa8fdb40-17a6-4858-bc4e-f32e31186fd2" providerId="ADAL" clId="{DBDBD182-37D6-854A-97BB-09B517A9BAF1}" dt="2025-03-16T08:34:53.325" v="9" actId="165"/>
          <ac:spMkLst>
            <pc:docMk/>
            <pc:sldMk cId="378488151" sldId="289"/>
            <ac:spMk id="8" creationId="{5B752FBE-E76E-D497-059E-BE11745D555A}"/>
          </ac:spMkLst>
        </pc:spChg>
        <pc:spChg chg="mod">
          <ac:chgData name="Romano, M. Carmen" userId="aa8fdb40-17a6-4858-bc4e-f32e31186fd2" providerId="ADAL" clId="{DBDBD182-37D6-854A-97BB-09B517A9BAF1}" dt="2025-03-16T08:34:53.325" v="9" actId="165"/>
          <ac:spMkLst>
            <pc:docMk/>
            <pc:sldMk cId="378488151" sldId="289"/>
            <ac:spMk id="9" creationId="{244A6373-A406-00EC-5620-251669E9F4D6}"/>
          </ac:spMkLst>
        </pc:spChg>
        <pc:spChg chg="mod topLvl">
          <ac:chgData name="Romano, M. Carmen" userId="aa8fdb40-17a6-4858-bc4e-f32e31186fd2" providerId="ADAL" clId="{DBDBD182-37D6-854A-97BB-09B517A9BAF1}" dt="2025-03-16T08:35:19.355" v="10" actId="164"/>
          <ac:spMkLst>
            <pc:docMk/>
            <pc:sldMk cId="378488151" sldId="289"/>
            <ac:spMk id="12" creationId="{54D7CFBF-3582-E089-EECA-9BA8A98BC554}"/>
          </ac:spMkLst>
        </pc:spChg>
        <pc:spChg chg="mod topLvl">
          <ac:chgData name="Romano, M. Carmen" userId="aa8fdb40-17a6-4858-bc4e-f32e31186fd2" providerId="ADAL" clId="{DBDBD182-37D6-854A-97BB-09B517A9BAF1}" dt="2025-03-16T08:35:19.355" v="10" actId="164"/>
          <ac:spMkLst>
            <pc:docMk/>
            <pc:sldMk cId="378488151" sldId="289"/>
            <ac:spMk id="13" creationId="{F198BE16-9E9F-62C9-CF3D-2E4B0864FE9F}"/>
          </ac:spMkLst>
        </pc:spChg>
        <pc:spChg chg="mod">
          <ac:chgData name="Romano, M. Carmen" userId="aa8fdb40-17a6-4858-bc4e-f32e31186fd2" providerId="ADAL" clId="{DBDBD182-37D6-854A-97BB-09B517A9BAF1}" dt="2025-03-16T08:33:54.384" v="2" actId="165"/>
          <ac:spMkLst>
            <pc:docMk/>
            <pc:sldMk cId="378488151" sldId="289"/>
            <ac:spMk id="14" creationId="{6FF5966C-8A0D-2830-597C-DBB89F2D1FD2}"/>
          </ac:spMkLst>
        </pc:spChg>
        <pc:spChg chg="mod topLvl">
          <ac:chgData name="Romano, M. Carmen" userId="aa8fdb40-17a6-4858-bc4e-f32e31186fd2" providerId="ADAL" clId="{DBDBD182-37D6-854A-97BB-09B517A9BAF1}" dt="2025-03-16T08:35:19.355" v="10" actId="164"/>
          <ac:spMkLst>
            <pc:docMk/>
            <pc:sldMk cId="378488151" sldId="289"/>
            <ac:spMk id="15" creationId="{9A756C39-7FEC-7855-A208-4F61776F5CD1}"/>
          </ac:spMkLst>
        </pc:spChg>
        <pc:spChg chg="mod topLvl">
          <ac:chgData name="Romano, M. Carmen" userId="aa8fdb40-17a6-4858-bc4e-f32e31186fd2" providerId="ADAL" clId="{DBDBD182-37D6-854A-97BB-09B517A9BAF1}" dt="2025-03-16T08:34:17.054" v="4" actId="164"/>
          <ac:spMkLst>
            <pc:docMk/>
            <pc:sldMk cId="378488151" sldId="289"/>
            <ac:spMk id="16" creationId="{7502ABDC-4E7C-4758-0A54-2CC743EDBDB2}"/>
          </ac:spMkLst>
        </pc:spChg>
        <pc:spChg chg="mod">
          <ac:chgData name="Romano, M. Carmen" userId="aa8fdb40-17a6-4858-bc4e-f32e31186fd2" providerId="ADAL" clId="{DBDBD182-37D6-854A-97BB-09B517A9BAF1}" dt="2025-03-16T08:33:54.384" v="2" actId="165"/>
          <ac:spMkLst>
            <pc:docMk/>
            <pc:sldMk cId="378488151" sldId="289"/>
            <ac:spMk id="20" creationId="{A00110D5-9F99-C696-54CC-333898F53E1B}"/>
          </ac:spMkLst>
        </pc:spChg>
        <pc:spChg chg="mod">
          <ac:chgData name="Romano, M. Carmen" userId="aa8fdb40-17a6-4858-bc4e-f32e31186fd2" providerId="ADAL" clId="{DBDBD182-37D6-854A-97BB-09B517A9BAF1}" dt="2025-03-16T08:33:54.384" v="2" actId="165"/>
          <ac:spMkLst>
            <pc:docMk/>
            <pc:sldMk cId="378488151" sldId="289"/>
            <ac:spMk id="23" creationId="{175AC9EA-988B-52DF-73E5-0E0FF0B35A0F}"/>
          </ac:spMkLst>
        </pc:spChg>
        <pc:spChg chg="mod">
          <ac:chgData name="Romano, M. Carmen" userId="aa8fdb40-17a6-4858-bc4e-f32e31186fd2" providerId="ADAL" clId="{DBDBD182-37D6-854A-97BB-09B517A9BAF1}" dt="2025-03-16T08:33:54.384" v="2" actId="165"/>
          <ac:spMkLst>
            <pc:docMk/>
            <pc:sldMk cId="378488151" sldId="289"/>
            <ac:spMk id="29" creationId="{F6BFF6F4-A614-6880-004E-70A3DBD5DA1C}"/>
          </ac:spMkLst>
        </pc:spChg>
        <pc:grpChg chg="mod topLvl">
          <ac:chgData name="Romano, M. Carmen" userId="aa8fdb40-17a6-4858-bc4e-f32e31186fd2" providerId="ADAL" clId="{DBDBD182-37D6-854A-97BB-09B517A9BAF1}" dt="2025-03-16T08:35:19.355" v="10" actId="164"/>
          <ac:grpSpMkLst>
            <pc:docMk/>
            <pc:sldMk cId="378488151" sldId="289"/>
            <ac:grpSpMk id="4" creationId="{0FAAA77F-26C7-179E-BD1C-05C9B7CD7D1B}"/>
          </ac:grpSpMkLst>
        </pc:grpChg>
        <pc:grpChg chg="add del mod">
          <ac:chgData name="Romano, M. Carmen" userId="aa8fdb40-17a6-4858-bc4e-f32e31186fd2" providerId="ADAL" clId="{DBDBD182-37D6-854A-97BB-09B517A9BAF1}" dt="2025-03-16T08:34:53.325" v="9" actId="165"/>
          <ac:grpSpMkLst>
            <pc:docMk/>
            <pc:sldMk cId="378488151" sldId="289"/>
            <ac:grpSpMk id="5" creationId="{44D1021F-3A05-EBCB-07AF-5660490C1E77}"/>
          </ac:grpSpMkLst>
        </pc:grpChg>
        <pc:grpChg chg="add mod">
          <ac:chgData name="Romano, M. Carmen" userId="aa8fdb40-17a6-4858-bc4e-f32e31186fd2" providerId="ADAL" clId="{DBDBD182-37D6-854A-97BB-09B517A9BAF1}" dt="2025-03-16T08:35:19.355" v="10" actId="164"/>
          <ac:grpSpMkLst>
            <pc:docMk/>
            <pc:sldMk cId="378488151" sldId="289"/>
            <ac:grpSpMk id="6" creationId="{06A2D201-45CB-CB76-45F0-E22EB50D52ED}"/>
          </ac:grpSpMkLst>
        </pc:grpChg>
        <pc:grpChg chg="add mod">
          <ac:chgData name="Romano, M. Carmen" userId="aa8fdb40-17a6-4858-bc4e-f32e31186fd2" providerId="ADAL" clId="{DBDBD182-37D6-854A-97BB-09B517A9BAF1}" dt="2025-03-16T08:35:19.355" v="10" actId="164"/>
          <ac:grpSpMkLst>
            <pc:docMk/>
            <pc:sldMk cId="378488151" sldId="289"/>
            <ac:grpSpMk id="21" creationId="{47E2E40B-801B-1EB0-DFB0-8E8A3C4725E3}"/>
          </ac:grpSpMkLst>
        </pc:grpChg>
        <pc:grpChg chg="mod">
          <ac:chgData name="Romano, M. Carmen" userId="aa8fdb40-17a6-4858-bc4e-f32e31186fd2" providerId="ADAL" clId="{DBDBD182-37D6-854A-97BB-09B517A9BAF1}" dt="2025-03-16T08:34:17.054" v="4" actId="164"/>
          <ac:grpSpMkLst>
            <pc:docMk/>
            <pc:sldMk cId="378488151" sldId="289"/>
            <ac:grpSpMk id="22" creationId="{C3455A8E-72E4-0528-120E-7455130E1719}"/>
          </ac:grpSpMkLst>
        </pc:grpChg>
        <pc:cxnChg chg="mod">
          <ac:chgData name="Romano, M. Carmen" userId="aa8fdb40-17a6-4858-bc4e-f32e31186fd2" providerId="ADAL" clId="{DBDBD182-37D6-854A-97BB-09B517A9BAF1}" dt="2025-03-16T08:34:53.325" v="9" actId="165"/>
          <ac:cxnSpMkLst>
            <pc:docMk/>
            <pc:sldMk cId="378488151" sldId="289"/>
            <ac:cxnSpMk id="10" creationId="{D88B3661-8437-5D43-7765-904DD933CC5B}"/>
          </ac:cxnSpMkLst>
        </pc:cxnChg>
        <pc:cxnChg chg="mod">
          <ac:chgData name="Romano, M. Carmen" userId="aa8fdb40-17a6-4858-bc4e-f32e31186fd2" providerId="ADAL" clId="{DBDBD182-37D6-854A-97BB-09B517A9BAF1}" dt="2025-03-16T08:34:53.325" v="9" actId="165"/>
          <ac:cxnSpMkLst>
            <pc:docMk/>
            <pc:sldMk cId="378488151" sldId="289"/>
            <ac:cxnSpMk id="11" creationId="{F558C5DF-1649-510D-2E4C-CD81F06C6D4B}"/>
          </ac:cxnSpMkLst>
        </pc:cxnChg>
      </pc:sldChg>
      <pc:sldChg chg="modAnim">
        <pc:chgData name="Romano, M. Carmen" userId="aa8fdb40-17a6-4858-bc4e-f32e31186fd2" providerId="ADAL" clId="{DBDBD182-37D6-854A-97BB-09B517A9BAF1}" dt="2025-03-16T08:36:30.736" v="13"/>
        <pc:sldMkLst>
          <pc:docMk/>
          <pc:sldMk cId="4061075345" sldId="294"/>
        </pc:sldMkLst>
      </pc:sldChg>
      <pc:sldChg chg="modAnim">
        <pc:chgData name="Romano, M. Carmen" userId="aa8fdb40-17a6-4858-bc4e-f32e31186fd2" providerId="ADAL" clId="{DBDBD182-37D6-854A-97BB-09B517A9BAF1}" dt="2025-03-16T08:37:06.949" v="15"/>
        <pc:sldMkLst>
          <pc:docMk/>
          <pc:sldMk cId="3510465340" sldId="295"/>
        </pc:sldMkLst>
      </pc:sldChg>
      <pc:sldChg chg="del">
        <pc:chgData name="Romano, M. Carmen" userId="aa8fdb40-17a6-4858-bc4e-f32e31186fd2" providerId="ADAL" clId="{DBDBD182-37D6-854A-97BB-09B517A9BAF1}" dt="2025-03-16T08:37:40.975" v="16" actId="2696"/>
        <pc:sldMkLst>
          <pc:docMk/>
          <pc:sldMk cId="2398476233" sldId="296"/>
        </pc:sldMkLst>
      </pc:sldChg>
      <pc:sldChg chg="modAnim">
        <pc:chgData name="Romano, M. Carmen" userId="aa8fdb40-17a6-4858-bc4e-f32e31186fd2" providerId="ADAL" clId="{DBDBD182-37D6-854A-97BB-09B517A9BAF1}" dt="2025-03-16T08:38:43.782" v="19"/>
        <pc:sldMkLst>
          <pc:docMk/>
          <pc:sldMk cId="3361284060" sldId="297"/>
        </pc:sldMkLst>
      </pc:sldChg>
      <pc:sldChg chg="modAnim">
        <pc:chgData name="Romano, M. Carmen" userId="aa8fdb40-17a6-4858-bc4e-f32e31186fd2" providerId="ADAL" clId="{DBDBD182-37D6-854A-97BB-09B517A9BAF1}" dt="2025-03-16T08:39:23.723" v="22"/>
        <pc:sldMkLst>
          <pc:docMk/>
          <pc:sldMk cId="2445083768" sldId="298"/>
        </pc:sldMkLst>
      </pc:sldChg>
      <pc:sldChg chg="modSp modAnim">
        <pc:chgData name="Romano, M. Carmen" userId="aa8fdb40-17a6-4858-bc4e-f32e31186fd2" providerId="ADAL" clId="{DBDBD182-37D6-854A-97BB-09B517A9BAF1}" dt="2025-03-16T08:41:21.787" v="27" actId="5793"/>
        <pc:sldMkLst>
          <pc:docMk/>
          <pc:sldMk cId="3223387814" sldId="299"/>
        </pc:sldMkLst>
        <pc:spChg chg="mod">
          <ac:chgData name="Romano, M. Carmen" userId="aa8fdb40-17a6-4858-bc4e-f32e31186fd2" providerId="ADAL" clId="{DBDBD182-37D6-854A-97BB-09B517A9BAF1}" dt="2025-03-16T08:41:21.787" v="27" actId="5793"/>
          <ac:spMkLst>
            <pc:docMk/>
            <pc:sldMk cId="3223387814" sldId="299"/>
            <ac:spMk id="3" creationId="{2B4E41CF-5BD4-B944-4984-6FA327F7CB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9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95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37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13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36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57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52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88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728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248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53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413CA-F99C-48CD-B7A0-CDEDFADE6DAF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DEF9B-38A8-4E80-8227-BFB397A17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79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29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280.png"/><Relationship Id="rId5" Type="http://schemas.openxmlformats.org/officeDocument/2006/relationships/image" Target="../media/image28.png"/><Relationship Id="rId10" Type="http://schemas.openxmlformats.org/officeDocument/2006/relationships/image" Target="../media/image270.png"/><Relationship Id="rId4" Type="http://schemas.openxmlformats.org/officeDocument/2006/relationships/image" Target="../media/image27.png"/><Relationship Id="rId9" Type="http://schemas.openxmlformats.org/officeDocument/2006/relationships/image" Target="../media/image2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320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0.png"/><Relationship Id="rId10" Type="http://schemas.openxmlformats.org/officeDocument/2006/relationships/image" Target="../media/image37.png"/><Relationship Id="rId4" Type="http://schemas.openxmlformats.org/officeDocument/2006/relationships/image" Target="../media/image13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52694B-35B0-BB51-7111-D339222A5FCF}"/>
              </a:ext>
            </a:extLst>
          </p:cNvPr>
          <p:cNvSpPr txBox="1"/>
          <p:nvPr/>
        </p:nvSpPr>
        <p:spPr>
          <a:xfrm>
            <a:off x="568669" y="1859340"/>
            <a:ext cx="80066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b="1" dirty="0"/>
              <a:t>Central Limit Theorem</a:t>
            </a:r>
          </a:p>
        </p:txBody>
      </p:sp>
    </p:spTree>
    <p:extLst>
      <p:ext uri="{BB962C8B-B14F-4D97-AF65-F5344CB8AC3E}">
        <p14:creationId xmlns:p14="http://schemas.microsoft.com/office/powerpoint/2010/main" val="331648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ited Kingdom Stock Illustration - Download Image Now - Map, UK, England -  iStock">
            <a:extLst>
              <a:ext uri="{FF2B5EF4-FFF2-40B4-BE49-F238E27FC236}">
                <a16:creationId xmlns:a16="http://schemas.microsoft.com/office/drawing/2014/main" id="{1A2133FD-F596-7F9B-18FD-B2D1AD645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15" y="0"/>
            <a:ext cx="3390027" cy="412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verage household income, UK - Office for National Statistics">
            <a:extLst>
              <a:ext uri="{FF2B5EF4-FFF2-40B4-BE49-F238E27FC236}">
                <a16:creationId xmlns:a16="http://schemas.microsoft.com/office/drawing/2014/main" id="{3572D149-918A-EE12-CC42-E666F2C44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085" y="480096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19636A4-4F40-430F-8B7F-4E0C8477F88C}"/>
              </a:ext>
            </a:extLst>
          </p:cNvPr>
          <p:cNvSpPr/>
          <p:nvPr/>
        </p:nvSpPr>
        <p:spPr>
          <a:xfrm>
            <a:off x="5033540" y="1943101"/>
            <a:ext cx="3347207" cy="1748055"/>
          </a:xfrm>
          <a:custGeom>
            <a:avLst/>
            <a:gdLst>
              <a:gd name="connsiteX0" fmla="*/ 0 w 3590488"/>
              <a:gd name="connsiteY0" fmla="*/ 1748055 h 1748055"/>
              <a:gd name="connsiteX1" fmla="*/ 822121 w 3590488"/>
              <a:gd name="connsiteY1" fmla="*/ 3145 h 1748055"/>
              <a:gd name="connsiteX2" fmla="*/ 2499919 w 3590488"/>
              <a:gd name="connsiteY2" fmla="*/ 1328605 h 1748055"/>
              <a:gd name="connsiteX3" fmla="*/ 3590488 w 3590488"/>
              <a:gd name="connsiteY3" fmla="*/ 1680943 h 174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0488" h="1748055">
                <a:moveTo>
                  <a:pt x="0" y="1748055"/>
                </a:moveTo>
                <a:cubicBezTo>
                  <a:pt x="202734" y="910554"/>
                  <a:pt x="405468" y="73053"/>
                  <a:pt x="822121" y="3145"/>
                </a:cubicBezTo>
                <a:cubicBezTo>
                  <a:pt x="1238774" y="-66763"/>
                  <a:pt x="2038525" y="1048972"/>
                  <a:pt x="2499919" y="1328605"/>
                </a:cubicBezTo>
                <a:cubicBezTo>
                  <a:pt x="2961313" y="1608238"/>
                  <a:pt x="3275900" y="1644590"/>
                  <a:pt x="3590488" y="1680943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067CC-5436-2D49-E01A-04111BD00FBB}"/>
              </a:ext>
            </a:extLst>
          </p:cNvPr>
          <p:cNvSpPr txBox="1"/>
          <p:nvPr/>
        </p:nvSpPr>
        <p:spPr>
          <a:xfrm>
            <a:off x="5514539" y="213724"/>
            <a:ext cx="178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Annual Income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8FC955-44EA-5703-43D6-5026434CB726}"/>
              </a:ext>
            </a:extLst>
          </p:cNvPr>
          <p:cNvGrpSpPr/>
          <p:nvPr/>
        </p:nvGrpSpPr>
        <p:grpSpPr>
          <a:xfrm>
            <a:off x="6919548" y="2267299"/>
            <a:ext cx="2370201" cy="873088"/>
            <a:chOff x="6710988" y="3156532"/>
            <a:chExt cx="2370201" cy="8730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561B89-89C9-964B-1A8D-C5B2A6CB92E6}"/>
                </a:ext>
              </a:extLst>
            </p:cNvPr>
            <p:cNvSpPr txBox="1"/>
            <p:nvPr/>
          </p:nvSpPr>
          <p:spPr>
            <a:xfrm>
              <a:off x="6710988" y="3156532"/>
              <a:ext cx="23702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Lognormal distribution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6D23909-ADD4-EFCB-A156-2878746537E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7180976" y="3525864"/>
              <a:ext cx="715113" cy="50375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910679E-6E56-2128-4A08-6E342640D81F}"/>
                  </a:ext>
                </a:extLst>
              </p:cNvPr>
              <p:cNvSpPr txBox="1"/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dirty="0"/>
                  <a:t>Population mean: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          Population SD: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910679E-6E56-2128-4A08-6E342640D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blipFill>
                <a:blip r:embed="rId4"/>
                <a:stretch>
                  <a:fillRect l="-1314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045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ited Kingdom Stock Illustration - Download Image Now - Map, UK, England -  iStock">
            <a:extLst>
              <a:ext uri="{FF2B5EF4-FFF2-40B4-BE49-F238E27FC236}">
                <a16:creationId xmlns:a16="http://schemas.microsoft.com/office/drawing/2014/main" id="{1A2133FD-F596-7F9B-18FD-B2D1AD645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15" y="0"/>
            <a:ext cx="3390027" cy="412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verage household income, UK - Office for National Statistics">
            <a:extLst>
              <a:ext uri="{FF2B5EF4-FFF2-40B4-BE49-F238E27FC236}">
                <a16:creationId xmlns:a16="http://schemas.microsoft.com/office/drawing/2014/main" id="{3572D149-918A-EE12-CC42-E666F2C44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085" y="480096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19636A4-4F40-430F-8B7F-4E0C8477F88C}"/>
              </a:ext>
            </a:extLst>
          </p:cNvPr>
          <p:cNvSpPr/>
          <p:nvPr/>
        </p:nvSpPr>
        <p:spPr>
          <a:xfrm>
            <a:off x="5033540" y="1943101"/>
            <a:ext cx="3347207" cy="1748055"/>
          </a:xfrm>
          <a:custGeom>
            <a:avLst/>
            <a:gdLst>
              <a:gd name="connsiteX0" fmla="*/ 0 w 3590488"/>
              <a:gd name="connsiteY0" fmla="*/ 1748055 h 1748055"/>
              <a:gd name="connsiteX1" fmla="*/ 822121 w 3590488"/>
              <a:gd name="connsiteY1" fmla="*/ 3145 h 1748055"/>
              <a:gd name="connsiteX2" fmla="*/ 2499919 w 3590488"/>
              <a:gd name="connsiteY2" fmla="*/ 1328605 h 1748055"/>
              <a:gd name="connsiteX3" fmla="*/ 3590488 w 3590488"/>
              <a:gd name="connsiteY3" fmla="*/ 1680943 h 174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0488" h="1748055">
                <a:moveTo>
                  <a:pt x="0" y="1748055"/>
                </a:moveTo>
                <a:cubicBezTo>
                  <a:pt x="202734" y="910554"/>
                  <a:pt x="405468" y="73053"/>
                  <a:pt x="822121" y="3145"/>
                </a:cubicBezTo>
                <a:cubicBezTo>
                  <a:pt x="1238774" y="-66763"/>
                  <a:pt x="2038525" y="1048972"/>
                  <a:pt x="2499919" y="1328605"/>
                </a:cubicBezTo>
                <a:cubicBezTo>
                  <a:pt x="2961313" y="1608238"/>
                  <a:pt x="3275900" y="1644590"/>
                  <a:pt x="3590488" y="1680943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067CC-5436-2D49-E01A-04111BD00FBB}"/>
              </a:ext>
            </a:extLst>
          </p:cNvPr>
          <p:cNvSpPr txBox="1"/>
          <p:nvPr/>
        </p:nvSpPr>
        <p:spPr>
          <a:xfrm>
            <a:off x="5514539" y="213724"/>
            <a:ext cx="178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Annual Income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8FC955-44EA-5703-43D6-5026434CB726}"/>
              </a:ext>
            </a:extLst>
          </p:cNvPr>
          <p:cNvGrpSpPr/>
          <p:nvPr/>
        </p:nvGrpSpPr>
        <p:grpSpPr>
          <a:xfrm>
            <a:off x="6919548" y="2267299"/>
            <a:ext cx="2370201" cy="873088"/>
            <a:chOff x="6710988" y="3156532"/>
            <a:chExt cx="2370201" cy="8730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561B89-89C9-964B-1A8D-C5B2A6CB92E6}"/>
                </a:ext>
              </a:extLst>
            </p:cNvPr>
            <p:cNvSpPr txBox="1"/>
            <p:nvPr/>
          </p:nvSpPr>
          <p:spPr>
            <a:xfrm>
              <a:off x="6710988" y="3156532"/>
              <a:ext cx="23702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Lognormal distribution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6D23909-ADD4-EFCB-A156-2878746537E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7180976" y="3525864"/>
              <a:ext cx="715113" cy="50375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910679E-6E56-2128-4A08-6E342640D81F}"/>
                  </a:ext>
                </a:extLst>
              </p:cNvPr>
              <p:cNvSpPr txBox="1"/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dirty="0"/>
                  <a:t>Population mean: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          Population SD: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910679E-6E56-2128-4A08-6E342640D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blipFill>
                <a:blip r:embed="rId4"/>
                <a:stretch>
                  <a:fillRect l="-1314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003F6A7-85A8-C0DA-BECA-5292517BD7D3}"/>
                  </a:ext>
                </a:extLst>
              </p:cNvPr>
              <p:cNvSpPr txBox="1"/>
              <p:nvPr/>
            </p:nvSpPr>
            <p:spPr>
              <a:xfrm>
                <a:off x="-16620" y="4857226"/>
                <a:ext cx="190507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/>
                  <a:t>Sample #1</a:t>
                </a:r>
              </a:p>
              <a:p>
                <a:pPr algn="ctr"/>
                <a:r>
                  <a:rPr lang="en-GB" dirty="0"/>
                  <a:t>n=30 </a:t>
                </a:r>
              </a:p>
              <a:p>
                <a:pPr algn="ctr"/>
                <a:r>
                  <a:rPr lang="en-GB" dirty="0"/>
                  <a:t>Sample mean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003F6A7-85A8-C0DA-BECA-5292517BD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620" y="4857226"/>
                <a:ext cx="1905073" cy="923330"/>
              </a:xfrm>
              <a:prstGeom prst="rect">
                <a:avLst/>
              </a:prstGeom>
              <a:blipFill>
                <a:blip r:embed="rId5"/>
                <a:stretch>
                  <a:fillRect l="-1987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5C0384DD-EB44-E59C-9AE6-622F436A0AD0}"/>
              </a:ext>
            </a:extLst>
          </p:cNvPr>
          <p:cNvGrpSpPr/>
          <p:nvPr/>
        </p:nvGrpSpPr>
        <p:grpSpPr>
          <a:xfrm>
            <a:off x="1608481" y="817735"/>
            <a:ext cx="1626090" cy="2873421"/>
            <a:chOff x="1608481" y="817735"/>
            <a:chExt cx="1626090" cy="287342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B94CE95-14B0-19BC-6122-6DB53279CEB9}"/>
                </a:ext>
              </a:extLst>
            </p:cNvPr>
            <p:cNvSpPr/>
            <p:nvPr/>
          </p:nvSpPr>
          <p:spPr>
            <a:xfrm>
              <a:off x="2374291" y="121784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1593127-EF44-A136-A629-6E034E3DEC35}"/>
                </a:ext>
              </a:extLst>
            </p:cNvPr>
            <p:cNvSpPr/>
            <p:nvPr/>
          </p:nvSpPr>
          <p:spPr>
            <a:xfrm>
              <a:off x="1959001" y="152264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2CC59B-B784-A9E1-426E-81EB6E0F9294}"/>
                </a:ext>
              </a:extLst>
            </p:cNvPr>
            <p:cNvSpPr/>
            <p:nvPr/>
          </p:nvSpPr>
          <p:spPr>
            <a:xfrm>
              <a:off x="1959001" y="111878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B55A89A-D1F2-6994-2A2E-680E74AE89F7}"/>
                </a:ext>
              </a:extLst>
            </p:cNvPr>
            <p:cNvSpPr/>
            <p:nvPr/>
          </p:nvSpPr>
          <p:spPr>
            <a:xfrm>
              <a:off x="2252371" y="148664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E775CF-5A9E-F23B-867C-34C351ABF1F3}"/>
                </a:ext>
              </a:extLst>
            </p:cNvPr>
            <p:cNvSpPr/>
            <p:nvPr/>
          </p:nvSpPr>
          <p:spPr>
            <a:xfrm>
              <a:off x="2180371" y="180458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5B41F14-B284-9369-F0F1-87A346C16711}"/>
                </a:ext>
              </a:extLst>
            </p:cNvPr>
            <p:cNvSpPr/>
            <p:nvPr/>
          </p:nvSpPr>
          <p:spPr>
            <a:xfrm>
              <a:off x="2446291" y="187658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0ABA06C-8F26-4044-D51A-B4F209C6E7A6}"/>
                </a:ext>
              </a:extLst>
            </p:cNvPr>
            <p:cNvSpPr/>
            <p:nvPr/>
          </p:nvSpPr>
          <p:spPr>
            <a:xfrm>
              <a:off x="2667661" y="2183252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CB6A105-E8B2-FCAF-4C77-D17603664777}"/>
                </a:ext>
              </a:extLst>
            </p:cNvPr>
            <p:cNvSpPr/>
            <p:nvPr/>
          </p:nvSpPr>
          <p:spPr>
            <a:xfrm>
              <a:off x="2374291" y="2183252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E380617-E6EC-F64E-16AC-10EDDEC1AE2E}"/>
                </a:ext>
              </a:extLst>
            </p:cNvPr>
            <p:cNvSpPr/>
            <p:nvPr/>
          </p:nvSpPr>
          <p:spPr>
            <a:xfrm>
              <a:off x="1608481" y="2147252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8D813B6-5D1A-B11C-EC59-096A7E8D969A}"/>
                </a:ext>
              </a:extLst>
            </p:cNvPr>
            <p:cNvSpPr/>
            <p:nvPr/>
          </p:nvSpPr>
          <p:spPr>
            <a:xfrm>
              <a:off x="2739661" y="255896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81E304-CEE0-18C4-4A22-9123744F7055}"/>
                </a:ext>
              </a:extLst>
            </p:cNvPr>
            <p:cNvSpPr/>
            <p:nvPr/>
          </p:nvSpPr>
          <p:spPr>
            <a:xfrm>
              <a:off x="2086429" y="81773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DEDB7DB-1521-4E51-C99D-DBC046D47C6B}"/>
                </a:ext>
              </a:extLst>
            </p:cNvPr>
            <p:cNvSpPr/>
            <p:nvPr/>
          </p:nvSpPr>
          <p:spPr>
            <a:xfrm>
              <a:off x="2987701" y="241037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6AD5F28-3F3C-9831-7F98-868755DC5C83}"/>
                </a:ext>
              </a:extLst>
            </p:cNvPr>
            <p:cNvSpPr/>
            <p:nvPr/>
          </p:nvSpPr>
          <p:spPr>
            <a:xfrm>
              <a:off x="2477551" y="246332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D83A85A-52BB-BA6C-00A9-399B9B785DBA}"/>
                </a:ext>
              </a:extLst>
            </p:cNvPr>
            <p:cNvSpPr/>
            <p:nvPr/>
          </p:nvSpPr>
          <p:spPr>
            <a:xfrm>
              <a:off x="2983891" y="278756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1F103C6-7CF0-7BF3-C4B6-7E8E8FFC6471}"/>
                </a:ext>
              </a:extLst>
            </p:cNvPr>
            <p:cNvSpPr/>
            <p:nvPr/>
          </p:nvSpPr>
          <p:spPr>
            <a:xfrm>
              <a:off x="2441551" y="2805992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AD76EE1-9DC3-1E19-71C8-BBE3D001FDF8}"/>
                </a:ext>
              </a:extLst>
            </p:cNvPr>
            <p:cNvSpPr/>
            <p:nvPr/>
          </p:nvSpPr>
          <p:spPr>
            <a:xfrm>
              <a:off x="2688421" y="3119501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2A44649-392D-CA26-299A-25AB24B89DC1}"/>
                </a:ext>
              </a:extLst>
            </p:cNvPr>
            <p:cNvSpPr/>
            <p:nvPr/>
          </p:nvSpPr>
          <p:spPr>
            <a:xfrm>
              <a:off x="2359051" y="3112659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E74E5D8-9BC9-791C-B344-73FEFAF1B57E}"/>
                </a:ext>
              </a:extLst>
            </p:cNvPr>
            <p:cNvSpPr/>
            <p:nvPr/>
          </p:nvSpPr>
          <p:spPr>
            <a:xfrm>
              <a:off x="3162571" y="3119501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ACDAF4B-F586-31AE-7969-8D7EA31DDA91}"/>
                </a:ext>
              </a:extLst>
            </p:cNvPr>
            <p:cNvSpPr/>
            <p:nvPr/>
          </p:nvSpPr>
          <p:spPr>
            <a:xfrm>
              <a:off x="2549551" y="345812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6DAC8BB-ECCB-DD23-1A48-E4C9F039D2E2}"/>
                </a:ext>
              </a:extLst>
            </p:cNvPr>
            <p:cNvSpPr/>
            <p:nvPr/>
          </p:nvSpPr>
          <p:spPr>
            <a:xfrm>
              <a:off x="2302291" y="3619156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1615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8E09-A36E-9716-1379-0455E575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ited Kingdom Stock Illustration - Download Image Now - Map, UK, England -  iStock">
            <a:extLst>
              <a:ext uri="{FF2B5EF4-FFF2-40B4-BE49-F238E27FC236}">
                <a16:creationId xmlns:a16="http://schemas.microsoft.com/office/drawing/2014/main" id="{6777F714-BA46-8C10-C258-54143B809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15" y="0"/>
            <a:ext cx="3390027" cy="412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verage household income, UK - Office for National Statistics">
            <a:extLst>
              <a:ext uri="{FF2B5EF4-FFF2-40B4-BE49-F238E27FC236}">
                <a16:creationId xmlns:a16="http://schemas.microsoft.com/office/drawing/2014/main" id="{82444A81-8A7C-2A6D-DB9B-166BFCAC6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085" y="480096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68FF9F2-6113-AC99-C1B6-323CB31C5B22}"/>
              </a:ext>
            </a:extLst>
          </p:cNvPr>
          <p:cNvSpPr/>
          <p:nvPr/>
        </p:nvSpPr>
        <p:spPr>
          <a:xfrm>
            <a:off x="5033540" y="1943101"/>
            <a:ext cx="3347207" cy="1748055"/>
          </a:xfrm>
          <a:custGeom>
            <a:avLst/>
            <a:gdLst>
              <a:gd name="connsiteX0" fmla="*/ 0 w 3590488"/>
              <a:gd name="connsiteY0" fmla="*/ 1748055 h 1748055"/>
              <a:gd name="connsiteX1" fmla="*/ 822121 w 3590488"/>
              <a:gd name="connsiteY1" fmla="*/ 3145 h 1748055"/>
              <a:gd name="connsiteX2" fmla="*/ 2499919 w 3590488"/>
              <a:gd name="connsiteY2" fmla="*/ 1328605 h 1748055"/>
              <a:gd name="connsiteX3" fmla="*/ 3590488 w 3590488"/>
              <a:gd name="connsiteY3" fmla="*/ 1680943 h 174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0488" h="1748055">
                <a:moveTo>
                  <a:pt x="0" y="1748055"/>
                </a:moveTo>
                <a:cubicBezTo>
                  <a:pt x="202734" y="910554"/>
                  <a:pt x="405468" y="73053"/>
                  <a:pt x="822121" y="3145"/>
                </a:cubicBezTo>
                <a:cubicBezTo>
                  <a:pt x="1238774" y="-66763"/>
                  <a:pt x="2038525" y="1048972"/>
                  <a:pt x="2499919" y="1328605"/>
                </a:cubicBezTo>
                <a:cubicBezTo>
                  <a:pt x="2961313" y="1608238"/>
                  <a:pt x="3275900" y="1644590"/>
                  <a:pt x="3590488" y="1680943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55454-18D4-DB45-1B9D-4D868067AD38}"/>
              </a:ext>
            </a:extLst>
          </p:cNvPr>
          <p:cNvSpPr txBox="1"/>
          <p:nvPr/>
        </p:nvSpPr>
        <p:spPr>
          <a:xfrm>
            <a:off x="5514539" y="213724"/>
            <a:ext cx="178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Annual Income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0B7DC8-B687-062E-D2D5-73D772AB351E}"/>
              </a:ext>
            </a:extLst>
          </p:cNvPr>
          <p:cNvGrpSpPr/>
          <p:nvPr/>
        </p:nvGrpSpPr>
        <p:grpSpPr>
          <a:xfrm>
            <a:off x="6919548" y="2267299"/>
            <a:ext cx="2370201" cy="873088"/>
            <a:chOff x="6710988" y="3156532"/>
            <a:chExt cx="2370201" cy="8730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D44995-5C94-CAA7-2847-FC32981CE670}"/>
                </a:ext>
              </a:extLst>
            </p:cNvPr>
            <p:cNvSpPr txBox="1"/>
            <p:nvPr/>
          </p:nvSpPr>
          <p:spPr>
            <a:xfrm>
              <a:off x="6710988" y="3156532"/>
              <a:ext cx="23702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Lognormal distribution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464A71E-6DDD-396E-1C91-ADD9B2F13DA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7180976" y="3525864"/>
              <a:ext cx="715113" cy="50375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EF7DE96-4509-ABFC-1979-DA6E20B72915}"/>
                  </a:ext>
                </a:extLst>
              </p:cNvPr>
              <p:cNvSpPr txBox="1"/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dirty="0"/>
                  <a:t>Population mean: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          Population SD: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910679E-6E56-2128-4A08-6E342640D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blipFill>
                <a:blip r:embed="rId4"/>
                <a:stretch>
                  <a:fillRect l="-1314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622ACE9-F887-6F91-9DC6-5BAD2A77353F}"/>
                  </a:ext>
                </a:extLst>
              </p:cNvPr>
              <p:cNvSpPr txBox="1"/>
              <p:nvPr/>
            </p:nvSpPr>
            <p:spPr>
              <a:xfrm>
                <a:off x="-16620" y="4857226"/>
                <a:ext cx="190507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/>
                  <a:t>Sample #1</a:t>
                </a:r>
              </a:p>
              <a:p>
                <a:pPr algn="ctr"/>
                <a:r>
                  <a:rPr lang="en-GB" dirty="0"/>
                  <a:t>n=30 </a:t>
                </a:r>
              </a:p>
              <a:p>
                <a:pPr algn="ctr"/>
                <a:r>
                  <a:rPr lang="en-GB" dirty="0"/>
                  <a:t>Sample mean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622ACE9-F887-6F91-9DC6-5BAD2A773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620" y="4857226"/>
                <a:ext cx="1905073" cy="923330"/>
              </a:xfrm>
              <a:prstGeom prst="rect">
                <a:avLst/>
              </a:prstGeom>
              <a:blipFill>
                <a:blip r:embed="rId5"/>
                <a:stretch>
                  <a:fillRect l="-1987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412ED091-BCAF-26A2-BC21-FA0AB1E9AA49}"/>
              </a:ext>
            </a:extLst>
          </p:cNvPr>
          <p:cNvSpPr/>
          <p:nvPr/>
        </p:nvSpPr>
        <p:spPr>
          <a:xfrm>
            <a:off x="2374291" y="1108661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FC5D00-F174-9BBD-EDAB-4611922E0EF8}"/>
              </a:ext>
            </a:extLst>
          </p:cNvPr>
          <p:cNvSpPr/>
          <p:nvPr/>
        </p:nvSpPr>
        <p:spPr>
          <a:xfrm>
            <a:off x="2040889" y="152264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59AA27B-F084-D3FB-4639-8780B95A797B}"/>
              </a:ext>
            </a:extLst>
          </p:cNvPr>
          <p:cNvSpPr/>
          <p:nvPr/>
        </p:nvSpPr>
        <p:spPr>
          <a:xfrm>
            <a:off x="1931705" y="1227969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55A5CB-3382-8ECD-0313-EE28B8E931A4}"/>
              </a:ext>
            </a:extLst>
          </p:cNvPr>
          <p:cNvSpPr/>
          <p:nvPr/>
        </p:nvSpPr>
        <p:spPr>
          <a:xfrm>
            <a:off x="2252371" y="1363813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ED9BE3-055A-BBAB-A4B7-33D9E527DE4A}"/>
              </a:ext>
            </a:extLst>
          </p:cNvPr>
          <p:cNvSpPr/>
          <p:nvPr/>
        </p:nvSpPr>
        <p:spPr>
          <a:xfrm>
            <a:off x="2262259" y="173634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B3E5157-4299-560B-F51A-02CB77BF00AD}"/>
              </a:ext>
            </a:extLst>
          </p:cNvPr>
          <p:cNvSpPr/>
          <p:nvPr/>
        </p:nvSpPr>
        <p:spPr>
          <a:xfrm>
            <a:off x="2528179" y="1862937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E90E1B-1E42-8787-D175-483F08DAE474}"/>
              </a:ext>
            </a:extLst>
          </p:cNvPr>
          <p:cNvSpPr/>
          <p:nvPr/>
        </p:nvSpPr>
        <p:spPr>
          <a:xfrm>
            <a:off x="2667661" y="2128660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95A7E01-2E9C-1631-68F7-706E8DDBB302}"/>
              </a:ext>
            </a:extLst>
          </p:cNvPr>
          <p:cNvSpPr/>
          <p:nvPr/>
        </p:nvSpPr>
        <p:spPr>
          <a:xfrm>
            <a:off x="2401587" y="2183252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56EC92A-FD56-F7F7-2D09-87B00D601D9F}"/>
              </a:ext>
            </a:extLst>
          </p:cNvPr>
          <p:cNvSpPr/>
          <p:nvPr/>
        </p:nvSpPr>
        <p:spPr>
          <a:xfrm>
            <a:off x="1608481" y="2092660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C349FC7-D331-ECCD-ADE4-5298C8A8E8BD}"/>
              </a:ext>
            </a:extLst>
          </p:cNvPr>
          <p:cNvSpPr/>
          <p:nvPr/>
        </p:nvSpPr>
        <p:spPr>
          <a:xfrm>
            <a:off x="2739661" y="2613557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AD90F89-014D-D86E-6AB0-6EE6C95512D0}"/>
              </a:ext>
            </a:extLst>
          </p:cNvPr>
          <p:cNvSpPr/>
          <p:nvPr/>
        </p:nvSpPr>
        <p:spPr>
          <a:xfrm>
            <a:off x="2127373" y="88597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C8038C0-AE9C-A390-99EA-82E2604E1FA0}"/>
              </a:ext>
            </a:extLst>
          </p:cNvPr>
          <p:cNvSpPr/>
          <p:nvPr/>
        </p:nvSpPr>
        <p:spPr>
          <a:xfrm>
            <a:off x="2987701" y="2355783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2351D8-11FE-C9D5-DD10-A2F01E010C05}"/>
              </a:ext>
            </a:extLst>
          </p:cNvPr>
          <p:cNvSpPr/>
          <p:nvPr/>
        </p:nvSpPr>
        <p:spPr>
          <a:xfrm>
            <a:off x="2532143" y="246332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B9D7F3B-D436-CCCA-024B-BE2DDD855E48}"/>
              </a:ext>
            </a:extLst>
          </p:cNvPr>
          <p:cNvSpPr/>
          <p:nvPr/>
        </p:nvSpPr>
        <p:spPr>
          <a:xfrm>
            <a:off x="3024835" y="278756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FA0691-C0F4-8267-A980-B974D67E57F9}"/>
              </a:ext>
            </a:extLst>
          </p:cNvPr>
          <p:cNvSpPr/>
          <p:nvPr/>
        </p:nvSpPr>
        <p:spPr>
          <a:xfrm>
            <a:off x="2441551" y="2805992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227A3BD-2AFE-CA66-3259-37C7981C7190}"/>
              </a:ext>
            </a:extLst>
          </p:cNvPr>
          <p:cNvSpPr/>
          <p:nvPr/>
        </p:nvSpPr>
        <p:spPr>
          <a:xfrm>
            <a:off x="2688421" y="316044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BFC7036-4AB4-8CD5-B01C-8F94A8464BAE}"/>
              </a:ext>
            </a:extLst>
          </p:cNvPr>
          <p:cNvSpPr/>
          <p:nvPr/>
        </p:nvSpPr>
        <p:spPr>
          <a:xfrm>
            <a:off x="2359051" y="3153603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C48E5E0-0CEC-2B41-85D1-FD570F8A6CCA}"/>
              </a:ext>
            </a:extLst>
          </p:cNvPr>
          <p:cNvSpPr/>
          <p:nvPr/>
        </p:nvSpPr>
        <p:spPr>
          <a:xfrm>
            <a:off x="3162571" y="3078557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65AF6BB-6AC4-C21B-2BDD-19217792B787}"/>
              </a:ext>
            </a:extLst>
          </p:cNvPr>
          <p:cNvSpPr/>
          <p:nvPr/>
        </p:nvSpPr>
        <p:spPr>
          <a:xfrm>
            <a:off x="2604143" y="345812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14CE53-BDD7-AAEE-B656-BCFE64F38765}"/>
              </a:ext>
            </a:extLst>
          </p:cNvPr>
          <p:cNvSpPr/>
          <p:nvPr/>
        </p:nvSpPr>
        <p:spPr>
          <a:xfrm>
            <a:off x="2247699" y="3619156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E385F5F-5F98-E804-3352-0B5C861D70FA}"/>
                  </a:ext>
                </a:extLst>
              </p:cNvPr>
              <p:cNvSpPr txBox="1"/>
              <p:nvPr/>
            </p:nvSpPr>
            <p:spPr>
              <a:xfrm>
                <a:off x="2125779" y="4848837"/>
                <a:ext cx="191039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/>
                  <a:t>Sample #2</a:t>
                </a:r>
              </a:p>
              <a:p>
                <a:pPr algn="ctr"/>
                <a:r>
                  <a:rPr lang="en-GB" dirty="0"/>
                  <a:t>n=30 </a:t>
                </a:r>
              </a:p>
              <a:p>
                <a:pPr algn="ctr"/>
                <a:r>
                  <a:rPr lang="en-GB" dirty="0"/>
                  <a:t>Sample mean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BC1FD9-4E93-A1E7-0562-50DEA5DD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79" y="4848837"/>
                <a:ext cx="1910395" cy="923330"/>
              </a:xfrm>
              <a:prstGeom prst="rect">
                <a:avLst/>
              </a:prstGeom>
              <a:blipFill>
                <a:blip r:embed="rId6"/>
                <a:stretch>
                  <a:fillRect l="-2556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18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DCDA-435F-CCE7-F7D1-510D1C31A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ited Kingdom Stock Illustration - Download Image Now - Map, UK, England -  iStock">
            <a:extLst>
              <a:ext uri="{FF2B5EF4-FFF2-40B4-BE49-F238E27FC236}">
                <a16:creationId xmlns:a16="http://schemas.microsoft.com/office/drawing/2014/main" id="{105346EC-3EA3-0C2A-BC2E-8A8F1A0C9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15" y="0"/>
            <a:ext cx="3390027" cy="412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verage household income, UK - Office for National Statistics">
            <a:extLst>
              <a:ext uri="{FF2B5EF4-FFF2-40B4-BE49-F238E27FC236}">
                <a16:creationId xmlns:a16="http://schemas.microsoft.com/office/drawing/2014/main" id="{8779AF09-E0C5-64A7-3E64-51EBF6FA7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085" y="480096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6CA3B52-41F5-CB09-79D0-4D6259D2FF79}"/>
              </a:ext>
            </a:extLst>
          </p:cNvPr>
          <p:cNvSpPr/>
          <p:nvPr/>
        </p:nvSpPr>
        <p:spPr>
          <a:xfrm>
            <a:off x="5033540" y="1943101"/>
            <a:ext cx="3347207" cy="1748055"/>
          </a:xfrm>
          <a:custGeom>
            <a:avLst/>
            <a:gdLst>
              <a:gd name="connsiteX0" fmla="*/ 0 w 3590488"/>
              <a:gd name="connsiteY0" fmla="*/ 1748055 h 1748055"/>
              <a:gd name="connsiteX1" fmla="*/ 822121 w 3590488"/>
              <a:gd name="connsiteY1" fmla="*/ 3145 h 1748055"/>
              <a:gd name="connsiteX2" fmla="*/ 2499919 w 3590488"/>
              <a:gd name="connsiteY2" fmla="*/ 1328605 h 1748055"/>
              <a:gd name="connsiteX3" fmla="*/ 3590488 w 3590488"/>
              <a:gd name="connsiteY3" fmla="*/ 1680943 h 174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0488" h="1748055">
                <a:moveTo>
                  <a:pt x="0" y="1748055"/>
                </a:moveTo>
                <a:cubicBezTo>
                  <a:pt x="202734" y="910554"/>
                  <a:pt x="405468" y="73053"/>
                  <a:pt x="822121" y="3145"/>
                </a:cubicBezTo>
                <a:cubicBezTo>
                  <a:pt x="1238774" y="-66763"/>
                  <a:pt x="2038525" y="1048972"/>
                  <a:pt x="2499919" y="1328605"/>
                </a:cubicBezTo>
                <a:cubicBezTo>
                  <a:pt x="2961313" y="1608238"/>
                  <a:pt x="3275900" y="1644590"/>
                  <a:pt x="3590488" y="1680943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996A6-522E-F6EE-0A1D-D93B9612BC16}"/>
              </a:ext>
            </a:extLst>
          </p:cNvPr>
          <p:cNvSpPr txBox="1"/>
          <p:nvPr/>
        </p:nvSpPr>
        <p:spPr>
          <a:xfrm>
            <a:off x="5514539" y="213724"/>
            <a:ext cx="178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Annual Income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41C520-6A9A-39DF-8E95-10E51D95E30B}"/>
              </a:ext>
            </a:extLst>
          </p:cNvPr>
          <p:cNvGrpSpPr/>
          <p:nvPr/>
        </p:nvGrpSpPr>
        <p:grpSpPr>
          <a:xfrm>
            <a:off x="6919548" y="2267299"/>
            <a:ext cx="2370201" cy="873088"/>
            <a:chOff x="6710988" y="3156532"/>
            <a:chExt cx="2370201" cy="8730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908990-5634-9568-2FD4-8A28245CF082}"/>
                </a:ext>
              </a:extLst>
            </p:cNvPr>
            <p:cNvSpPr txBox="1"/>
            <p:nvPr/>
          </p:nvSpPr>
          <p:spPr>
            <a:xfrm>
              <a:off x="6710988" y="3156532"/>
              <a:ext cx="23702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Lognormal distribution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69C03BC-AB13-7C80-2685-AC12E81430BB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7180976" y="3525864"/>
              <a:ext cx="715113" cy="50375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5628640-4827-3F85-32C6-D7F04D2F9B48}"/>
                  </a:ext>
                </a:extLst>
              </p:cNvPr>
              <p:cNvSpPr txBox="1"/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dirty="0"/>
                  <a:t>Population mean: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          Population SD: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910679E-6E56-2128-4A08-6E342640D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blipFill>
                <a:blip r:embed="rId4"/>
                <a:stretch>
                  <a:fillRect l="-1314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77742FF-841D-3A23-45EE-58C62FACA1DB}"/>
                  </a:ext>
                </a:extLst>
              </p:cNvPr>
              <p:cNvSpPr txBox="1"/>
              <p:nvPr/>
            </p:nvSpPr>
            <p:spPr>
              <a:xfrm>
                <a:off x="-16620" y="4857226"/>
                <a:ext cx="190507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/>
                  <a:t>Sample #1</a:t>
                </a:r>
              </a:p>
              <a:p>
                <a:pPr algn="ctr"/>
                <a:r>
                  <a:rPr lang="en-GB" dirty="0"/>
                  <a:t>n=30 </a:t>
                </a:r>
              </a:p>
              <a:p>
                <a:pPr algn="ctr"/>
                <a:r>
                  <a:rPr lang="en-GB" dirty="0"/>
                  <a:t>Sample mean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77742FF-841D-3A23-45EE-58C62FACA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620" y="4857226"/>
                <a:ext cx="1905073" cy="923330"/>
              </a:xfrm>
              <a:prstGeom prst="rect">
                <a:avLst/>
              </a:prstGeom>
              <a:blipFill>
                <a:blip r:embed="rId5"/>
                <a:stretch>
                  <a:fillRect l="-1987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1BC7F3C3-67F5-38F9-319F-EC9DBBBEB5FE}"/>
              </a:ext>
            </a:extLst>
          </p:cNvPr>
          <p:cNvSpPr/>
          <p:nvPr/>
        </p:nvSpPr>
        <p:spPr>
          <a:xfrm>
            <a:off x="2415235" y="108136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266BDC-E3C6-1539-4EBA-B2CB60668EB7}"/>
              </a:ext>
            </a:extLst>
          </p:cNvPr>
          <p:cNvSpPr/>
          <p:nvPr/>
        </p:nvSpPr>
        <p:spPr>
          <a:xfrm>
            <a:off x="1959001" y="1481701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9E3002B-193E-8B40-ED3E-B0D81784C296}"/>
              </a:ext>
            </a:extLst>
          </p:cNvPr>
          <p:cNvSpPr/>
          <p:nvPr/>
        </p:nvSpPr>
        <p:spPr>
          <a:xfrm>
            <a:off x="1986297" y="1132433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7FDC8F-40A9-83B7-4CE9-11F94F65D45F}"/>
              </a:ext>
            </a:extLst>
          </p:cNvPr>
          <p:cNvSpPr/>
          <p:nvPr/>
        </p:nvSpPr>
        <p:spPr>
          <a:xfrm>
            <a:off x="2252371" y="148664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A2D30B-85E8-285D-57D8-2C4904C33362}"/>
              </a:ext>
            </a:extLst>
          </p:cNvPr>
          <p:cNvSpPr/>
          <p:nvPr/>
        </p:nvSpPr>
        <p:spPr>
          <a:xfrm>
            <a:off x="2180371" y="180458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80D47A-9926-8E74-D12A-93C728BAA5C1}"/>
              </a:ext>
            </a:extLst>
          </p:cNvPr>
          <p:cNvSpPr/>
          <p:nvPr/>
        </p:nvSpPr>
        <p:spPr>
          <a:xfrm>
            <a:off x="2446291" y="187658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AB462E1-445E-8E14-F557-37586D68C7E7}"/>
              </a:ext>
            </a:extLst>
          </p:cNvPr>
          <p:cNvSpPr/>
          <p:nvPr/>
        </p:nvSpPr>
        <p:spPr>
          <a:xfrm>
            <a:off x="2667661" y="2183252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BEDA923-2675-9D89-4E33-30BCBC71794C}"/>
              </a:ext>
            </a:extLst>
          </p:cNvPr>
          <p:cNvSpPr/>
          <p:nvPr/>
        </p:nvSpPr>
        <p:spPr>
          <a:xfrm>
            <a:off x="2374291" y="2183252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CD82E0-F491-1A91-7BA3-99879175CB6B}"/>
              </a:ext>
            </a:extLst>
          </p:cNvPr>
          <p:cNvSpPr/>
          <p:nvPr/>
        </p:nvSpPr>
        <p:spPr>
          <a:xfrm>
            <a:off x="1608481" y="2147252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1476A2-FF89-A7F5-BCB7-92929B14835F}"/>
              </a:ext>
            </a:extLst>
          </p:cNvPr>
          <p:cNvSpPr/>
          <p:nvPr/>
        </p:nvSpPr>
        <p:spPr>
          <a:xfrm>
            <a:off x="2698717" y="255896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84DA6E-3F0A-F05B-DE13-1612D0757880}"/>
              </a:ext>
            </a:extLst>
          </p:cNvPr>
          <p:cNvSpPr/>
          <p:nvPr/>
        </p:nvSpPr>
        <p:spPr>
          <a:xfrm>
            <a:off x="2086429" y="81773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8F24EE-9CAB-A80D-3566-577AE1820029}"/>
              </a:ext>
            </a:extLst>
          </p:cNvPr>
          <p:cNvSpPr/>
          <p:nvPr/>
        </p:nvSpPr>
        <p:spPr>
          <a:xfrm>
            <a:off x="2987701" y="241037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0488F38-56C8-487B-D02C-DE9EDDD1DC12}"/>
              </a:ext>
            </a:extLst>
          </p:cNvPr>
          <p:cNvSpPr/>
          <p:nvPr/>
        </p:nvSpPr>
        <p:spPr>
          <a:xfrm>
            <a:off x="2518495" y="2422381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BF3279-90DB-7F81-72B5-78C8103676D5}"/>
              </a:ext>
            </a:extLst>
          </p:cNvPr>
          <p:cNvSpPr/>
          <p:nvPr/>
        </p:nvSpPr>
        <p:spPr>
          <a:xfrm>
            <a:off x="2983891" y="2896749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5241C3-1D27-B780-7022-C2036958B86A}"/>
              </a:ext>
            </a:extLst>
          </p:cNvPr>
          <p:cNvSpPr/>
          <p:nvPr/>
        </p:nvSpPr>
        <p:spPr>
          <a:xfrm>
            <a:off x="2496143" y="2846936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7FBE185-D920-8B80-FD18-16D1E3F0E10A}"/>
              </a:ext>
            </a:extLst>
          </p:cNvPr>
          <p:cNvSpPr/>
          <p:nvPr/>
        </p:nvSpPr>
        <p:spPr>
          <a:xfrm>
            <a:off x="2743013" y="3119501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B53335-8386-F84B-B74A-E01CF1585135}"/>
              </a:ext>
            </a:extLst>
          </p:cNvPr>
          <p:cNvSpPr/>
          <p:nvPr/>
        </p:nvSpPr>
        <p:spPr>
          <a:xfrm>
            <a:off x="2304459" y="3153603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DB3C5BA-6DF0-0CD1-D716-7F39445D66FC}"/>
              </a:ext>
            </a:extLst>
          </p:cNvPr>
          <p:cNvSpPr/>
          <p:nvPr/>
        </p:nvSpPr>
        <p:spPr>
          <a:xfrm>
            <a:off x="3217163" y="316044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7CE1A4E-D9A8-AA1F-99CC-508AAEDC63C7}"/>
              </a:ext>
            </a:extLst>
          </p:cNvPr>
          <p:cNvSpPr/>
          <p:nvPr/>
        </p:nvSpPr>
        <p:spPr>
          <a:xfrm>
            <a:off x="2549551" y="345812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35B14AA-4827-8061-269D-A9CC86B73615}"/>
              </a:ext>
            </a:extLst>
          </p:cNvPr>
          <p:cNvSpPr/>
          <p:nvPr/>
        </p:nvSpPr>
        <p:spPr>
          <a:xfrm>
            <a:off x="2193107" y="3619156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83FFF05-E371-E5D5-E5EF-CAE2AB5A44EB}"/>
                  </a:ext>
                </a:extLst>
              </p:cNvPr>
              <p:cNvSpPr txBox="1"/>
              <p:nvPr/>
            </p:nvSpPr>
            <p:spPr>
              <a:xfrm>
                <a:off x="2125779" y="4848837"/>
                <a:ext cx="191039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/>
                  <a:t>Sample #2</a:t>
                </a:r>
              </a:p>
              <a:p>
                <a:pPr algn="ctr"/>
                <a:r>
                  <a:rPr lang="en-GB" dirty="0"/>
                  <a:t>n=30 </a:t>
                </a:r>
              </a:p>
              <a:p>
                <a:pPr algn="ctr"/>
                <a:r>
                  <a:rPr lang="en-GB" dirty="0"/>
                  <a:t>Sample mean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BC1FD9-4E93-A1E7-0562-50DEA5DD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79" y="4848837"/>
                <a:ext cx="1910395" cy="923330"/>
              </a:xfrm>
              <a:prstGeom prst="rect">
                <a:avLst/>
              </a:prstGeom>
              <a:blipFill>
                <a:blip r:embed="rId6"/>
                <a:stretch>
                  <a:fillRect l="-2556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D92232-B34D-70ED-0526-5B9D7DA70D60}"/>
                  </a:ext>
                </a:extLst>
              </p:cNvPr>
              <p:cNvSpPr txBox="1"/>
              <p:nvPr/>
            </p:nvSpPr>
            <p:spPr>
              <a:xfrm>
                <a:off x="4279303" y="4857226"/>
                <a:ext cx="185749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/>
                  <a:t>Sample #3</a:t>
                </a:r>
              </a:p>
              <a:p>
                <a:pPr algn="ctr"/>
                <a:r>
                  <a:rPr lang="en-GB" dirty="0"/>
                  <a:t>n=30</a:t>
                </a:r>
              </a:p>
              <a:p>
                <a:pPr algn="ctr"/>
                <a:r>
                  <a:rPr lang="en-GB" dirty="0"/>
                  <a:t>Sample mean 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089619-D6AD-5345-3BB6-731855621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303" y="4857226"/>
                <a:ext cx="1857495" cy="923330"/>
              </a:xfrm>
              <a:prstGeom prst="rect">
                <a:avLst/>
              </a:prstGeom>
              <a:blipFill>
                <a:blip r:embed="rId7"/>
                <a:stretch>
                  <a:fillRect l="-2295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33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4201-AAE1-0706-F6FD-59436C3B0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ited Kingdom Stock Illustration - Download Image Now - Map, UK, England -  iStock">
            <a:extLst>
              <a:ext uri="{FF2B5EF4-FFF2-40B4-BE49-F238E27FC236}">
                <a16:creationId xmlns:a16="http://schemas.microsoft.com/office/drawing/2014/main" id="{968F5666-30E5-C425-9E77-2146BCB61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15" y="0"/>
            <a:ext cx="3390027" cy="412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verage household income, UK - Office for National Statistics">
            <a:extLst>
              <a:ext uri="{FF2B5EF4-FFF2-40B4-BE49-F238E27FC236}">
                <a16:creationId xmlns:a16="http://schemas.microsoft.com/office/drawing/2014/main" id="{1F87E250-7DBF-20A4-4F2D-3B1E0BAED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085" y="480096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BA4CCC1-5AFB-33A7-FEEA-E95ACC3A2A9A}"/>
              </a:ext>
            </a:extLst>
          </p:cNvPr>
          <p:cNvSpPr/>
          <p:nvPr/>
        </p:nvSpPr>
        <p:spPr>
          <a:xfrm>
            <a:off x="5033540" y="1943101"/>
            <a:ext cx="3347207" cy="1748055"/>
          </a:xfrm>
          <a:custGeom>
            <a:avLst/>
            <a:gdLst>
              <a:gd name="connsiteX0" fmla="*/ 0 w 3590488"/>
              <a:gd name="connsiteY0" fmla="*/ 1748055 h 1748055"/>
              <a:gd name="connsiteX1" fmla="*/ 822121 w 3590488"/>
              <a:gd name="connsiteY1" fmla="*/ 3145 h 1748055"/>
              <a:gd name="connsiteX2" fmla="*/ 2499919 w 3590488"/>
              <a:gd name="connsiteY2" fmla="*/ 1328605 h 1748055"/>
              <a:gd name="connsiteX3" fmla="*/ 3590488 w 3590488"/>
              <a:gd name="connsiteY3" fmla="*/ 1680943 h 174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0488" h="1748055">
                <a:moveTo>
                  <a:pt x="0" y="1748055"/>
                </a:moveTo>
                <a:cubicBezTo>
                  <a:pt x="202734" y="910554"/>
                  <a:pt x="405468" y="73053"/>
                  <a:pt x="822121" y="3145"/>
                </a:cubicBezTo>
                <a:cubicBezTo>
                  <a:pt x="1238774" y="-66763"/>
                  <a:pt x="2038525" y="1048972"/>
                  <a:pt x="2499919" y="1328605"/>
                </a:cubicBezTo>
                <a:cubicBezTo>
                  <a:pt x="2961313" y="1608238"/>
                  <a:pt x="3275900" y="1644590"/>
                  <a:pt x="3590488" y="1680943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C64FD-73DC-4929-1254-6339FCD5C444}"/>
              </a:ext>
            </a:extLst>
          </p:cNvPr>
          <p:cNvSpPr txBox="1"/>
          <p:nvPr/>
        </p:nvSpPr>
        <p:spPr>
          <a:xfrm>
            <a:off x="5514539" y="213724"/>
            <a:ext cx="178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Annual Income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4CC859-5BC6-B8EE-DCB0-20B8F5DBFE2B}"/>
              </a:ext>
            </a:extLst>
          </p:cNvPr>
          <p:cNvGrpSpPr/>
          <p:nvPr/>
        </p:nvGrpSpPr>
        <p:grpSpPr>
          <a:xfrm>
            <a:off x="6919548" y="2267299"/>
            <a:ext cx="2370201" cy="873088"/>
            <a:chOff x="6710988" y="3156532"/>
            <a:chExt cx="2370201" cy="8730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66879F-2AE8-EC77-722B-E2E22B0F073C}"/>
                </a:ext>
              </a:extLst>
            </p:cNvPr>
            <p:cNvSpPr txBox="1"/>
            <p:nvPr/>
          </p:nvSpPr>
          <p:spPr>
            <a:xfrm>
              <a:off x="6710988" y="3156532"/>
              <a:ext cx="23702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Lognormal distribution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F2914D0-09D5-F172-4BEE-4CF72BE6227E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7180976" y="3525864"/>
              <a:ext cx="715113" cy="50375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DC4B2DC-9A1B-6BB8-8611-6B01EDAAB660}"/>
                  </a:ext>
                </a:extLst>
              </p:cNvPr>
              <p:cNvSpPr txBox="1"/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dirty="0"/>
                  <a:t>Population mean: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          Population SD: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910679E-6E56-2128-4A08-6E342640D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878" y="4196148"/>
                <a:ext cx="4176913" cy="369332"/>
              </a:xfrm>
              <a:prstGeom prst="rect">
                <a:avLst/>
              </a:prstGeom>
              <a:blipFill>
                <a:blip r:embed="rId4"/>
                <a:stretch>
                  <a:fillRect l="-1314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A4F34B7-4775-880D-CE63-A4DE33ED2524}"/>
                  </a:ext>
                </a:extLst>
              </p:cNvPr>
              <p:cNvSpPr txBox="1"/>
              <p:nvPr/>
            </p:nvSpPr>
            <p:spPr>
              <a:xfrm>
                <a:off x="-16620" y="4857226"/>
                <a:ext cx="190507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/>
                  <a:t>Sample #1</a:t>
                </a:r>
              </a:p>
              <a:p>
                <a:pPr algn="ctr"/>
                <a:r>
                  <a:rPr lang="en-GB" dirty="0"/>
                  <a:t>n=30 </a:t>
                </a:r>
              </a:p>
              <a:p>
                <a:pPr algn="ctr"/>
                <a:r>
                  <a:rPr lang="en-GB" dirty="0"/>
                  <a:t>Sample mean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A4F34B7-4775-880D-CE63-A4DE33ED2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620" y="4857226"/>
                <a:ext cx="1905073" cy="923330"/>
              </a:xfrm>
              <a:prstGeom prst="rect">
                <a:avLst/>
              </a:prstGeom>
              <a:blipFill>
                <a:blip r:embed="rId5"/>
                <a:stretch>
                  <a:fillRect l="-1987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D00DBA05-71A7-9A07-293B-6BAD21945F53}"/>
              </a:ext>
            </a:extLst>
          </p:cNvPr>
          <p:cNvSpPr/>
          <p:nvPr/>
        </p:nvSpPr>
        <p:spPr>
          <a:xfrm>
            <a:off x="2415235" y="108136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B93EAA-0A88-C8B6-C311-F2E1A33B2967}"/>
              </a:ext>
            </a:extLst>
          </p:cNvPr>
          <p:cNvSpPr/>
          <p:nvPr/>
        </p:nvSpPr>
        <p:spPr>
          <a:xfrm>
            <a:off x="1959001" y="1481701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8EFBD6-EDD2-A9E4-67B9-352ABCD26D4B}"/>
              </a:ext>
            </a:extLst>
          </p:cNvPr>
          <p:cNvSpPr/>
          <p:nvPr/>
        </p:nvSpPr>
        <p:spPr>
          <a:xfrm>
            <a:off x="1986297" y="1132433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B45790-5B0C-FAD8-4792-782AE12AF070}"/>
              </a:ext>
            </a:extLst>
          </p:cNvPr>
          <p:cNvSpPr/>
          <p:nvPr/>
        </p:nvSpPr>
        <p:spPr>
          <a:xfrm>
            <a:off x="2252371" y="148664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860A65-B923-E2D9-72D4-B6B72F8F292C}"/>
              </a:ext>
            </a:extLst>
          </p:cNvPr>
          <p:cNvSpPr/>
          <p:nvPr/>
        </p:nvSpPr>
        <p:spPr>
          <a:xfrm>
            <a:off x="2180371" y="180458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4F0A3A-5DF5-60F0-B386-48DB9CD2333C}"/>
              </a:ext>
            </a:extLst>
          </p:cNvPr>
          <p:cNvSpPr/>
          <p:nvPr/>
        </p:nvSpPr>
        <p:spPr>
          <a:xfrm>
            <a:off x="2446291" y="187658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2A041E-C7AA-D281-8309-5B038886B284}"/>
              </a:ext>
            </a:extLst>
          </p:cNvPr>
          <p:cNvSpPr/>
          <p:nvPr/>
        </p:nvSpPr>
        <p:spPr>
          <a:xfrm>
            <a:off x="2667661" y="2183252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081EB2-1E9D-FCF8-FCEC-6EA909EB6ACF}"/>
              </a:ext>
            </a:extLst>
          </p:cNvPr>
          <p:cNvSpPr/>
          <p:nvPr/>
        </p:nvSpPr>
        <p:spPr>
          <a:xfrm>
            <a:off x="2374291" y="2183252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252BF8-E119-2D84-684F-142155DA1D18}"/>
              </a:ext>
            </a:extLst>
          </p:cNvPr>
          <p:cNvSpPr/>
          <p:nvPr/>
        </p:nvSpPr>
        <p:spPr>
          <a:xfrm>
            <a:off x="1608481" y="2147252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9221583-0252-A110-67BB-D3AED625A56B}"/>
              </a:ext>
            </a:extLst>
          </p:cNvPr>
          <p:cNvSpPr/>
          <p:nvPr/>
        </p:nvSpPr>
        <p:spPr>
          <a:xfrm>
            <a:off x="2698717" y="255896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84861C-47FF-A332-2662-8D1160F38404}"/>
              </a:ext>
            </a:extLst>
          </p:cNvPr>
          <p:cNvSpPr/>
          <p:nvPr/>
        </p:nvSpPr>
        <p:spPr>
          <a:xfrm>
            <a:off x="2086429" y="81773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1B9E8D-4C59-4F61-516D-74AF60322FD1}"/>
              </a:ext>
            </a:extLst>
          </p:cNvPr>
          <p:cNvSpPr/>
          <p:nvPr/>
        </p:nvSpPr>
        <p:spPr>
          <a:xfrm>
            <a:off x="2987701" y="241037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1EAC19-0FA7-C3A6-FB89-CC0A3AA1009E}"/>
              </a:ext>
            </a:extLst>
          </p:cNvPr>
          <p:cNvSpPr/>
          <p:nvPr/>
        </p:nvSpPr>
        <p:spPr>
          <a:xfrm>
            <a:off x="2518495" y="2422381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C12C4DC-AC01-2F58-7F01-3F5CCFDFBEA0}"/>
              </a:ext>
            </a:extLst>
          </p:cNvPr>
          <p:cNvSpPr/>
          <p:nvPr/>
        </p:nvSpPr>
        <p:spPr>
          <a:xfrm>
            <a:off x="2983891" y="2896749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3B06F87-A192-BC5A-22BF-6745D4AF7F15}"/>
              </a:ext>
            </a:extLst>
          </p:cNvPr>
          <p:cNvSpPr/>
          <p:nvPr/>
        </p:nvSpPr>
        <p:spPr>
          <a:xfrm>
            <a:off x="2496143" y="2846936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BD2F9F0-4DC2-90B4-D2D0-492E645890D0}"/>
              </a:ext>
            </a:extLst>
          </p:cNvPr>
          <p:cNvSpPr/>
          <p:nvPr/>
        </p:nvSpPr>
        <p:spPr>
          <a:xfrm>
            <a:off x="2743013" y="3119501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4A1EA4E-5DAD-1CCA-C1D8-5F2580AC9359}"/>
              </a:ext>
            </a:extLst>
          </p:cNvPr>
          <p:cNvSpPr/>
          <p:nvPr/>
        </p:nvSpPr>
        <p:spPr>
          <a:xfrm>
            <a:off x="2304459" y="3153603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D3C3D7-40C9-C5D6-8370-9C003BACC01A}"/>
              </a:ext>
            </a:extLst>
          </p:cNvPr>
          <p:cNvSpPr/>
          <p:nvPr/>
        </p:nvSpPr>
        <p:spPr>
          <a:xfrm>
            <a:off x="3217163" y="316044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5EC4962-5A63-5D00-4F8C-5BA0960A0589}"/>
              </a:ext>
            </a:extLst>
          </p:cNvPr>
          <p:cNvSpPr/>
          <p:nvPr/>
        </p:nvSpPr>
        <p:spPr>
          <a:xfrm>
            <a:off x="2549551" y="3458125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4777AE1-1A29-F9D9-BD81-BD6808C6CA64}"/>
              </a:ext>
            </a:extLst>
          </p:cNvPr>
          <p:cNvSpPr/>
          <p:nvPr/>
        </p:nvSpPr>
        <p:spPr>
          <a:xfrm>
            <a:off x="2193107" y="3619156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B540FF-05FA-F3C1-43FE-587341BAC6F3}"/>
                  </a:ext>
                </a:extLst>
              </p:cNvPr>
              <p:cNvSpPr txBox="1"/>
              <p:nvPr/>
            </p:nvSpPr>
            <p:spPr>
              <a:xfrm>
                <a:off x="2125779" y="4848837"/>
                <a:ext cx="191039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/>
                  <a:t>Sample #2</a:t>
                </a:r>
              </a:p>
              <a:p>
                <a:pPr algn="ctr"/>
                <a:r>
                  <a:rPr lang="en-GB" dirty="0"/>
                  <a:t>n=30 </a:t>
                </a:r>
              </a:p>
              <a:p>
                <a:pPr algn="ctr"/>
                <a:r>
                  <a:rPr lang="en-GB" dirty="0"/>
                  <a:t>Sample mean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BC1FD9-4E93-A1E7-0562-50DEA5DD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79" y="4848837"/>
                <a:ext cx="1910395" cy="923330"/>
              </a:xfrm>
              <a:prstGeom prst="rect">
                <a:avLst/>
              </a:prstGeom>
              <a:blipFill>
                <a:blip r:embed="rId6"/>
                <a:stretch>
                  <a:fillRect l="-2556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2626DCE-568C-44E1-1779-9B1A48E7C055}"/>
                  </a:ext>
                </a:extLst>
              </p:cNvPr>
              <p:cNvSpPr txBox="1"/>
              <p:nvPr/>
            </p:nvSpPr>
            <p:spPr>
              <a:xfrm>
                <a:off x="4279303" y="4857226"/>
                <a:ext cx="185749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/>
                  <a:t>Sample #3</a:t>
                </a:r>
              </a:p>
              <a:p>
                <a:pPr algn="ctr"/>
                <a:r>
                  <a:rPr lang="en-GB" dirty="0"/>
                  <a:t>n=30</a:t>
                </a:r>
              </a:p>
              <a:p>
                <a:pPr algn="ctr"/>
                <a:r>
                  <a:rPr lang="en-GB" dirty="0"/>
                  <a:t>Sample mean 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089619-D6AD-5345-3BB6-731855621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303" y="4857226"/>
                <a:ext cx="1857495" cy="923330"/>
              </a:xfrm>
              <a:prstGeom prst="rect">
                <a:avLst/>
              </a:prstGeom>
              <a:blipFill>
                <a:blip r:embed="rId7"/>
                <a:stretch>
                  <a:fillRect l="-2295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066EE808-3D9C-8574-05A6-C8A5AE9DD217}"/>
              </a:ext>
            </a:extLst>
          </p:cNvPr>
          <p:cNvGrpSpPr/>
          <p:nvPr/>
        </p:nvGrpSpPr>
        <p:grpSpPr>
          <a:xfrm>
            <a:off x="6409334" y="5238502"/>
            <a:ext cx="376800" cy="72000"/>
            <a:chOff x="7122253" y="5437464"/>
            <a:chExt cx="376800" cy="72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44E845B-C998-C9AC-9DD5-2FAD145D5084}"/>
                </a:ext>
              </a:extLst>
            </p:cNvPr>
            <p:cNvSpPr/>
            <p:nvPr/>
          </p:nvSpPr>
          <p:spPr>
            <a:xfrm>
              <a:off x="7122253" y="543746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D257555-3421-A2FC-3652-F55938D989D9}"/>
                </a:ext>
              </a:extLst>
            </p:cNvPr>
            <p:cNvSpPr/>
            <p:nvPr/>
          </p:nvSpPr>
          <p:spPr>
            <a:xfrm>
              <a:off x="7274653" y="543746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BF3F432-83FE-D4C0-6D7C-AB762D7EC2B9}"/>
                </a:ext>
              </a:extLst>
            </p:cNvPr>
            <p:cNvSpPr/>
            <p:nvPr/>
          </p:nvSpPr>
          <p:spPr>
            <a:xfrm>
              <a:off x="7427053" y="543746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AAFA1B9-DEC7-FFD8-C67D-A136F3B0E585}"/>
              </a:ext>
            </a:extLst>
          </p:cNvPr>
          <p:cNvSpPr txBox="1"/>
          <p:nvPr/>
        </p:nvSpPr>
        <p:spPr>
          <a:xfrm>
            <a:off x="6957157" y="5089836"/>
            <a:ext cx="206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All possible samples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8C7F5A-296B-C733-22A7-69433479F8F0}"/>
              </a:ext>
            </a:extLst>
          </p:cNvPr>
          <p:cNvSpPr txBox="1"/>
          <p:nvPr/>
        </p:nvSpPr>
        <p:spPr>
          <a:xfrm>
            <a:off x="2216371" y="6110242"/>
            <a:ext cx="4830168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How is the sample mean distributed?</a:t>
            </a:r>
          </a:p>
        </p:txBody>
      </p:sp>
    </p:spTree>
    <p:extLst>
      <p:ext uri="{BB962C8B-B14F-4D97-AF65-F5344CB8AC3E}">
        <p14:creationId xmlns:p14="http://schemas.microsoft.com/office/powerpoint/2010/main" val="139626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7698AB-2F15-CD6F-C1B0-4B0A2471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5" y="103314"/>
            <a:ext cx="7886700" cy="473067"/>
          </a:xfrm>
        </p:spPr>
        <p:txBody>
          <a:bodyPr>
            <a:normAutofit fontScale="90000"/>
          </a:bodyPr>
          <a:lstStyle/>
          <a:p>
            <a:r>
              <a:rPr lang="en-GB" sz="3000" b="1" dirty="0">
                <a:latin typeface="Arial" panose="020B0604020202020204" pitchFamily="34" charset="0"/>
                <a:cs typeface="Arial" panose="020B0604020202020204" pitchFamily="34" charset="0"/>
              </a:rPr>
              <a:t>Law of large numbers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BCC92E-95BF-14DF-CB6A-FBB3E0F621A5}"/>
              </a:ext>
            </a:extLst>
          </p:cNvPr>
          <p:cNvGrpSpPr/>
          <p:nvPr/>
        </p:nvGrpSpPr>
        <p:grpSpPr>
          <a:xfrm>
            <a:off x="144072" y="576381"/>
            <a:ext cx="8855856" cy="1678590"/>
            <a:chOff x="144072" y="576381"/>
            <a:chExt cx="8855856" cy="16785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itle 1">
                  <a:extLst>
                    <a:ext uri="{FF2B5EF4-FFF2-40B4-BE49-F238E27FC236}">
                      <a16:creationId xmlns:a16="http://schemas.microsoft.com/office/drawing/2014/main" id="{34536AE6-1103-7176-98FB-AEDAB430679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4072" y="576381"/>
                  <a:ext cx="8855856" cy="117880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r>
                    <a:rPr lang="en-GB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Statement 1: </a:t>
                  </a:r>
                  <a:r>
                    <a:rPr lang="en-GB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The mean of the sample mean (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a14:m>
                  <a:r>
                    <a:rPr lang="en-GB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 is the population mean (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</m:oMath>
                  </a14:m>
                  <a:r>
                    <a:rPr lang="en-GB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).</a:t>
                  </a:r>
                </a:p>
              </p:txBody>
            </p:sp>
          </mc:Choice>
          <mc:Fallback xmlns="">
            <p:sp>
              <p:nvSpPr>
                <p:cNvPr id="2" name="Title 1">
                  <a:extLst>
                    <a:ext uri="{FF2B5EF4-FFF2-40B4-BE49-F238E27FC236}">
                      <a16:creationId xmlns:a16="http://schemas.microsoft.com/office/drawing/2014/main" id="{34536AE6-1103-7176-98FB-AEDAB4306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72" y="576381"/>
                  <a:ext cx="8855856" cy="1178803"/>
                </a:xfrm>
                <a:prstGeom prst="rect">
                  <a:avLst/>
                </a:prstGeom>
                <a:blipFill>
                  <a:blip r:embed="rId2"/>
                  <a:stretch>
                    <a:fillRect l="-11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5C96637-5E3D-D1AC-66FC-756E89740C7A}"/>
                    </a:ext>
                  </a:extLst>
                </p:cNvPr>
                <p:cNvSpPr txBox="1"/>
                <p:nvPr/>
              </p:nvSpPr>
              <p:spPr>
                <a:xfrm>
                  <a:off x="3347207" y="1793306"/>
                  <a:ext cx="1130374" cy="430887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sub>
                        </m:s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5C96637-5E3D-D1AC-66FC-756E89740C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7207" y="1793306"/>
                  <a:ext cx="1130374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6667" r="-5556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3B67F79-43C4-67D5-692D-DCDEB45E9846}"/>
                    </a:ext>
                  </a:extLst>
                </p:cNvPr>
                <p:cNvSpPr txBox="1"/>
                <p:nvPr/>
              </p:nvSpPr>
              <p:spPr>
                <a:xfrm>
                  <a:off x="4773500" y="1793306"/>
                  <a:ext cx="382136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i="1" dirty="0">
                      <a:solidFill>
                        <a:srgbClr val="00B050"/>
                      </a:solidFill>
                    </a:rPr>
                    <a:t>Independent of sample size </a:t>
                  </a:r>
                  <a14:m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endParaRPr lang="en-GB" sz="2400" b="1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3B67F79-43C4-67D5-692D-DCDEB45E98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3500" y="1793306"/>
                  <a:ext cx="3821367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318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560227-66C8-4CAD-A39B-F26E9808104D}"/>
              </a:ext>
            </a:extLst>
          </p:cNvPr>
          <p:cNvGrpSpPr/>
          <p:nvPr/>
        </p:nvGrpSpPr>
        <p:grpSpPr>
          <a:xfrm>
            <a:off x="-16620" y="3310395"/>
            <a:ext cx="9033956" cy="3261734"/>
            <a:chOff x="-16620" y="2518822"/>
            <a:chExt cx="9033956" cy="32617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3980A54-B489-8267-4E0B-93BEB15D9BCC}"/>
                    </a:ext>
                  </a:extLst>
                </p:cNvPr>
                <p:cNvSpPr txBox="1"/>
                <p:nvPr/>
              </p:nvSpPr>
              <p:spPr>
                <a:xfrm>
                  <a:off x="-16620" y="4857226"/>
                  <a:ext cx="1905073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b="1" dirty="0"/>
                    <a:t>Sample #1</a:t>
                  </a:r>
                </a:p>
                <a:p>
                  <a:pPr algn="ctr"/>
                  <a:r>
                    <a:rPr lang="en-GB" dirty="0"/>
                    <a:t>n=30 </a:t>
                  </a:r>
                </a:p>
                <a:p>
                  <a:pPr algn="ctr"/>
                  <a:r>
                    <a:rPr lang="en-GB" dirty="0"/>
                    <a:t>Sample mean =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3980A54-B489-8267-4E0B-93BEB15D9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620" y="4857226"/>
                  <a:ext cx="1905073" cy="923330"/>
                </a:xfrm>
                <a:prstGeom prst="rect">
                  <a:avLst/>
                </a:prstGeom>
                <a:blipFill>
                  <a:blip r:embed="rId5"/>
                  <a:stretch>
                    <a:fillRect l="-1987" t="-2703"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D44D547-FFF9-91EA-88BE-C6F8CF9AC595}"/>
                    </a:ext>
                  </a:extLst>
                </p:cNvPr>
                <p:cNvSpPr txBox="1"/>
                <p:nvPr/>
              </p:nvSpPr>
              <p:spPr>
                <a:xfrm>
                  <a:off x="2125779" y="4848837"/>
                  <a:ext cx="1910395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b="1" dirty="0"/>
                    <a:t>Sample #2</a:t>
                  </a:r>
                </a:p>
                <a:p>
                  <a:pPr algn="ctr"/>
                  <a:r>
                    <a:rPr lang="en-GB" dirty="0"/>
                    <a:t>n=30 </a:t>
                  </a:r>
                </a:p>
                <a:p>
                  <a:pPr algn="ctr"/>
                  <a:r>
                    <a:rPr lang="en-GB" dirty="0"/>
                    <a:t>Sample mean =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D44D547-FFF9-91EA-88BE-C6F8CF9AC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5779" y="4848837"/>
                  <a:ext cx="1910395" cy="923330"/>
                </a:xfrm>
                <a:prstGeom prst="rect">
                  <a:avLst/>
                </a:prstGeom>
                <a:blipFill>
                  <a:blip r:embed="rId6"/>
                  <a:stretch>
                    <a:fillRect l="-1987" t="-2740" b="-109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6847E17-017E-0895-56FF-2F5CEDD4E1A4}"/>
                    </a:ext>
                  </a:extLst>
                </p:cNvPr>
                <p:cNvSpPr txBox="1"/>
                <p:nvPr/>
              </p:nvSpPr>
              <p:spPr>
                <a:xfrm>
                  <a:off x="4279303" y="4857226"/>
                  <a:ext cx="1857495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b="1" dirty="0"/>
                    <a:t>Sample #3</a:t>
                  </a:r>
                </a:p>
                <a:p>
                  <a:pPr algn="ctr"/>
                  <a:r>
                    <a:rPr lang="en-GB" dirty="0"/>
                    <a:t>n=30</a:t>
                  </a:r>
                </a:p>
                <a:p>
                  <a:pPr algn="ctr"/>
                  <a:r>
                    <a:rPr lang="en-GB" dirty="0"/>
                    <a:t>Sample mean =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6847E17-017E-0895-56FF-2F5CEDD4E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303" y="4857226"/>
                  <a:ext cx="1857495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027" t="-2703"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52CB8D2-3D89-0048-B398-FBD5816DE471}"/>
                </a:ext>
              </a:extLst>
            </p:cNvPr>
            <p:cNvGrpSpPr/>
            <p:nvPr/>
          </p:nvGrpSpPr>
          <p:grpSpPr>
            <a:xfrm>
              <a:off x="6409334" y="5238502"/>
              <a:ext cx="376800" cy="72000"/>
              <a:chOff x="7122253" y="5437464"/>
              <a:chExt cx="376800" cy="72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2385919-130C-FDFB-F932-B98D61FA7620}"/>
                  </a:ext>
                </a:extLst>
              </p:cNvPr>
              <p:cNvSpPr/>
              <p:nvPr/>
            </p:nvSpPr>
            <p:spPr>
              <a:xfrm>
                <a:off x="7122253" y="543746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E249C90-F5C6-C48E-208E-78229561F697}"/>
                  </a:ext>
                </a:extLst>
              </p:cNvPr>
              <p:cNvSpPr/>
              <p:nvPr/>
            </p:nvSpPr>
            <p:spPr>
              <a:xfrm>
                <a:off x="7274653" y="543746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AF94C03-CB0E-0511-6BAC-73EE7BF22025}"/>
                  </a:ext>
                </a:extLst>
              </p:cNvPr>
              <p:cNvSpPr/>
              <p:nvPr/>
            </p:nvSpPr>
            <p:spPr>
              <a:xfrm>
                <a:off x="7427053" y="543746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1FDEC9-BFF4-FCDD-CCDF-003D51CA78EA}"/>
                </a:ext>
              </a:extLst>
            </p:cNvPr>
            <p:cNvSpPr txBox="1"/>
            <p:nvPr/>
          </p:nvSpPr>
          <p:spPr>
            <a:xfrm>
              <a:off x="6957157" y="5089836"/>
              <a:ext cx="20601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All possible samples</a:t>
              </a:r>
            </a:p>
          </p:txBody>
        </p:sp>
        <p:grpSp>
          <p:nvGrpSpPr>
            <p:cNvPr id="6154" name="Group 6153">
              <a:extLst>
                <a:ext uri="{FF2B5EF4-FFF2-40B4-BE49-F238E27FC236}">
                  <a16:creationId xmlns:a16="http://schemas.microsoft.com/office/drawing/2014/main" id="{17D1BCA1-2A84-F41E-1C1A-67402E377A0B}"/>
                </a:ext>
              </a:extLst>
            </p:cNvPr>
            <p:cNvGrpSpPr/>
            <p:nvPr/>
          </p:nvGrpSpPr>
          <p:grpSpPr>
            <a:xfrm>
              <a:off x="1888453" y="2518822"/>
              <a:ext cx="4336852" cy="2206035"/>
              <a:chOff x="4160939" y="2533475"/>
              <a:chExt cx="4336852" cy="2206035"/>
            </a:xfrm>
          </p:grpSpPr>
          <p:sp>
            <p:nvSpPr>
              <p:cNvPr id="6153" name="Rectangle 6152">
                <a:extLst>
                  <a:ext uri="{FF2B5EF4-FFF2-40B4-BE49-F238E27FC236}">
                    <a16:creationId xmlns:a16="http://schemas.microsoft.com/office/drawing/2014/main" id="{A1A4198A-04B4-DFAC-239C-35B7F00AB915}"/>
                  </a:ext>
                </a:extLst>
              </p:cNvPr>
              <p:cNvSpPr/>
              <p:nvPr/>
            </p:nvSpPr>
            <p:spPr>
              <a:xfrm>
                <a:off x="4160939" y="2533475"/>
                <a:ext cx="4336852" cy="2206035"/>
              </a:xfrm>
              <a:prstGeom prst="rect">
                <a:avLst/>
              </a:prstGeom>
              <a:solidFill>
                <a:srgbClr val="FFF2CC">
                  <a:alpha val="6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06F2E4C-4ED9-E272-22E8-DA6F8E7E1CD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878" y="4196148"/>
                    <a:ext cx="41769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spcAft>
                        <a:spcPts val="1200"/>
                      </a:spcAft>
                    </a:pPr>
                    <a:r>
                      <a:rPr lang="en-GB" dirty="0"/>
                      <a:t>Population mean: </a:t>
                    </a:r>
                    <a14:m>
                      <m:oMath xmlns:m="http://schemas.openxmlformats.org/officeDocument/2006/math"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a14:m>
                    <a:r>
                      <a:rPr lang="en-GB" dirty="0"/>
                      <a:t>           Population SD: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oMath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06F2E4C-4ED9-E272-22E8-DA6F8E7E1C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0878" y="4196148"/>
                    <a:ext cx="417691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314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7F4071D2-3735-33E8-F111-54041AFA3289}"/>
                  </a:ext>
                </a:extLst>
              </p:cNvPr>
              <p:cNvSpPr/>
              <p:nvPr/>
            </p:nvSpPr>
            <p:spPr>
              <a:xfrm>
                <a:off x="4640040" y="2910980"/>
                <a:ext cx="2482214" cy="1116984"/>
              </a:xfrm>
              <a:custGeom>
                <a:avLst/>
                <a:gdLst>
                  <a:gd name="connsiteX0" fmla="*/ 0 w 3590488"/>
                  <a:gd name="connsiteY0" fmla="*/ 1748055 h 1748055"/>
                  <a:gd name="connsiteX1" fmla="*/ 822121 w 3590488"/>
                  <a:gd name="connsiteY1" fmla="*/ 3145 h 1748055"/>
                  <a:gd name="connsiteX2" fmla="*/ 2499919 w 3590488"/>
                  <a:gd name="connsiteY2" fmla="*/ 1328605 h 1748055"/>
                  <a:gd name="connsiteX3" fmla="*/ 3590488 w 3590488"/>
                  <a:gd name="connsiteY3" fmla="*/ 1680943 h 1748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90488" h="1748055">
                    <a:moveTo>
                      <a:pt x="0" y="1748055"/>
                    </a:moveTo>
                    <a:cubicBezTo>
                      <a:pt x="202734" y="910554"/>
                      <a:pt x="405468" y="73053"/>
                      <a:pt x="822121" y="3145"/>
                    </a:cubicBezTo>
                    <a:cubicBezTo>
                      <a:pt x="1238774" y="-66763"/>
                      <a:pt x="2038525" y="1048972"/>
                      <a:pt x="2499919" y="1328605"/>
                    </a:cubicBezTo>
                    <a:cubicBezTo>
                      <a:pt x="2961313" y="1608238"/>
                      <a:pt x="3275900" y="1644590"/>
                      <a:pt x="3590488" y="1680943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A2E76122-0610-5074-095B-210375B7EB9B}"/>
                  </a:ext>
                </a:extLst>
              </p:cNvPr>
              <p:cNvCxnSpPr>
                <a:cxnSpLocks/>
                <a:stCxn id="60" idx="0"/>
              </p:cNvCxnSpPr>
              <p:nvPr/>
            </p:nvCxnSpPr>
            <p:spPr>
              <a:xfrm flipV="1">
                <a:off x="4640040" y="2751589"/>
                <a:ext cx="0" cy="12763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1" name="Straight Arrow Connector 6150">
                <a:extLst>
                  <a:ext uri="{FF2B5EF4-FFF2-40B4-BE49-F238E27FC236}">
                    <a16:creationId xmlns:a16="http://schemas.microsoft.com/office/drawing/2014/main" id="{B8B3AB7E-2F0B-6A8F-9183-68B8A769FE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1651" y="4030611"/>
                <a:ext cx="272409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65" name="TextBox 6164">
                  <a:extLst>
                    <a:ext uri="{FF2B5EF4-FFF2-40B4-BE49-F238E27FC236}">
                      <a16:creationId xmlns:a16="http://schemas.microsoft.com/office/drawing/2014/main" id="{86566C6F-73EA-097D-A671-EB42E517048F}"/>
                    </a:ext>
                  </a:extLst>
                </p:cNvPr>
                <p:cNvSpPr txBox="1"/>
                <p:nvPr/>
              </p:nvSpPr>
              <p:spPr>
                <a:xfrm>
                  <a:off x="5165745" y="3939932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165" name="TextBox 6164">
                  <a:extLst>
                    <a:ext uri="{FF2B5EF4-FFF2-40B4-BE49-F238E27FC236}">
                      <a16:creationId xmlns:a16="http://schemas.microsoft.com/office/drawing/2014/main" id="{86566C6F-73EA-097D-A671-EB42E5170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5745" y="3939932"/>
                  <a:ext cx="1833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3333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67" name="TextBox 6166">
                  <a:extLst>
                    <a:ext uri="{FF2B5EF4-FFF2-40B4-BE49-F238E27FC236}">
                      <a16:creationId xmlns:a16="http://schemas.microsoft.com/office/drawing/2014/main" id="{609D5996-0EEF-3775-0C5B-FCCAFA7FDBBE}"/>
                    </a:ext>
                  </a:extLst>
                </p:cNvPr>
                <p:cNvSpPr txBox="1"/>
                <p:nvPr/>
              </p:nvSpPr>
              <p:spPr>
                <a:xfrm>
                  <a:off x="2322059" y="2518822"/>
                  <a:ext cx="6937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167" name="TextBox 6166">
                  <a:extLst>
                    <a:ext uri="{FF2B5EF4-FFF2-40B4-BE49-F238E27FC236}">
                      <a16:creationId xmlns:a16="http://schemas.microsoft.com/office/drawing/2014/main" id="{609D5996-0EEF-3775-0C5B-FCCAFA7FD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2059" y="2518822"/>
                  <a:ext cx="693716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4550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7698AB-2F15-CD6F-C1B0-4B0A2471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5" y="103314"/>
            <a:ext cx="7886700" cy="473067"/>
          </a:xfrm>
        </p:spPr>
        <p:txBody>
          <a:bodyPr>
            <a:normAutofit fontScale="90000"/>
          </a:bodyPr>
          <a:lstStyle/>
          <a:p>
            <a:r>
              <a:rPr lang="en-GB" sz="3000" b="1" dirty="0">
                <a:latin typeface="Arial" panose="020B0604020202020204" pitchFamily="34" charset="0"/>
                <a:cs typeface="Arial" panose="020B0604020202020204" pitchFamily="34" charset="0"/>
              </a:rPr>
              <a:t>Law of large numbers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7072765-EE00-08D9-76A1-BB411D566983}"/>
              </a:ext>
            </a:extLst>
          </p:cNvPr>
          <p:cNvGrpSpPr/>
          <p:nvPr/>
        </p:nvGrpSpPr>
        <p:grpSpPr>
          <a:xfrm>
            <a:off x="111975" y="760266"/>
            <a:ext cx="9110260" cy="1514609"/>
            <a:chOff x="111975" y="760266"/>
            <a:chExt cx="9110260" cy="151460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260C082-0881-D930-8E14-67E378DC07C7}"/>
                </a:ext>
              </a:extLst>
            </p:cNvPr>
            <p:cNvGrpSpPr/>
            <p:nvPr/>
          </p:nvGrpSpPr>
          <p:grpSpPr>
            <a:xfrm>
              <a:off x="111975" y="760266"/>
              <a:ext cx="9110260" cy="1509320"/>
              <a:chOff x="111975" y="760266"/>
              <a:chExt cx="9110260" cy="15093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itle 1">
                    <a:extLst>
                      <a:ext uri="{FF2B5EF4-FFF2-40B4-BE49-F238E27FC236}">
                        <a16:creationId xmlns:a16="http://schemas.microsoft.com/office/drawing/2014/main" id="{34536AE6-1103-7176-98FB-AEDAB430679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11975" y="760266"/>
                    <a:ext cx="8855856" cy="1403646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 anchor="ctr">
                    <a:noAutofit/>
                  </a:bodyPr>
                  <a:lstStyle>
                    <a:lvl1pPr algn="l" defTabSz="914400" rtl="0" eaLnBrk="1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buNone/>
                      <a:defRPr sz="44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r>
                      <a:rPr lang="en-GB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Statement 2: </a:t>
                    </a:r>
                    <a:r>
                      <a: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The SD of the sample mean (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GB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oMath>
                    </a14:m>
                    <a:r>
                      <a: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is:</a:t>
                    </a:r>
                  </a:p>
                  <a:p>
                    <a:endParaRPr lang="en-GB" sz="2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endParaRPr lang="en-GB" sz="2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" name="Title 1">
                    <a:extLst>
                      <a:ext uri="{FF2B5EF4-FFF2-40B4-BE49-F238E27FC236}">
                        <a16:creationId xmlns:a16="http://schemas.microsoft.com/office/drawing/2014/main" id="{34536AE6-1103-7176-98FB-AEDAB43067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975" y="760266"/>
                    <a:ext cx="8855856" cy="140364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00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6F4F3978-BD28-1199-3C41-4351D83F5093}"/>
                      </a:ext>
                    </a:extLst>
                  </p:cNvPr>
                  <p:cNvSpPr txBox="1"/>
                  <p:nvPr/>
                </p:nvSpPr>
                <p:spPr>
                  <a:xfrm>
                    <a:off x="4239332" y="1500145"/>
                    <a:ext cx="4982903" cy="7694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2400" i="1" dirty="0">
                        <a:solidFill>
                          <a:srgbClr val="00B050"/>
                        </a:solidFill>
                      </a:rPr>
                      <a:t>It depends on the size </a:t>
                    </a:r>
                    <a14:m>
                      <m:oMath xmlns:m="http://schemas.openxmlformats.org/officeDocument/2006/math">
                        <m:r>
                          <a:rPr lang="en-GB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GB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GB" sz="2400" i="1" dirty="0">
                        <a:solidFill>
                          <a:srgbClr val="00B050"/>
                        </a:solidFill>
                      </a:rPr>
                      <a:t>of the sample.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sub>
                        </m:s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sz="2000" i="1" dirty="0"/>
                      <a:t>also known as Standard Error (SE)</a:t>
                    </a: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6F4F3978-BD28-1199-3C41-4351D83F50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9332" y="1500145"/>
                    <a:ext cx="4982903" cy="76944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777" t="-4918" r="-1015"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7EDFE9B-D8DB-1068-895A-30C7492C97D7}"/>
                    </a:ext>
                  </a:extLst>
                </p:cNvPr>
                <p:cNvSpPr txBox="1"/>
                <p:nvPr/>
              </p:nvSpPr>
              <p:spPr>
                <a:xfrm>
                  <a:off x="2129346" y="1459395"/>
                  <a:ext cx="1360629" cy="81548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GB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sub>
                        </m:s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7EDFE9B-D8DB-1068-895A-30C7492C97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9346" y="1459395"/>
                  <a:ext cx="1360629" cy="815480"/>
                </a:xfrm>
                <a:prstGeom prst="rect">
                  <a:avLst/>
                </a:prstGeom>
                <a:blipFill>
                  <a:blip r:embed="rId4"/>
                  <a:stretch>
                    <a:fillRect l="-2752" r="-18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37C0BCB-7F79-F6C4-F1BD-F536C7ABFF5A}"/>
              </a:ext>
            </a:extLst>
          </p:cNvPr>
          <p:cNvGrpSpPr/>
          <p:nvPr/>
        </p:nvGrpSpPr>
        <p:grpSpPr>
          <a:xfrm>
            <a:off x="-16620" y="3310395"/>
            <a:ext cx="9033956" cy="3261734"/>
            <a:chOff x="-16620" y="2518822"/>
            <a:chExt cx="9033956" cy="32617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7AFBFA6-9858-06EE-E4F7-0692058CA978}"/>
                    </a:ext>
                  </a:extLst>
                </p:cNvPr>
                <p:cNvSpPr txBox="1"/>
                <p:nvPr/>
              </p:nvSpPr>
              <p:spPr>
                <a:xfrm>
                  <a:off x="-16620" y="4857226"/>
                  <a:ext cx="1905073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b="1" dirty="0"/>
                    <a:t>Sample #1</a:t>
                  </a:r>
                </a:p>
                <a:p>
                  <a:pPr algn="ctr"/>
                  <a:r>
                    <a:rPr lang="en-GB" dirty="0"/>
                    <a:t>n=30 </a:t>
                  </a:r>
                </a:p>
                <a:p>
                  <a:pPr algn="ctr"/>
                  <a:r>
                    <a:rPr lang="en-GB" dirty="0"/>
                    <a:t>Sample mean =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7AFBFA6-9858-06EE-E4F7-0692058CA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620" y="4857226"/>
                  <a:ext cx="1905073" cy="923330"/>
                </a:xfrm>
                <a:prstGeom prst="rect">
                  <a:avLst/>
                </a:prstGeom>
                <a:blipFill>
                  <a:blip r:embed="rId5"/>
                  <a:stretch>
                    <a:fillRect l="-1987" t="-2703"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7B74670-B491-73BF-BFCE-D9936FABF8EF}"/>
                    </a:ext>
                  </a:extLst>
                </p:cNvPr>
                <p:cNvSpPr txBox="1"/>
                <p:nvPr/>
              </p:nvSpPr>
              <p:spPr>
                <a:xfrm>
                  <a:off x="2125779" y="4848837"/>
                  <a:ext cx="1910395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b="1" dirty="0"/>
                    <a:t>Sample #2</a:t>
                  </a:r>
                </a:p>
                <a:p>
                  <a:pPr algn="ctr"/>
                  <a:r>
                    <a:rPr lang="en-GB" dirty="0"/>
                    <a:t>n=30 </a:t>
                  </a:r>
                </a:p>
                <a:p>
                  <a:pPr algn="ctr"/>
                  <a:r>
                    <a:rPr lang="en-GB" dirty="0"/>
                    <a:t>Sample mean =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7B74670-B491-73BF-BFCE-D9936FABF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5779" y="4848837"/>
                  <a:ext cx="1910395" cy="923330"/>
                </a:xfrm>
                <a:prstGeom prst="rect">
                  <a:avLst/>
                </a:prstGeom>
                <a:blipFill>
                  <a:blip r:embed="rId6"/>
                  <a:stretch>
                    <a:fillRect l="-1987" t="-2740" b="-109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50872-F433-46F9-62FF-636385E57941}"/>
                    </a:ext>
                  </a:extLst>
                </p:cNvPr>
                <p:cNvSpPr txBox="1"/>
                <p:nvPr/>
              </p:nvSpPr>
              <p:spPr>
                <a:xfrm>
                  <a:off x="4279303" y="4857226"/>
                  <a:ext cx="1857495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b="1" dirty="0"/>
                    <a:t>Sample #3</a:t>
                  </a:r>
                </a:p>
                <a:p>
                  <a:pPr algn="ctr"/>
                  <a:r>
                    <a:rPr lang="en-GB" dirty="0"/>
                    <a:t>n=30</a:t>
                  </a:r>
                </a:p>
                <a:p>
                  <a:pPr algn="ctr"/>
                  <a:r>
                    <a:rPr lang="en-GB" dirty="0"/>
                    <a:t>Sample mean =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6750872-F433-46F9-62FF-636385E57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303" y="4857226"/>
                  <a:ext cx="1857495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027" t="-2703"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CA3F509-01E9-076D-7CD0-E7B1CC682EE4}"/>
                </a:ext>
              </a:extLst>
            </p:cNvPr>
            <p:cNvGrpSpPr/>
            <p:nvPr/>
          </p:nvGrpSpPr>
          <p:grpSpPr>
            <a:xfrm>
              <a:off x="6409334" y="5238502"/>
              <a:ext cx="376800" cy="72000"/>
              <a:chOff x="7122253" y="5437464"/>
              <a:chExt cx="376800" cy="72000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D2E9331-5444-714B-22DF-95D0E32359F4}"/>
                  </a:ext>
                </a:extLst>
              </p:cNvPr>
              <p:cNvSpPr/>
              <p:nvPr/>
            </p:nvSpPr>
            <p:spPr>
              <a:xfrm>
                <a:off x="7122253" y="543746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D40C1EC-8AD2-F704-364B-67D46A1A68FF}"/>
                  </a:ext>
                </a:extLst>
              </p:cNvPr>
              <p:cNvSpPr/>
              <p:nvPr/>
            </p:nvSpPr>
            <p:spPr>
              <a:xfrm>
                <a:off x="7274653" y="543746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E1AA548-0EC6-4621-C686-44B279D8179B}"/>
                  </a:ext>
                </a:extLst>
              </p:cNvPr>
              <p:cNvSpPr/>
              <p:nvPr/>
            </p:nvSpPr>
            <p:spPr>
              <a:xfrm>
                <a:off x="7427053" y="543746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7F1D069-409F-781F-13EC-9CAA062BBCA7}"/>
                </a:ext>
              </a:extLst>
            </p:cNvPr>
            <p:cNvSpPr txBox="1"/>
            <p:nvPr/>
          </p:nvSpPr>
          <p:spPr>
            <a:xfrm>
              <a:off x="6957157" y="5089836"/>
              <a:ext cx="20601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All possible samples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5847A66-9290-60DF-DF4E-F7E8F34CF5F7}"/>
                </a:ext>
              </a:extLst>
            </p:cNvPr>
            <p:cNvGrpSpPr/>
            <p:nvPr/>
          </p:nvGrpSpPr>
          <p:grpSpPr>
            <a:xfrm>
              <a:off x="1888453" y="2518822"/>
              <a:ext cx="4336852" cy="2206035"/>
              <a:chOff x="4160939" y="2533475"/>
              <a:chExt cx="4336852" cy="2206035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074887E-36BA-AAEB-4B53-80AF39C9068A}"/>
                  </a:ext>
                </a:extLst>
              </p:cNvPr>
              <p:cNvSpPr/>
              <p:nvPr/>
            </p:nvSpPr>
            <p:spPr>
              <a:xfrm>
                <a:off x="4160939" y="2533475"/>
                <a:ext cx="4336852" cy="2206035"/>
              </a:xfrm>
              <a:prstGeom prst="rect">
                <a:avLst/>
              </a:prstGeom>
              <a:solidFill>
                <a:srgbClr val="FFF2CC">
                  <a:alpha val="6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8113B676-BD6D-7FD0-3AA5-D8D2DFF091D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878" y="4196148"/>
                    <a:ext cx="41769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spcAft>
                        <a:spcPts val="1200"/>
                      </a:spcAft>
                    </a:pPr>
                    <a:r>
                      <a:rPr lang="en-GB" dirty="0"/>
                      <a:t>Population mean: </a:t>
                    </a:r>
                    <a14:m>
                      <m:oMath xmlns:m="http://schemas.openxmlformats.org/officeDocument/2006/math"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a14:m>
                    <a:r>
                      <a:rPr lang="en-GB" dirty="0"/>
                      <a:t>           Population SD: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oMath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06F2E4C-4ED9-E272-22E8-DA6F8E7E1C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0878" y="4196148"/>
                    <a:ext cx="417691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314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" name="Freeform: Shape 59">
                <a:extLst>
                  <a:ext uri="{FF2B5EF4-FFF2-40B4-BE49-F238E27FC236}">
                    <a16:creationId xmlns:a16="http://schemas.microsoft.com/office/drawing/2014/main" id="{0C2FA46E-70F5-9EC2-3D8E-C73E3E516C50}"/>
                  </a:ext>
                </a:extLst>
              </p:cNvPr>
              <p:cNvSpPr/>
              <p:nvPr/>
            </p:nvSpPr>
            <p:spPr>
              <a:xfrm>
                <a:off x="4640040" y="2910980"/>
                <a:ext cx="2482214" cy="1116984"/>
              </a:xfrm>
              <a:custGeom>
                <a:avLst/>
                <a:gdLst>
                  <a:gd name="connsiteX0" fmla="*/ 0 w 3590488"/>
                  <a:gd name="connsiteY0" fmla="*/ 1748055 h 1748055"/>
                  <a:gd name="connsiteX1" fmla="*/ 822121 w 3590488"/>
                  <a:gd name="connsiteY1" fmla="*/ 3145 h 1748055"/>
                  <a:gd name="connsiteX2" fmla="*/ 2499919 w 3590488"/>
                  <a:gd name="connsiteY2" fmla="*/ 1328605 h 1748055"/>
                  <a:gd name="connsiteX3" fmla="*/ 3590488 w 3590488"/>
                  <a:gd name="connsiteY3" fmla="*/ 1680943 h 1748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90488" h="1748055">
                    <a:moveTo>
                      <a:pt x="0" y="1748055"/>
                    </a:moveTo>
                    <a:cubicBezTo>
                      <a:pt x="202734" y="910554"/>
                      <a:pt x="405468" y="73053"/>
                      <a:pt x="822121" y="3145"/>
                    </a:cubicBezTo>
                    <a:cubicBezTo>
                      <a:pt x="1238774" y="-66763"/>
                      <a:pt x="2038525" y="1048972"/>
                      <a:pt x="2499919" y="1328605"/>
                    </a:cubicBezTo>
                    <a:cubicBezTo>
                      <a:pt x="2961313" y="1608238"/>
                      <a:pt x="3275900" y="1644590"/>
                      <a:pt x="3590488" y="1680943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27AD717-8DB2-DCED-4BC1-8185AD37EC44}"/>
                  </a:ext>
                </a:extLst>
              </p:cNvPr>
              <p:cNvCxnSpPr>
                <a:cxnSpLocks/>
                <a:stCxn id="46" idx="0"/>
              </p:cNvCxnSpPr>
              <p:nvPr/>
            </p:nvCxnSpPr>
            <p:spPr>
              <a:xfrm flipV="1">
                <a:off x="4640040" y="2751589"/>
                <a:ext cx="0" cy="12763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4BB88DC-6535-A046-D786-326918DA8E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1651" y="4030611"/>
                <a:ext cx="272409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A02B1B0-1127-6669-4035-9C1360A500EF}"/>
                    </a:ext>
                  </a:extLst>
                </p:cNvPr>
                <p:cNvSpPr txBox="1"/>
                <p:nvPr/>
              </p:nvSpPr>
              <p:spPr>
                <a:xfrm>
                  <a:off x="5165745" y="3939932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A02B1B0-1127-6669-4035-9C1360A50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5745" y="3939932"/>
                  <a:ext cx="1833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3333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235BC32-0A1C-CCDE-517B-A4627FCD3B43}"/>
                    </a:ext>
                  </a:extLst>
                </p:cNvPr>
                <p:cNvSpPr txBox="1"/>
                <p:nvPr/>
              </p:nvSpPr>
              <p:spPr>
                <a:xfrm>
                  <a:off x="2322059" y="2518822"/>
                  <a:ext cx="6937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235BC32-0A1C-CCDE-517B-A4627FCD3B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2059" y="2518822"/>
                  <a:ext cx="693716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3466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7698AB-2F15-CD6F-C1B0-4B0A2471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5" y="103314"/>
            <a:ext cx="7886700" cy="473067"/>
          </a:xfrm>
        </p:spPr>
        <p:txBody>
          <a:bodyPr>
            <a:normAutofit fontScale="90000"/>
          </a:bodyPr>
          <a:lstStyle/>
          <a:p>
            <a:r>
              <a:rPr lang="en-GB" sz="3000" b="1" dirty="0">
                <a:latin typeface="Arial" panose="020B0604020202020204" pitchFamily="34" charset="0"/>
                <a:cs typeface="Arial" panose="020B0604020202020204" pitchFamily="34" charset="0"/>
              </a:rPr>
              <a:t>Central Limit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4536AE6-1103-7176-98FB-AEDAB43067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9458" y="589095"/>
                <a:ext cx="8855856" cy="22060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GB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distribution of the sample mean</a:t>
                </a: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* approaches a </a:t>
                </a:r>
                <a:r>
                  <a:rPr lang="en-GB" sz="24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distribution</a:t>
                </a:r>
                <a:r>
                  <a:rPr lang="en-GB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 the sample size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n-GB" sz="24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becomes large</a:t>
                </a: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This is </a:t>
                </a:r>
                <a:r>
                  <a:rPr lang="en-GB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true independently of the original distribution </a:t>
                </a: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the random variable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4536AE6-1103-7176-98FB-AEDAB4306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58" y="589095"/>
                <a:ext cx="8855856" cy="2206035"/>
              </a:xfrm>
              <a:prstGeom prst="rect">
                <a:avLst/>
              </a:prstGeom>
              <a:blipFill>
                <a:blip r:embed="rId2"/>
                <a:stretch>
                  <a:fillRect l="-1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7E2E40B-801B-1EB0-DFB0-8E8A3C4725E3}"/>
              </a:ext>
            </a:extLst>
          </p:cNvPr>
          <p:cNvGrpSpPr/>
          <p:nvPr/>
        </p:nvGrpSpPr>
        <p:grpSpPr>
          <a:xfrm>
            <a:off x="95299" y="3387178"/>
            <a:ext cx="9103575" cy="2750379"/>
            <a:chOff x="95299" y="3387178"/>
            <a:chExt cx="9103575" cy="275037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D7CFBF-3582-E089-EECA-9BA8A98BC554}"/>
                    </a:ext>
                  </a:extLst>
                </p:cNvPr>
                <p:cNvSpPr txBox="1"/>
                <p:nvPr/>
              </p:nvSpPr>
              <p:spPr>
                <a:xfrm>
                  <a:off x="3531074" y="4786548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D7CFBF-3582-E089-EECA-9BA8A98BC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1074" y="4786548"/>
                  <a:ext cx="18332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FAAA77F-26C7-179E-BD1C-05C9B7CD7D1B}"/>
                </a:ext>
              </a:extLst>
            </p:cNvPr>
            <p:cNvGrpSpPr/>
            <p:nvPr/>
          </p:nvGrpSpPr>
          <p:grpSpPr>
            <a:xfrm>
              <a:off x="193743" y="3417830"/>
              <a:ext cx="4336852" cy="2206035"/>
              <a:chOff x="4160939" y="2533475"/>
              <a:chExt cx="4336852" cy="220603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1B657B-B061-D8FD-3832-3376B55DE9F5}"/>
                  </a:ext>
                </a:extLst>
              </p:cNvPr>
              <p:cNvSpPr/>
              <p:nvPr/>
            </p:nvSpPr>
            <p:spPr>
              <a:xfrm>
                <a:off x="4160939" y="2533475"/>
                <a:ext cx="4336852" cy="2206035"/>
              </a:xfrm>
              <a:prstGeom prst="rect">
                <a:avLst/>
              </a:prstGeom>
              <a:solidFill>
                <a:srgbClr val="FFF2CC">
                  <a:alpha val="6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B752FBE-E76E-D497-059E-BE11745D555A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878" y="4196148"/>
                    <a:ext cx="41769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spcAft>
                        <a:spcPts val="1200"/>
                      </a:spcAft>
                    </a:pPr>
                    <a:r>
                      <a:rPr lang="en-GB" dirty="0"/>
                      <a:t>Population mean: </a:t>
                    </a:r>
                    <a14:m>
                      <m:oMath xmlns:m="http://schemas.openxmlformats.org/officeDocument/2006/math"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a14:m>
                    <a:r>
                      <a:rPr lang="en-GB" dirty="0"/>
                      <a:t>           Population SD: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oMath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B752FBE-E76E-D497-059E-BE11745D55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0878" y="4196148"/>
                    <a:ext cx="4176913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14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244A6373-A406-00EC-5620-251669E9F4D6}"/>
                  </a:ext>
                </a:extLst>
              </p:cNvPr>
              <p:cNvSpPr/>
              <p:nvPr/>
            </p:nvSpPr>
            <p:spPr>
              <a:xfrm>
                <a:off x="4640040" y="2910980"/>
                <a:ext cx="2482214" cy="1116984"/>
              </a:xfrm>
              <a:custGeom>
                <a:avLst/>
                <a:gdLst>
                  <a:gd name="connsiteX0" fmla="*/ 0 w 3590488"/>
                  <a:gd name="connsiteY0" fmla="*/ 1748055 h 1748055"/>
                  <a:gd name="connsiteX1" fmla="*/ 822121 w 3590488"/>
                  <a:gd name="connsiteY1" fmla="*/ 3145 h 1748055"/>
                  <a:gd name="connsiteX2" fmla="*/ 2499919 w 3590488"/>
                  <a:gd name="connsiteY2" fmla="*/ 1328605 h 1748055"/>
                  <a:gd name="connsiteX3" fmla="*/ 3590488 w 3590488"/>
                  <a:gd name="connsiteY3" fmla="*/ 1680943 h 1748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90488" h="1748055">
                    <a:moveTo>
                      <a:pt x="0" y="1748055"/>
                    </a:moveTo>
                    <a:cubicBezTo>
                      <a:pt x="202734" y="910554"/>
                      <a:pt x="405468" y="73053"/>
                      <a:pt x="822121" y="3145"/>
                    </a:cubicBezTo>
                    <a:cubicBezTo>
                      <a:pt x="1238774" y="-66763"/>
                      <a:pt x="2038525" y="1048972"/>
                      <a:pt x="2499919" y="1328605"/>
                    </a:cubicBezTo>
                    <a:cubicBezTo>
                      <a:pt x="2961313" y="1608238"/>
                      <a:pt x="3275900" y="1644590"/>
                      <a:pt x="3590488" y="1680943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88B3661-8437-5D43-7765-904DD933CC5B}"/>
                  </a:ext>
                </a:extLst>
              </p:cNvPr>
              <p:cNvCxnSpPr>
                <a:cxnSpLocks/>
                <a:stCxn id="9" idx="0"/>
              </p:cNvCxnSpPr>
              <p:nvPr/>
            </p:nvCxnSpPr>
            <p:spPr>
              <a:xfrm flipV="1">
                <a:off x="4640040" y="2751589"/>
                <a:ext cx="0" cy="12763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F558C5DF-1649-510D-2E4C-CD81F06C6D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1651" y="4030611"/>
                <a:ext cx="272409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198BE16-9E9F-62C9-CF3D-2E4B0864FE9F}"/>
                    </a:ext>
                  </a:extLst>
                </p:cNvPr>
                <p:cNvSpPr txBox="1"/>
                <p:nvPr/>
              </p:nvSpPr>
              <p:spPr>
                <a:xfrm>
                  <a:off x="95299" y="3387178"/>
                  <a:ext cx="6937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198BE16-9E9F-62C9-CF3D-2E4B0864F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99" y="3387178"/>
                  <a:ext cx="69371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756C39-7FEC-7855-A208-4F61776F5CD1}"/>
                </a:ext>
              </a:extLst>
            </p:cNvPr>
            <p:cNvSpPr/>
            <p:nvPr/>
          </p:nvSpPr>
          <p:spPr>
            <a:xfrm>
              <a:off x="4891254" y="3417830"/>
              <a:ext cx="3851065" cy="2206035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6A2D201-45CB-CB76-45F0-E22EB50D52ED}"/>
                </a:ext>
              </a:extLst>
            </p:cNvPr>
            <p:cNvGrpSpPr/>
            <p:nvPr/>
          </p:nvGrpSpPr>
          <p:grpSpPr>
            <a:xfrm>
              <a:off x="4654040" y="3476837"/>
              <a:ext cx="4544834" cy="2660720"/>
              <a:chOff x="4654040" y="3476837"/>
              <a:chExt cx="4544834" cy="266072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3455A8E-72E4-0528-120E-7455130E1719}"/>
                  </a:ext>
                </a:extLst>
              </p:cNvPr>
              <p:cNvGrpSpPr/>
              <p:nvPr/>
            </p:nvGrpSpPr>
            <p:grpSpPr>
              <a:xfrm>
                <a:off x="4850310" y="3476837"/>
                <a:ext cx="3388620" cy="1813646"/>
                <a:chOff x="4850310" y="1743569"/>
                <a:chExt cx="3388620" cy="1813646"/>
              </a:xfrm>
            </p:grpSpPr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87888E5E-D8CD-56A2-4A03-BB931E7A5E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53305" y="1970241"/>
                  <a:ext cx="0" cy="127637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D1107109-9A0C-F745-1A0B-6724A7E2F1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44916" y="3249263"/>
                  <a:ext cx="272409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9" name="Picture 2" descr="Bell Curve Icons - Free SVG &amp; PNG Bell Curve Images - Noun Project">
                  <a:extLst>
                    <a:ext uri="{FF2B5EF4-FFF2-40B4-BE49-F238E27FC236}">
                      <a16:creationId xmlns:a16="http://schemas.microsoft.com/office/drawing/2014/main" id="{201D38AF-570B-D59A-3E5D-81624901DDD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8120"/>
                <a:stretch/>
              </p:blipFill>
              <p:spPr bwMode="auto">
                <a:xfrm>
                  <a:off x="4850310" y="1743569"/>
                  <a:ext cx="2076147" cy="14971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A00110D5-9F99-C696-54CC-333898F53E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52978" y="3218249"/>
                      <a:ext cx="18331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A00110D5-9F99-C696-54CC-333898F53E1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52978" y="3218249"/>
                      <a:ext cx="183319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3333" r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175AC9EA-988B-52DF-73E5-0E0FF0B35A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10502" y="1810430"/>
                      <a:ext cx="69371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175AC9EA-988B-52DF-73E5-0E0FF0B35A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10502" y="1810430"/>
                      <a:ext cx="693716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290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F840E5CF-18AE-C814-D4C8-1898E6E34B35}"/>
                    </a:ext>
                  </a:extLst>
                </p:cNvPr>
                <p:cNvCxnSpPr/>
                <p:nvPr/>
              </p:nvCxnSpPr>
              <p:spPr>
                <a:xfrm flipV="1">
                  <a:off x="5868897" y="1924960"/>
                  <a:ext cx="0" cy="1342376"/>
                </a:xfrm>
                <a:prstGeom prst="line">
                  <a:avLst/>
                </a:prstGeom>
                <a:ln w="28575">
                  <a:solidFill>
                    <a:schemeClr val="bg2">
                      <a:lumMod val="50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F6BFF6F4-A614-6880-004E-70A3DBD5DA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13374" y="3187883"/>
                      <a:ext cx="30950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F6BFF6F4-A614-6880-004E-70A3DBD5DA1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13374" y="3187883"/>
                      <a:ext cx="309502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6FF5966C-8A0D-2830-597C-DBB89F2D1F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16132" y="2037281"/>
                      <a:ext cx="1322798" cy="9194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dirty="0"/>
                        <a:t>mean: </a:t>
                      </a:r>
                      <a14:m>
                        <m:oMath xmlns:m="http://schemas.openxmlformats.org/officeDocument/2006/math"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a14:m>
                      <a:r>
                        <a:rPr lang="en-GB" dirty="0"/>
                        <a:t>   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dirty="0"/>
                        <a:t>SD: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GB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𝝈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</m:acc>
                            </m:sub>
                          </m:sSub>
                          <m:r>
                            <a:rPr lang="en-GB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𝝈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𝒏</m:t>
                                  </m:r>
                                </m:e>
                              </m:rad>
                            </m:den>
                          </m:f>
                        </m:oMath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6FF5966C-8A0D-2830-597C-DBB89F2D1F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16132" y="2037281"/>
                      <a:ext cx="1322798" cy="91941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3810" t="-411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02ABDC-4E7C-4758-0A54-2CC743EDBDB2}"/>
                  </a:ext>
                </a:extLst>
              </p:cNvPr>
              <p:cNvSpPr txBox="1"/>
              <p:nvPr/>
            </p:nvSpPr>
            <p:spPr>
              <a:xfrm>
                <a:off x="4654040" y="5768225"/>
                <a:ext cx="4544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*</a:t>
                </a:r>
                <a:r>
                  <a:rPr lang="en-GB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GB" sz="1800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ampling </a:t>
                </a:r>
                <a:r>
                  <a:rPr lang="en-GB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GB" sz="1800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istribution of the Sample </a:t>
                </a:r>
                <a:r>
                  <a:rPr lang="en-GB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GB" sz="1800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ean</a:t>
                </a:r>
                <a:endParaRPr lang="en-US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48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B8D6BF-A188-F27A-6052-22C18B6DA700}"/>
              </a:ext>
            </a:extLst>
          </p:cNvPr>
          <p:cNvSpPr/>
          <p:nvPr/>
        </p:nvSpPr>
        <p:spPr>
          <a:xfrm>
            <a:off x="1954635" y="576381"/>
            <a:ext cx="6988030" cy="32381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7698AB-2F15-CD6F-C1B0-4B0A2471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5" y="103314"/>
            <a:ext cx="7886700" cy="473067"/>
          </a:xfrm>
        </p:spPr>
        <p:txBody>
          <a:bodyPr>
            <a:normAutofit fontScale="90000"/>
          </a:bodyPr>
          <a:lstStyle/>
          <a:p>
            <a:r>
              <a:rPr lang="en-GB" sz="3000" b="1" dirty="0">
                <a:latin typeface="Arial" panose="020B0604020202020204" pitchFamily="34" charset="0"/>
                <a:cs typeface="Arial" panose="020B0604020202020204" pitchFamily="34" charset="0"/>
              </a:rPr>
              <a:t>Central Limit Theorem</a:t>
            </a:r>
          </a:p>
        </p:txBody>
      </p:sp>
      <p:pic>
        <p:nvPicPr>
          <p:cNvPr id="5" name="Picture 2" descr="Probability density function">
            <a:extLst>
              <a:ext uri="{FF2B5EF4-FFF2-40B4-BE49-F238E27FC236}">
                <a16:creationId xmlns:a16="http://schemas.microsoft.com/office/drawing/2014/main" id="{A17E50EB-F531-5FB4-DFF5-9A5527889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65" y="1001028"/>
            <a:ext cx="1337976" cy="109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6E20A7-B325-0560-7E74-C285B3402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480" y="1153825"/>
            <a:ext cx="1529208" cy="1092109"/>
          </a:xfrm>
          <a:prstGeom prst="rect">
            <a:avLst/>
          </a:prstGeom>
        </p:spPr>
      </p:pic>
      <p:pic>
        <p:nvPicPr>
          <p:cNvPr id="14" name="Picture 4" descr="Triangular distribution - Wikipedia">
            <a:extLst>
              <a:ext uri="{FF2B5EF4-FFF2-40B4-BE49-F238E27FC236}">
                <a16:creationId xmlns:a16="http://schemas.microsoft.com/office/drawing/2014/main" id="{E6070BF5-F429-1548-0302-1DE11B825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482" y="782928"/>
            <a:ext cx="1456146" cy="109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350D2948-12A8-5C9E-E8EE-DD3F6697C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470" y="2536068"/>
            <a:ext cx="1386173" cy="111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The Exponential Distribution | Introduction to Statistics">
            <a:extLst>
              <a:ext uri="{FF2B5EF4-FFF2-40B4-BE49-F238E27FC236}">
                <a16:creationId xmlns:a16="http://schemas.microsoft.com/office/drawing/2014/main" id="{A12A2295-9CEF-5653-DAB4-1041A9B77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776" y="2580363"/>
            <a:ext cx="1774177" cy="94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0" descr="Log-normal distribution - Analytica Docs">
            <a:extLst>
              <a:ext uri="{FF2B5EF4-FFF2-40B4-BE49-F238E27FC236}">
                <a16:creationId xmlns:a16="http://schemas.microsoft.com/office/drawing/2014/main" id="{87D1041B-7F4F-07B1-541F-0239034E7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672" y="2545568"/>
            <a:ext cx="1913956" cy="1017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2BB3A37-2105-5C32-2507-B216D54117BA}"/>
              </a:ext>
            </a:extLst>
          </p:cNvPr>
          <p:cNvSpPr txBox="1"/>
          <p:nvPr/>
        </p:nvSpPr>
        <p:spPr>
          <a:xfrm>
            <a:off x="-56767" y="1547083"/>
            <a:ext cx="21511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Population distribution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1F76493-8777-9D7A-D32C-2F9C2E2A49A6}"/>
              </a:ext>
            </a:extLst>
          </p:cNvPr>
          <p:cNvSpPr/>
          <p:nvPr/>
        </p:nvSpPr>
        <p:spPr>
          <a:xfrm>
            <a:off x="5198834" y="3814532"/>
            <a:ext cx="958685" cy="11685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8B4390-BA86-64CA-7A4F-1F1F0D73F538}"/>
              </a:ext>
            </a:extLst>
          </p:cNvPr>
          <p:cNvSpPr txBox="1"/>
          <p:nvPr/>
        </p:nvSpPr>
        <p:spPr>
          <a:xfrm>
            <a:off x="2976465" y="3921742"/>
            <a:ext cx="21511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Sampling distribution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A999AC-0ADE-DD79-FC9C-7D0219FFA0B7}"/>
              </a:ext>
            </a:extLst>
          </p:cNvPr>
          <p:cNvGrpSpPr/>
          <p:nvPr/>
        </p:nvGrpSpPr>
        <p:grpSpPr>
          <a:xfrm>
            <a:off x="4108800" y="4960978"/>
            <a:ext cx="3010682" cy="1789834"/>
            <a:chOff x="4108800" y="4960978"/>
            <a:chExt cx="3010682" cy="1789834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35C1344-D63D-123C-8011-EAC50A636AB0}"/>
                </a:ext>
              </a:extLst>
            </p:cNvPr>
            <p:cNvGrpSpPr/>
            <p:nvPr/>
          </p:nvGrpSpPr>
          <p:grpSpPr>
            <a:xfrm>
              <a:off x="4108800" y="4960978"/>
              <a:ext cx="3010682" cy="1789834"/>
              <a:chOff x="101975" y="2548729"/>
              <a:chExt cx="3010682" cy="1789834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FA560FB5-370E-821F-B448-821A8CC21D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9665" y="2751589"/>
                <a:ext cx="0" cy="12763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8CEDB63-629D-1CD6-E9FE-7CC82C7EDD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276" y="4030611"/>
                <a:ext cx="272409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7" name="Picture 2" descr="Bell Curve Icons - Free SVG &amp; PNG Bell Curve Images - Noun Project">
                <a:extLst>
                  <a:ext uri="{FF2B5EF4-FFF2-40B4-BE49-F238E27FC236}">
                    <a16:creationId xmlns:a16="http://schemas.microsoft.com/office/drawing/2014/main" id="{7B678D6C-CC79-E6AC-7856-9E9EBCCEB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8120"/>
              <a:stretch/>
            </p:blipFill>
            <p:spPr bwMode="auto">
              <a:xfrm>
                <a:off x="101975" y="2548729"/>
                <a:ext cx="2076147" cy="149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D5527CC-3017-5FF5-AF8B-53D85455207E}"/>
                      </a:ext>
                    </a:extLst>
                  </p:cNvPr>
                  <p:cNvSpPr txBox="1"/>
                  <p:nvPr/>
                </p:nvSpPr>
                <p:spPr>
                  <a:xfrm>
                    <a:off x="2929338" y="3999597"/>
                    <a:ext cx="18331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D5527CC-3017-5FF5-AF8B-53D8545520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9338" y="3999597"/>
                    <a:ext cx="183319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000" r="-9000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DF4D5376-9C72-88FE-5E4B-C9A6BCDD3193}"/>
                      </a:ext>
                    </a:extLst>
                  </p:cNvPr>
                  <p:cNvSpPr txBox="1"/>
                  <p:nvPr/>
                </p:nvSpPr>
                <p:spPr>
                  <a:xfrm>
                    <a:off x="248898" y="2566923"/>
                    <a:ext cx="69371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DF4D5376-9C72-88FE-5E4B-C9A6BCDD31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898" y="2566923"/>
                    <a:ext cx="693716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017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95DBF2F-0D57-4F8F-6C73-093C63A0617F}"/>
                  </a:ext>
                </a:extLst>
              </p:cNvPr>
              <p:cNvCxnSpPr/>
              <p:nvPr/>
            </p:nvCxnSpPr>
            <p:spPr>
              <a:xfrm flipV="1">
                <a:off x="1145257" y="2706308"/>
                <a:ext cx="0" cy="1342376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18310A2-B7FA-AC98-6FE5-CCDAEEA2A493}"/>
                      </a:ext>
                    </a:extLst>
                  </p:cNvPr>
                  <p:cNvSpPr txBox="1"/>
                  <p:nvPr/>
                </p:nvSpPr>
                <p:spPr>
                  <a:xfrm>
                    <a:off x="989734" y="3969231"/>
                    <a:ext cx="30950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18310A2-B7FA-AC98-6FE5-CCDAEEA2A4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9734" y="3969231"/>
                    <a:ext cx="30950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218D6D1-606C-1EB8-FDE5-C9F2631EF3FE}"/>
                    </a:ext>
                  </a:extLst>
                </p:cNvPr>
                <p:cNvSpPr txBox="1"/>
                <p:nvPr/>
              </p:nvSpPr>
              <p:spPr>
                <a:xfrm>
                  <a:off x="5629399" y="5157998"/>
                  <a:ext cx="1322798" cy="9194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1200"/>
                    </a:spcAft>
                  </a:pPr>
                  <a:r>
                    <a:rPr lang="en-GB" dirty="0"/>
                    <a:t>mean: </a:t>
                  </a:r>
                  <a14:m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GB" dirty="0"/>
                    <a:t>   </a:t>
                  </a:r>
                </a:p>
                <a:p>
                  <a:pPr>
                    <a:spcAft>
                      <a:spcPts val="1200"/>
                    </a:spcAft>
                  </a:pPr>
                  <a:r>
                    <a:rPr lang="en-GB" dirty="0"/>
                    <a:t>SD: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𝝈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GB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</m:e>
                          </m:acc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𝝈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𝒏</m:t>
                              </m:r>
                            </m:e>
                          </m:rad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218D6D1-606C-1EB8-FDE5-C9F2631EF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399" y="5157998"/>
                  <a:ext cx="1322798" cy="919419"/>
                </a:xfrm>
                <a:prstGeom prst="rect">
                  <a:avLst/>
                </a:prstGeom>
                <a:blipFill>
                  <a:blip r:embed="rId12"/>
                  <a:stretch>
                    <a:fillRect l="-3687" t="-3311" b="-66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805A4C5-232C-6729-22A0-418001A17D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2980" y="905645"/>
            <a:ext cx="1879155" cy="11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nited Kingdom Stock Illustration - Download Image Now - Map, UK, England -  iStock">
            <a:extLst>
              <a:ext uri="{FF2B5EF4-FFF2-40B4-BE49-F238E27FC236}">
                <a16:creationId xmlns:a16="http://schemas.microsoft.com/office/drawing/2014/main" id="{3722C3CF-047C-D076-369E-0236DCD44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15" y="0"/>
            <a:ext cx="3390027" cy="412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E679608-3347-EA55-50CB-8ACEFE18F533}"/>
              </a:ext>
            </a:extLst>
          </p:cNvPr>
          <p:cNvGrpSpPr/>
          <p:nvPr/>
        </p:nvGrpSpPr>
        <p:grpSpPr>
          <a:xfrm>
            <a:off x="1553889" y="817735"/>
            <a:ext cx="1626090" cy="2873421"/>
            <a:chOff x="1653540" y="1091234"/>
            <a:chExt cx="1626090" cy="287342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3DF408A-035E-66F3-30A3-3FB8D11855A1}"/>
                </a:ext>
              </a:extLst>
            </p:cNvPr>
            <p:cNvSpPr/>
            <p:nvPr/>
          </p:nvSpPr>
          <p:spPr>
            <a:xfrm>
              <a:off x="2419350" y="149134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DD0C926-FFBB-488A-F4A0-53FC1F4B66A1}"/>
                </a:ext>
              </a:extLst>
            </p:cNvPr>
            <p:cNvSpPr/>
            <p:nvPr/>
          </p:nvSpPr>
          <p:spPr>
            <a:xfrm>
              <a:off x="2004060" y="179614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892BB69-7908-E80F-5B38-2F4C7F98DA80}"/>
                </a:ext>
              </a:extLst>
            </p:cNvPr>
            <p:cNvSpPr/>
            <p:nvPr/>
          </p:nvSpPr>
          <p:spPr>
            <a:xfrm>
              <a:off x="2004060" y="139228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B9751D-0857-2542-9233-9F88A4239522}"/>
                </a:ext>
              </a:extLst>
            </p:cNvPr>
            <p:cNvSpPr/>
            <p:nvPr/>
          </p:nvSpPr>
          <p:spPr>
            <a:xfrm>
              <a:off x="2297430" y="176014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2FFE15-0E1E-89A9-B615-B4EE32A80090}"/>
                </a:ext>
              </a:extLst>
            </p:cNvPr>
            <p:cNvSpPr/>
            <p:nvPr/>
          </p:nvSpPr>
          <p:spPr>
            <a:xfrm>
              <a:off x="2225430" y="207808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F5A22F-B57F-FDD7-F088-F9EFCB39C9D6}"/>
                </a:ext>
              </a:extLst>
            </p:cNvPr>
            <p:cNvSpPr/>
            <p:nvPr/>
          </p:nvSpPr>
          <p:spPr>
            <a:xfrm>
              <a:off x="2491350" y="215008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7686A4B-591D-DF33-650C-91AC6591B7AD}"/>
                </a:ext>
              </a:extLst>
            </p:cNvPr>
            <p:cNvSpPr/>
            <p:nvPr/>
          </p:nvSpPr>
          <p:spPr>
            <a:xfrm>
              <a:off x="2712720" y="2456751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53670C3-1243-A54F-D2EA-D1E74B52C581}"/>
                </a:ext>
              </a:extLst>
            </p:cNvPr>
            <p:cNvSpPr/>
            <p:nvPr/>
          </p:nvSpPr>
          <p:spPr>
            <a:xfrm>
              <a:off x="2419350" y="2456751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9E9008B-9EFC-49D0-A187-228D5EE376D5}"/>
                </a:ext>
              </a:extLst>
            </p:cNvPr>
            <p:cNvSpPr/>
            <p:nvPr/>
          </p:nvSpPr>
          <p:spPr>
            <a:xfrm>
              <a:off x="1653540" y="2420751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E1FC12D-3B59-F2CA-D54D-85687CEC4E42}"/>
                </a:ext>
              </a:extLst>
            </p:cNvPr>
            <p:cNvSpPr/>
            <p:nvPr/>
          </p:nvSpPr>
          <p:spPr>
            <a:xfrm>
              <a:off x="2784720" y="283246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F5A98DF-F441-37C2-1CAB-BB1416F0D280}"/>
                </a:ext>
              </a:extLst>
            </p:cNvPr>
            <p:cNvSpPr/>
            <p:nvPr/>
          </p:nvSpPr>
          <p:spPr>
            <a:xfrm>
              <a:off x="2131488" y="109123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FA05066-ECBC-25DF-4C9A-6577FCC4D909}"/>
                </a:ext>
              </a:extLst>
            </p:cNvPr>
            <p:cNvSpPr/>
            <p:nvPr/>
          </p:nvSpPr>
          <p:spPr>
            <a:xfrm>
              <a:off x="3032760" y="268387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A18254-A38D-CF5C-287E-B8F2793A1CCB}"/>
                </a:ext>
              </a:extLst>
            </p:cNvPr>
            <p:cNvSpPr/>
            <p:nvPr/>
          </p:nvSpPr>
          <p:spPr>
            <a:xfrm>
              <a:off x="2522610" y="273682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3D17CDC-7D14-60DA-0BC7-4EC7F03F61FA}"/>
                </a:ext>
              </a:extLst>
            </p:cNvPr>
            <p:cNvSpPr/>
            <p:nvPr/>
          </p:nvSpPr>
          <p:spPr>
            <a:xfrm>
              <a:off x="3028950" y="306106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86CAD3D-B5E6-C902-E704-FF6CC59C0612}"/>
                </a:ext>
              </a:extLst>
            </p:cNvPr>
            <p:cNvSpPr/>
            <p:nvPr/>
          </p:nvSpPr>
          <p:spPr>
            <a:xfrm>
              <a:off x="2486610" y="3079491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7FC9355-BBC2-53C9-4B54-C825DC1A0E98}"/>
                </a:ext>
              </a:extLst>
            </p:cNvPr>
            <p:cNvSpPr/>
            <p:nvPr/>
          </p:nvSpPr>
          <p:spPr>
            <a:xfrm>
              <a:off x="2733480" y="3393000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DEA6246-9A73-EF5F-8024-DD8751E7494E}"/>
                </a:ext>
              </a:extLst>
            </p:cNvPr>
            <p:cNvSpPr/>
            <p:nvPr/>
          </p:nvSpPr>
          <p:spPr>
            <a:xfrm>
              <a:off x="2404110" y="3386158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5B3050-AD2A-1FDC-4C1B-DDB034545C5D}"/>
                </a:ext>
              </a:extLst>
            </p:cNvPr>
            <p:cNvSpPr/>
            <p:nvPr/>
          </p:nvSpPr>
          <p:spPr>
            <a:xfrm>
              <a:off x="3207630" y="3393000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7D10F9E-63F3-80F0-5666-526A2CE7C560}"/>
                </a:ext>
              </a:extLst>
            </p:cNvPr>
            <p:cNvSpPr/>
            <p:nvPr/>
          </p:nvSpPr>
          <p:spPr>
            <a:xfrm>
              <a:off x="2594610" y="3731624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9520AAD-3617-BFDF-3652-7D1299EAFAD1}"/>
                </a:ext>
              </a:extLst>
            </p:cNvPr>
            <p:cNvSpPr/>
            <p:nvPr/>
          </p:nvSpPr>
          <p:spPr>
            <a:xfrm>
              <a:off x="2347350" y="3892655"/>
              <a:ext cx="72000" cy="72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7F28061-18D0-82D9-8CEA-DD8B7108E405}"/>
              </a:ext>
            </a:extLst>
          </p:cNvPr>
          <p:cNvSpPr txBox="1"/>
          <p:nvPr/>
        </p:nvSpPr>
        <p:spPr>
          <a:xfrm>
            <a:off x="3342314" y="489625"/>
            <a:ext cx="55968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What is the average annual Income?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FBD2199-4349-4185-F397-D773B4B41467}"/>
              </a:ext>
            </a:extLst>
          </p:cNvPr>
          <p:cNvGrpSpPr/>
          <p:nvPr/>
        </p:nvGrpSpPr>
        <p:grpSpPr>
          <a:xfrm>
            <a:off x="3934437" y="4041952"/>
            <a:ext cx="4595928" cy="1248317"/>
            <a:chOff x="3934437" y="4041952"/>
            <a:chExt cx="4595928" cy="1248317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61DB6A5-198D-6B10-EEEC-5E324FC60F98}"/>
                </a:ext>
              </a:extLst>
            </p:cNvPr>
            <p:cNvCxnSpPr/>
            <p:nvPr/>
          </p:nvCxnSpPr>
          <p:spPr>
            <a:xfrm>
              <a:off x="3934437" y="5041783"/>
              <a:ext cx="441260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52FE132-F056-7A6A-4D88-1A220605BFED}"/>
                    </a:ext>
                  </a:extLst>
                </p:cNvPr>
                <p:cNvSpPr txBox="1"/>
                <p:nvPr/>
              </p:nvSpPr>
              <p:spPr>
                <a:xfrm>
                  <a:off x="8347046" y="5013270"/>
                  <a:ext cx="1833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52FE132-F056-7A6A-4D88-1A220605B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046" y="5013270"/>
                  <a:ext cx="18331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0000" r="-9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608B21C6-E11F-507F-6451-7FE03A587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75452" y="4041952"/>
              <a:ext cx="2402032" cy="999831"/>
            </a:xfrm>
            <a:prstGeom prst="rect">
              <a:avLst/>
            </a:prstGeom>
          </p:spPr>
        </p:pic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B0099BA-D42E-85D9-5D22-52D604CAA490}"/>
              </a:ext>
            </a:extLst>
          </p:cNvPr>
          <p:cNvCxnSpPr/>
          <p:nvPr/>
        </p:nvCxnSpPr>
        <p:spPr>
          <a:xfrm flipV="1">
            <a:off x="6175539" y="3699407"/>
            <a:ext cx="0" cy="1342376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4CE21F1-BA39-9555-3DB3-1744757A6A6F}"/>
                  </a:ext>
                </a:extLst>
              </p:cNvPr>
              <p:cNvSpPr txBox="1"/>
              <p:nvPr/>
            </p:nvSpPr>
            <p:spPr>
              <a:xfrm>
                <a:off x="6020788" y="5090713"/>
                <a:ext cx="3095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4CE21F1-BA39-9555-3DB3-1744757A6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788" y="5090713"/>
                <a:ext cx="309502" cy="369332"/>
              </a:xfrm>
              <a:prstGeom prst="rect">
                <a:avLst/>
              </a:prstGeom>
              <a:blipFill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Picture 2" descr="Bell Curve Icons - Free SVG &amp; PNG Bell Curve Images - Noun Project">
            <a:extLst>
              <a:ext uri="{FF2B5EF4-FFF2-40B4-BE49-F238E27FC236}">
                <a16:creationId xmlns:a16="http://schemas.microsoft.com/office/drawing/2014/main" id="{05FFE5B9-E3D4-7C88-16DD-E1CDEC591A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96" b="28120"/>
          <a:stretch/>
        </p:blipFill>
        <p:spPr bwMode="auto">
          <a:xfrm>
            <a:off x="4327503" y="3644323"/>
            <a:ext cx="3672746" cy="142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83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8AEC1F-EFDB-24AF-9B24-D9CD8C3385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What does it mean large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8AEC1F-EFDB-24AF-9B24-D9CD8C338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99BD27-375F-50FE-354C-098CF0EBB7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187804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 a rule of thumb, when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~30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distribution of the mean is well approximated by a normal distribution.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However, in general this number </a:t>
                </a:r>
                <a:r>
                  <a:rPr lang="en-US" sz="24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depends on the original distribution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the random variable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 For example, variables with a highly skewed distribution need larger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99BD27-375F-50FE-354C-098CF0EBB7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187804" cy="4351338"/>
              </a:xfrm>
              <a:blipFill>
                <a:blip r:embed="rId3"/>
                <a:stretch>
                  <a:fillRect l="-929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07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A84F-3F2F-42D4-88A3-62094D87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sample sum also follows CLT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F69526-2802-00F1-278A-261279921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sample sum: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0" smtClean="0">
                        <a:latin typeface="Cambria Math" panose="02040503050406030204" pitchFamily="18" charset="0"/>
                      </a:rPr>
                      <m:t>,      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r>
                  <a:rPr lang="en-US" dirty="0"/>
                  <a:t>Relevant for example for total error analysis.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F69526-2802-00F1-278A-261279921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BC544D6-7D03-36A1-79FA-A0E52BDEA0FC}"/>
              </a:ext>
            </a:extLst>
          </p:cNvPr>
          <p:cNvGrpSpPr/>
          <p:nvPr/>
        </p:nvGrpSpPr>
        <p:grpSpPr>
          <a:xfrm>
            <a:off x="95299" y="3387178"/>
            <a:ext cx="9039455" cy="2750379"/>
            <a:chOff x="95299" y="3387178"/>
            <a:chExt cx="9039455" cy="275037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3B4A5F9-2235-C191-4473-C814B2EEC4FD}"/>
                </a:ext>
              </a:extLst>
            </p:cNvPr>
            <p:cNvGrpSpPr/>
            <p:nvPr/>
          </p:nvGrpSpPr>
          <p:grpSpPr>
            <a:xfrm>
              <a:off x="193743" y="3417830"/>
              <a:ext cx="4336852" cy="2206035"/>
              <a:chOff x="4160939" y="2533475"/>
              <a:chExt cx="4336852" cy="220603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FA400EF-ECD7-CC1C-7FD9-364EB2F2B0A7}"/>
                  </a:ext>
                </a:extLst>
              </p:cNvPr>
              <p:cNvSpPr/>
              <p:nvPr/>
            </p:nvSpPr>
            <p:spPr>
              <a:xfrm>
                <a:off x="4160939" y="2533475"/>
                <a:ext cx="4336852" cy="2206035"/>
              </a:xfrm>
              <a:prstGeom prst="rect">
                <a:avLst/>
              </a:prstGeom>
              <a:solidFill>
                <a:srgbClr val="FFF2CC">
                  <a:alpha val="6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0965AB1-10A1-43F5-3F8F-3E79E063A5CF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878" y="4196148"/>
                    <a:ext cx="41769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spcAft>
                        <a:spcPts val="1200"/>
                      </a:spcAft>
                    </a:pPr>
                    <a:r>
                      <a:rPr lang="en-GB" dirty="0"/>
                      <a:t>Population mean: </a:t>
                    </a:r>
                    <a14:m>
                      <m:oMath xmlns:m="http://schemas.openxmlformats.org/officeDocument/2006/math"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a14:m>
                    <a:r>
                      <a:rPr lang="en-GB" dirty="0"/>
                      <a:t>           Population SD: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oMath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B752FBE-E76E-D497-059E-BE11745D55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0878" y="4196148"/>
                    <a:ext cx="4176913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314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Freeform: Shape 8">
                <a:extLst>
                  <a:ext uri="{FF2B5EF4-FFF2-40B4-BE49-F238E27FC236}">
                    <a16:creationId xmlns:a16="http://schemas.microsoft.com/office/drawing/2014/main" id="{92392B7C-D230-EAE7-B25A-19E5720C28FE}"/>
                  </a:ext>
                </a:extLst>
              </p:cNvPr>
              <p:cNvSpPr/>
              <p:nvPr/>
            </p:nvSpPr>
            <p:spPr>
              <a:xfrm>
                <a:off x="4640040" y="2910980"/>
                <a:ext cx="2482214" cy="1116984"/>
              </a:xfrm>
              <a:custGeom>
                <a:avLst/>
                <a:gdLst>
                  <a:gd name="connsiteX0" fmla="*/ 0 w 3590488"/>
                  <a:gd name="connsiteY0" fmla="*/ 1748055 h 1748055"/>
                  <a:gd name="connsiteX1" fmla="*/ 822121 w 3590488"/>
                  <a:gd name="connsiteY1" fmla="*/ 3145 h 1748055"/>
                  <a:gd name="connsiteX2" fmla="*/ 2499919 w 3590488"/>
                  <a:gd name="connsiteY2" fmla="*/ 1328605 h 1748055"/>
                  <a:gd name="connsiteX3" fmla="*/ 3590488 w 3590488"/>
                  <a:gd name="connsiteY3" fmla="*/ 1680943 h 1748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90488" h="1748055">
                    <a:moveTo>
                      <a:pt x="0" y="1748055"/>
                    </a:moveTo>
                    <a:cubicBezTo>
                      <a:pt x="202734" y="910554"/>
                      <a:pt x="405468" y="73053"/>
                      <a:pt x="822121" y="3145"/>
                    </a:cubicBezTo>
                    <a:cubicBezTo>
                      <a:pt x="1238774" y="-66763"/>
                      <a:pt x="2038525" y="1048972"/>
                      <a:pt x="2499919" y="1328605"/>
                    </a:cubicBezTo>
                    <a:cubicBezTo>
                      <a:pt x="2961313" y="1608238"/>
                      <a:pt x="3275900" y="1644590"/>
                      <a:pt x="3590488" y="1680943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21C0B721-871E-30A2-5B25-40D24E3BF7BD}"/>
                  </a:ext>
                </a:extLst>
              </p:cNvPr>
              <p:cNvCxnSpPr>
                <a:cxnSpLocks/>
                <a:stCxn id="21" idx="0"/>
              </p:cNvCxnSpPr>
              <p:nvPr/>
            </p:nvCxnSpPr>
            <p:spPr>
              <a:xfrm flipV="1">
                <a:off x="4640040" y="2751589"/>
                <a:ext cx="0" cy="12763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3FB4C295-DFA9-928D-D98C-B3DEE3D718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1651" y="4030611"/>
                <a:ext cx="272409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502AFE9-2E95-0EB4-D50B-13BA498443BA}"/>
                    </a:ext>
                  </a:extLst>
                </p:cNvPr>
                <p:cNvSpPr txBox="1"/>
                <p:nvPr/>
              </p:nvSpPr>
              <p:spPr>
                <a:xfrm>
                  <a:off x="3531074" y="4786548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502AFE9-2E95-0EB4-D50B-13BA498443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1074" y="4786548"/>
                  <a:ext cx="18332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BEC9E2-2AD9-29FF-D364-41D36CCDA6CB}"/>
                    </a:ext>
                  </a:extLst>
                </p:cNvPr>
                <p:cNvSpPr txBox="1"/>
                <p:nvPr/>
              </p:nvSpPr>
              <p:spPr>
                <a:xfrm>
                  <a:off x="95299" y="3387178"/>
                  <a:ext cx="6937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BEC9E2-2AD9-29FF-D364-41D36CCDA6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99" y="3387178"/>
                  <a:ext cx="69371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588758-F274-2EDF-20AF-5E92F2852973}"/>
                </a:ext>
              </a:extLst>
            </p:cNvPr>
            <p:cNvSpPr/>
            <p:nvPr/>
          </p:nvSpPr>
          <p:spPr>
            <a:xfrm>
              <a:off x="4891254" y="3417830"/>
              <a:ext cx="3851065" cy="2206035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0FC6096-6778-8841-4526-67251532B004}"/>
                </a:ext>
              </a:extLst>
            </p:cNvPr>
            <p:cNvGrpSpPr/>
            <p:nvPr/>
          </p:nvGrpSpPr>
          <p:grpSpPr>
            <a:xfrm>
              <a:off x="4850310" y="3476837"/>
              <a:ext cx="3763531" cy="1813646"/>
              <a:chOff x="4850310" y="1743569"/>
              <a:chExt cx="3763531" cy="1813646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D5889BF7-50F7-7DE6-C4C0-C7A014375C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305" y="1970241"/>
                <a:ext cx="0" cy="12763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1E5E51B-1262-DCC9-B485-4DC9A9383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4916" y="3249263"/>
                <a:ext cx="272409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3" name="Picture 2" descr="Bell Curve Icons - Free SVG &amp; PNG Bell Curve Images - Noun Project">
                <a:extLst>
                  <a:ext uri="{FF2B5EF4-FFF2-40B4-BE49-F238E27FC236}">
                    <a16:creationId xmlns:a16="http://schemas.microsoft.com/office/drawing/2014/main" id="{E2058090-D1FC-7197-E483-51259FC469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8120"/>
              <a:stretch/>
            </p:blipFill>
            <p:spPr bwMode="auto">
              <a:xfrm>
                <a:off x="4850310" y="1743569"/>
                <a:ext cx="2076147" cy="149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AE30264B-1CF1-9759-CFA8-A88AA4864B28}"/>
                      </a:ext>
                    </a:extLst>
                  </p:cNvPr>
                  <p:cNvSpPr txBox="1"/>
                  <p:nvPr/>
                </p:nvSpPr>
                <p:spPr>
                  <a:xfrm>
                    <a:off x="7652978" y="3218249"/>
                    <a:ext cx="18331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AE30264B-1CF1-9759-CFA8-A88AA4864B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52978" y="3218249"/>
                    <a:ext cx="183319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3333" r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B44D014-1500-A013-7A01-9B137F342EA2}"/>
                      </a:ext>
                    </a:extLst>
                  </p:cNvPr>
                  <p:cNvSpPr txBox="1"/>
                  <p:nvPr/>
                </p:nvSpPr>
                <p:spPr>
                  <a:xfrm>
                    <a:off x="4910502" y="1810430"/>
                    <a:ext cx="69371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B44D014-1500-A013-7A01-9B137F342E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0502" y="1810430"/>
                    <a:ext cx="693716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29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1B766EF-56A1-2165-D4EB-32E4C852497F}"/>
                  </a:ext>
                </a:extLst>
              </p:cNvPr>
              <p:cNvCxnSpPr/>
              <p:nvPr/>
            </p:nvCxnSpPr>
            <p:spPr>
              <a:xfrm flipV="1">
                <a:off x="5868897" y="1924960"/>
                <a:ext cx="0" cy="1342376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8AE8E23F-A297-D5AD-9E20-AD18023FD4A2}"/>
                      </a:ext>
                    </a:extLst>
                  </p:cNvPr>
                  <p:cNvSpPr txBox="1"/>
                  <p:nvPr/>
                </p:nvSpPr>
                <p:spPr>
                  <a:xfrm>
                    <a:off x="5686077" y="3187883"/>
                    <a:ext cx="46419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GB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8AE8E23F-A297-D5AD-9E20-AD18023FD4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077" y="3187883"/>
                    <a:ext cx="464197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92C0BCC1-3B7B-CCCF-4A3D-E071A61246D3}"/>
                      </a:ext>
                    </a:extLst>
                  </p:cNvPr>
                  <p:cNvSpPr txBox="1"/>
                  <p:nvPr/>
                </p:nvSpPr>
                <p:spPr>
                  <a:xfrm>
                    <a:off x="6916132" y="2037281"/>
                    <a:ext cx="1697709" cy="83651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spcAft>
                        <a:spcPts val="1200"/>
                      </a:spcAft>
                    </a:pPr>
                    <a:r>
                      <a:rPr lang="en-GB" dirty="0"/>
                      <a:t>mean: </a:t>
                    </a:r>
                    <a14:m>
                      <m:oMath xmlns:m="http://schemas.openxmlformats.org/officeDocument/2006/math"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oMath>
                    </a14:m>
                    <a:r>
                      <a:rPr lang="en-GB" dirty="0"/>
                      <a:t>   </a:t>
                    </a:r>
                  </a:p>
                  <a:p>
                    <a:pPr>
                      <a:spcAft>
                        <a:spcPts val="1200"/>
                      </a:spcAft>
                    </a:pPr>
                    <a:r>
                      <a:rPr lang="en-GB" dirty="0"/>
                      <a:t>SD: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GB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𝝈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GB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𝒏</m:t>
                                </m:r>
                              </m:sub>
                            </m:sSub>
                          </m:sub>
                        </m:sSub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GB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</m:t>
                            </m:r>
                          </m:e>
                        </m:rad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𝝈</m:t>
                        </m:r>
                      </m:oMath>
                    </a14:m>
                    <a:endParaRPr lang="en-GB" b="1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92C0BCC1-3B7B-CCCF-4A3D-E071A61246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6132" y="2037281"/>
                    <a:ext cx="1697709" cy="83651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963" t="-4545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1587F1-FD7C-F2F7-CEFA-569EA82FD973}"/>
                </a:ext>
              </a:extLst>
            </p:cNvPr>
            <p:cNvSpPr txBox="1"/>
            <p:nvPr/>
          </p:nvSpPr>
          <p:spPr>
            <a:xfrm>
              <a:off x="4654040" y="5768225"/>
              <a:ext cx="4480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GB" sz="18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ampling </a:t>
              </a:r>
              <a:r>
                <a:rPr lang="en-GB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GB" sz="18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istribution of the Sample Sum</a:t>
              </a:r>
              <a:endParaRPr lang="en-US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046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F949-870B-2C16-83ED-2CC93A06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Why is CLT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0FC16-F82F-3589-669C-ED36EA07B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74156" cy="4351338"/>
          </a:xfrm>
        </p:spPr>
        <p:txBody>
          <a:bodyPr/>
          <a:lstStyle/>
          <a:p>
            <a:r>
              <a:rPr lang="en-US" dirty="0"/>
              <a:t>It allows us to </a:t>
            </a:r>
            <a:r>
              <a:rPr lang="en-US" dirty="0">
                <a:solidFill>
                  <a:srgbClr val="00B050"/>
                </a:solidFill>
              </a:rPr>
              <a:t>make inferences about a population using sample statistics</a:t>
            </a:r>
            <a:r>
              <a:rPr lang="en-US" dirty="0"/>
              <a:t>, such as confidence intervals for the mean.</a:t>
            </a:r>
          </a:p>
          <a:p>
            <a:r>
              <a:rPr lang="en-US" dirty="0"/>
              <a:t>It justifies the </a:t>
            </a:r>
            <a:r>
              <a:rPr lang="en-US" dirty="0">
                <a:solidFill>
                  <a:srgbClr val="0070C0"/>
                </a:solidFill>
              </a:rPr>
              <a:t>use of the normal distribution </a:t>
            </a:r>
            <a:r>
              <a:rPr lang="en-US" dirty="0"/>
              <a:t>for hypothesis tests and confidence intervals.</a:t>
            </a:r>
          </a:p>
          <a:p>
            <a:r>
              <a:rPr lang="en-US" dirty="0"/>
              <a:t>It explains why the </a:t>
            </a:r>
            <a:r>
              <a:rPr lang="en-US" dirty="0">
                <a:solidFill>
                  <a:srgbClr val="FFC000"/>
                </a:solidFill>
              </a:rPr>
              <a:t>normal distribution is ubiquitous </a:t>
            </a:r>
            <a:r>
              <a:rPr lang="en-US" dirty="0"/>
              <a:t>in statistics: when we add or average many observations, the results follows a normal distribution.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28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2741A-204B-25D5-22AE-C77F48880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Many natural phenomena are additive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F9F81-68CA-202B-A430-DD529A17F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337929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Many real-world variables are the result of </a:t>
            </a:r>
            <a:r>
              <a:rPr lang="en-GB" dirty="0">
                <a:solidFill>
                  <a:srgbClr val="00B050"/>
                </a:solidFill>
              </a:rPr>
              <a:t>many small independent factors adding together</a:t>
            </a:r>
            <a:r>
              <a:rPr lang="en-GB" dirty="0"/>
              <a:t>, leading to normality.</a:t>
            </a:r>
            <a:r>
              <a:rPr lang="en-US" dirty="0"/>
              <a:t> For example:</a:t>
            </a:r>
          </a:p>
          <a:p>
            <a:r>
              <a:rPr lang="en-US" dirty="0"/>
              <a:t>Human traits (height, weight, blood pressure).</a:t>
            </a:r>
          </a:p>
          <a:p>
            <a:r>
              <a:rPr lang="en-US" dirty="0"/>
              <a:t>Measurement errors (random fluctuations in instruments).</a:t>
            </a:r>
          </a:p>
          <a:p>
            <a:r>
              <a:rPr lang="en-US" dirty="0"/>
              <a:t>Biological processes (metabolic rates, reaction times).</a:t>
            </a:r>
          </a:p>
          <a:p>
            <a:pPr lvl="1"/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8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561D-B4CC-D6AB-06C3-6682DC13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height of a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E41CF-5BD4-B944-4984-6FA327F7C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Height of a person determined by the </a:t>
            </a:r>
            <a:r>
              <a:rPr lang="en-US" sz="2400" dirty="0">
                <a:solidFill>
                  <a:srgbClr val="00B050"/>
                </a:solidFill>
              </a:rPr>
              <a:t>combination of many small independent factors</a:t>
            </a:r>
            <a:r>
              <a:rPr lang="en-US" sz="2400" dirty="0"/>
              <a:t>.</a:t>
            </a:r>
          </a:p>
          <a:p>
            <a:r>
              <a:rPr lang="en-US" sz="2400" dirty="0"/>
              <a:t>Genetic factors: many different genes, each </a:t>
            </a:r>
            <a:r>
              <a:rPr lang="en-US" sz="2400" dirty="0">
                <a:solidFill>
                  <a:srgbClr val="00B0F0"/>
                </a:solidFill>
              </a:rPr>
              <a:t>contributing independently </a:t>
            </a:r>
            <a:r>
              <a:rPr lang="en-US" sz="2400" dirty="0"/>
              <a:t>a small amount .</a:t>
            </a:r>
          </a:p>
          <a:p>
            <a:r>
              <a:rPr lang="en-US" sz="2400" dirty="0"/>
              <a:t>Nutrition, health condition, physical activity, stress, hormonal variation also contribute approximately independently.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8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erson and person&#10;&#10;AI-generated content may be incorrect.">
            <a:extLst>
              <a:ext uri="{FF2B5EF4-FFF2-40B4-BE49-F238E27FC236}">
                <a16:creationId xmlns:a16="http://schemas.microsoft.com/office/drawing/2014/main" id="{E1F63F45-5053-7437-2224-D5622E1CA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62" y="0"/>
            <a:ext cx="8378991" cy="664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2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3856</TotalTime>
  <Words>722</Words>
  <Application>Microsoft Macintosh PowerPoint</Application>
  <PresentationFormat>On-screen Show (4:3)</PresentationFormat>
  <Paragraphs>132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Law of large numbers</vt:lpstr>
      <vt:lpstr>Law of large numbers</vt:lpstr>
      <vt:lpstr>Central Limit Theorem</vt:lpstr>
      <vt:lpstr>Central Limit Theorem</vt:lpstr>
      <vt:lpstr>PowerPoint Presentation</vt:lpstr>
      <vt:lpstr>What does it mean large n?</vt:lpstr>
      <vt:lpstr>The sample sum also follows CLT</vt:lpstr>
      <vt:lpstr>Why is CLT important?</vt:lpstr>
      <vt:lpstr>Many natural phenomena are additive</vt:lpstr>
      <vt:lpstr>Example: height of a population</vt:lpstr>
      <vt:lpstr>PowerPoint Presentation</vt:lpstr>
    </vt:vector>
  </TitlesOfParts>
  <Company>University of Aberdeen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Debnath, Kapil</dc:creator>
  <cp:lastModifiedBy>Maria Carmen Romano</cp:lastModifiedBy>
  <cp:revision>4</cp:revision>
  <dcterms:created xsi:type="dcterms:W3CDTF">2024-04-09T07:32:59Z</dcterms:created>
  <dcterms:modified xsi:type="dcterms:W3CDTF">2025-03-16T08:41:31Z</dcterms:modified>
</cp:coreProperties>
</file>