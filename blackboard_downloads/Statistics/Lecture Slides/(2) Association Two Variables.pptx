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6" r:id="rId14"/>
    <p:sldId id="267" r:id="rId15"/>
    <p:sldId id="270" r:id="rId16"/>
    <p:sldId id="273" r:id="rId17"/>
    <p:sldId id="271" r:id="rId18"/>
    <p:sldId id="272" r:id="rId19"/>
    <p:sldId id="274" r:id="rId20"/>
    <p:sldId id="275" r:id="rId21"/>
    <p:sldId id="277" r:id="rId22"/>
    <p:sldId id="278" r:id="rId23"/>
    <p:sldId id="276" r:id="rId24"/>
    <p:sldId id="279" r:id="rId25"/>
    <p:sldId id="280" r:id="rId26"/>
    <p:sldId id="281" r:id="rId27"/>
    <p:sldId id="283" r:id="rId28"/>
    <p:sldId id="284" r:id="rId29"/>
    <p:sldId id="285" r:id="rId30"/>
    <p:sldId id="286" r:id="rId31"/>
    <p:sldId id="288" r:id="rId32"/>
    <p:sldId id="287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7A0A7A-50A5-B542-AB52-A644CB45FA5F}" v="422" dt="2025-03-10T17:27:10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no, M. Carmen" userId="aa8fdb40-17a6-4858-bc4e-f32e31186fd2" providerId="ADAL" clId="{3F7A0A7A-50A5-B542-AB52-A644CB45FA5F}"/>
    <pc:docChg chg="custSel modSld sldOrd">
      <pc:chgData name="Romano, M. Carmen" userId="aa8fdb40-17a6-4858-bc4e-f32e31186fd2" providerId="ADAL" clId="{3F7A0A7A-50A5-B542-AB52-A644CB45FA5F}" dt="2025-03-10T17:27:10.417" v="244"/>
      <pc:docMkLst>
        <pc:docMk/>
      </pc:docMkLst>
      <pc:sldChg chg="modSp mod">
        <pc:chgData name="Romano, M. Carmen" userId="aa8fdb40-17a6-4858-bc4e-f32e31186fd2" providerId="ADAL" clId="{3F7A0A7A-50A5-B542-AB52-A644CB45FA5F}" dt="2025-03-10T17:14:16.344" v="4" actId="20577"/>
        <pc:sldMkLst>
          <pc:docMk/>
          <pc:sldMk cId="1835083150" sldId="275"/>
        </pc:sldMkLst>
        <pc:spChg chg="mod">
          <ac:chgData name="Romano, M. Carmen" userId="aa8fdb40-17a6-4858-bc4e-f32e31186fd2" providerId="ADAL" clId="{3F7A0A7A-50A5-B542-AB52-A644CB45FA5F}" dt="2025-03-10T17:14:16.344" v="4" actId="20577"/>
          <ac:spMkLst>
            <pc:docMk/>
            <pc:sldMk cId="1835083150" sldId="275"/>
            <ac:spMk id="2" creationId="{B5DA5C47-0ABE-0DC4-214D-4700E25F036B}"/>
          </ac:spMkLst>
        </pc:spChg>
      </pc:sldChg>
      <pc:sldChg chg="modSp mod ord">
        <pc:chgData name="Romano, M. Carmen" userId="aa8fdb40-17a6-4858-bc4e-f32e31186fd2" providerId="ADAL" clId="{3F7A0A7A-50A5-B542-AB52-A644CB45FA5F}" dt="2025-03-10T17:14:45.208" v="11" actId="20578"/>
        <pc:sldMkLst>
          <pc:docMk/>
          <pc:sldMk cId="3214802725" sldId="276"/>
        </pc:sldMkLst>
        <pc:spChg chg="mod">
          <ac:chgData name="Romano, M. Carmen" userId="aa8fdb40-17a6-4858-bc4e-f32e31186fd2" providerId="ADAL" clId="{3F7A0A7A-50A5-B542-AB52-A644CB45FA5F}" dt="2025-03-10T17:14:34.114" v="10" actId="20577"/>
          <ac:spMkLst>
            <pc:docMk/>
            <pc:sldMk cId="3214802725" sldId="276"/>
            <ac:spMk id="2" creationId="{2355769E-E2D2-837E-1CE2-9F9639801269}"/>
          </ac:spMkLst>
        </pc:spChg>
      </pc:sldChg>
      <pc:sldChg chg="modSp mod">
        <pc:chgData name="Romano, M. Carmen" userId="aa8fdb40-17a6-4858-bc4e-f32e31186fd2" providerId="ADAL" clId="{3F7A0A7A-50A5-B542-AB52-A644CB45FA5F}" dt="2025-03-10T17:14:07.563" v="3" actId="20577"/>
        <pc:sldMkLst>
          <pc:docMk/>
          <pc:sldMk cId="430939152" sldId="277"/>
        </pc:sldMkLst>
        <pc:spChg chg="mod">
          <ac:chgData name="Romano, M. Carmen" userId="aa8fdb40-17a6-4858-bc4e-f32e31186fd2" providerId="ADAL" clId="{3F7A0A7A-50A5-B542-AB52-A644CB45FA5F}" dt="2025-03-10T17:14:07.563" v="3" actId="20577"/>
          <ac:spMkLst>
            <pc:docMk/>
            <pc:sldMk cId="430939152" sldId="277"/>
            <ac:spMk id="4" creationId="{CD19931F-E231-FB56-63AD-9D46427D6DC7}"/>
          </ac:spMkLst>
        </pc:spChg>
      </pc:sldChg>
      <pc:sldChg chg="modSp mod">
        <pc:chgData name="Romano, M. Carmen" userId="aa8fdb40-17a6-4858-bc4e-f32e31186fd2" providerId="ADAL" clId="{3F7A0A7A-50A5-B542-AB52-A644CB45FA5F}" dt="2025-03-10T17:14:02.481" v="2" actId="20577"/>
        <pc:sldMkLst>
          <pc:docMk/>
          <pc:sldMk cId="1069100969" sldId="278"/>
        </pc:sldMkLst>
        <pc:spChg chg="mod">
          <ac:chgData name="Romano, M. Carmen" userId="aa8fdb40-17a6-4858-bc4e-f32e31186fd2" providerId="ADAL" clId="{3F7A0A7A-50A5-B542-AB52-A644CB45FA5F}" dt="2025-03-10T17:14:02.481" v="2" actId="20577"/>
          <ac:spMkLst>
            <pc:docMk/>
            <pc:sldMk cId="1069100969" sldId="278"/>
            <ac:spMk id="4" creationId="{8A45BF63-9AAE-1A1D-C845-C0CCF510D7BF}"/>
          </ac:spMkLst>
        </pc:spChg>
      </pc:sldChg>
      <pc:sldChg chg="addSp delSp modSp mod">
        <pc:chgData name="Romano, M. Carmen" userId="aa8fdb40-17a6-4858-bc4e-f32e31186fd2" providerId="ADAL" clId="{3F7A0A7A-50A5-B542-AB52-A644CB45FA5F}" dt="2025-03-10T17:17:55.739" v="70" actId="1076"/>
        <pc:sldMkLst>
          <pc:docMk/>
          <pc:sldMk cId="2686355437" sldId="279"/>
        </pc:sldMkLst>
        <pc:spChg chg="mod">
          <ac:chgData name="Romano, M. Carmen" userId="aa8fdb40-17a6-4858-bc4e-f32e31186fd2" providerId="ADAL" clId="{3F7A0A7A-50A5-B542-AB52-A644CB45FA5F}" dt="2025-03-10T17:17:55.739" v="70" actId="1076"/>
          <ac:spMkLst>
            <pc:docMk/>
            <pc:sldMk cId="2686355437" sldId="279"/>
            <ac:spMk id="3" creationId="{246E8C24-7A31-2BA9-F5B0-4049D98B3CB7}"/>
          </ac:spMkLst>
        </pc:spChg>
        <pc:spChg chg="mod">
          <ac:chgData name="Romano, M. Carmen" userId="aa8fdb40-17a6-4858-bc4e-f32e31186fd2" providerId="ADAL" clId="{3F7A0A7A-50A5-B542-AB52-A644CB45FA5F}" dt="2025-03-10T17:15:28.991" v="17" actId="20577"/>
          <ac:spMkLst>
            <pc:docMk/>
            <pc:sldMk cId="2686355437" sldId="279"/>
            <ac:spMk id="4" creationId="{2441DC38-F892-6EB1-A304-FBDD4C1AF270}"/>
          </ac:spMkLst>
        </pc:spChg>
        <pc:spChg chg="add mod">
          <ac:chgData name="Romano, M. Carmen" userId="aa8fdb40-17a6-4858-bc4e-f32e31186fd2" providerId="ADAL" clId="{3F7A0A7A-50A5-B542-AB52-A644CB45FA5F}" dt="2025-03-10T17:17:52.548" v="69" actId="1076"/>
          <ac:spMkLst>
            <pc:docMk/>
            <pc:sldMk cId="2686355437" sldId="279"/>
            <ac:spMk id="6" creationId="{563377DA-DEC1-D52D-9AA9-2B99C330F16B}"/>
          </ac:spMkLst>
        </pc:spChg>
        <pc:picChg chg="del mod">
          <ac:chgData name="Romano, M. Carmen" userId="aa8fdb40-17a6-4858-bc4e-f32e31186fd2" providerId="ADAL" clId="{3F7A0A7A-50A5-B542-AB52-A644CB45FA5F}" dt="2025-03-10T17:17:22.154" v="62" actId="478"/>
          <ac:picMkLst>
            <pc:docMk/>
            <pc:sldMk cId="2686355437" sldId="279"/>
            <ac:picMk id="2" creationId="{BEC35EDC-DD5E-7D32-6657-7AB157F66162}"/>
          </ac:picMkLst>
        </pc:picChg>
        <pc:picChg chg="mod">
          <ac:chgData name="Romano, M. Carmen" userId="aa8fdb40-17a6-4858-bc4e-f32e31186fd2" providerId="ADAL" clId="{3F7A0A7A-50A5-B542-AB52-A644CB45FA5F}" dt="2025-03-10T17:17:49.412" v="68" actId="1076"/>
          <ac:picMkLst>
            <pc:docMk/>
            <pc:sldMk cId="2686355437" sldId="279"/>
            <ac:picMk id="5" creationId="{5141FF07-614E-C1A6-75FC-5AF29824D6DC}"/>
          </ac:picMkLst>
        </pc:picChg>
      </pc:sldChg>
      <pc:sldChg chg="modAnim">
        <pc:chgData name="Romano, M. Carmen" userId="aa8fdb40-17a6-4858-bc4e-f32e31186fd2" providerId="ADAL" clId="{3F7A0A7A-50A5-B542-AB52-A644CB45FA5F}" dt="2025-03-10T17:21:50.975" v="77"/>
        <pc:sldMkLst>
          <pc:docMk/>
          <pc:sldMk cId="3168211057" sldId="289"/>
        </pc:sldMkLst>
      </pc:sldChg>
      <pc:sldChg chg="modSp mod">
        <pc:chgData name="Romano, M. Carmen" userId="aa8fdb40-17a6-4858-bc4e-f32e31186fd2" providerId="ADAL" clId="{3F7A0A7A-50A5-B542-AB52-A644CB45FA5F}" dt="2025-03-10T17:23:44.797" v="97" actId="20577"/>
        <pc:sldMkLst>
          <pc:docMk/>
          <pc:sldMk cId="70361137" sldId="290"/>
        </pc:sldMkLst>
        <pc:spChg chg="mod">
          <ac:chgData name="Romano, M. Carmen" userId="aa8fdb40-17a6-4858-bc4e-f32e31186fd2" providerId="ADAL" clId="{3F7A0A7A-50A5-B542-AB52-A644CB45FA5F}" dt="2025-03-10T17:23:44.797" v="97" actId="20577"/>
          <ac:spMkLst>
            <pc:docMk/>
            <pc:sldMk cId="70361137" sldId="290"/>
            <ac:spMk id="3" creationId="{426E17F8-D313-17DC-D9BD-2F2F165CA840}"/>
          </ac:spMkLst>
        </pc:spChg>
      </pc:sldChg>
      <pc:sldChg chg="modSp mod">
        <pc:chgData name="Romano, M. Carmen" userId="aa8fdb40-17a6-4858-bc4e-f32e31186fd2" providerId="ADAL" clId="{3F7A0A7A-50A5-B542-AB52-A644CB45FA5F}" dt="2025-03-10T17:25:38.100" v="237" actId="20577"/>
        <pc:sldMkLst>
          <pc:docMk/>
          <pc:sldMk cId="3793380571" sldId="291"/>
        </pc:sldMkLst>
        <pc:spChg chg="mod">
          <ac:chgData name="Romano, M. Carmen" userId="aa8fdb40-17a6-4858-bc4e-f32e31186fd2" providerId="ADAL" clId="{3F7A0A7A-50A5-B542-AB52-A644CB45FA5F}" dt="2025-03-10T17:25:13.456" v="194" actId="20577"/>
          <ac:spMkLst>
            <pc:docMk/>
            <pc:sldMk cId="3793380571" sldId="291"/>
            <ac:spMk id="8" creationId="{3B9D3F14-DB0F-DD16-D0B6-A1AF167F9B68}"/>
          </ac:spMkLst>
        </pc:spChg>
        <pc:spChg chg="mod">
          <ac:chgData name="Romano, M. Carmen" userId="aa8fdb40-17a6-4858-bc4e-f32e31186fd2" providerId="ADAL" clId="{3F7A0A7A-50A5-B542-AB52-A644CB45FA5F}" dt="2025-03-10T17:25:38.100" v="237" actId="20577"/>
          <ac:spMkLst>
            <pc:docMk/>
            <pc:sldMk cId="3793380571" sldId="291"/>
            <ac:spMk id="9" creationId="{4FD6CC7B-0E57-0A01-42CC-76ABF7820FA2}"/>
          </ac:spMkLst>
        </pc:spChg>
      </pc:sldChg>
      <pc:sldChg chg="modAnim">
        <pc:chgData name="Romano, M. Carmen" userId="aa8fdb40-17a6-4858-bc4e-f32e31186fd2" providerId="ADAL" clId="{3F7A0A7A-50A5-B542-AB52-A644CB45FA5F}" dt="2025-03-10T17:26:43.913" v="241"/>
        <pc:sldMkLst>
          <pc:docMk/>
          <pc:sldMk cId="3823476525" sldId="294"/>
        </pc:sldMkLst>
      </pc:sldChg>
      <pc:sldChg chg="modAnim">
        <pc:chgData name="Romano, M. Carmen" userId="aa8fdb40-17a6-4858-bc4e-f32e31186fd2" providerId="ADAL" clId="{3F7A0A7A-50A5-B542-AB52-A644CB45FA5F}" dt="2025-03-10T17:27:10.417" v="244"/>
        <pc:sldMkLst>
          <pc:docMk/>
          <pc:sldMk cId="3270963995" sldId="29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E865-EE45-A822-852C-F69F20A42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14D7D2-B4F0-B3F6-ABE1-48B861657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B3CE-96B9-AB03-9984-2AA585449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621-A23C-CE41-BF40-0AAFB237D9C0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6A34B-55D8-44D5-6A1A-1D0BF607A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4E216-B27B-47D8-2BB1-CD8522756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D916-42A8-FF4B-A1FE-7EAAB067E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779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C9057-7E09-ADDC-2A56-31F5BCBCA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87914-94CB-6C31-89D7-3FBCCF188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A9FB4-C6F3-2891-6245-338B443F9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621-A23C-CE41-BF40-0AAFB237D9C0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83C8C-3EAC-8679-5C59-E7823C17C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A6733-A4D9-9664-AE4E-D4F3F336D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D916-42A8-FF4B-A1FE-7EAAB067E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47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B61B5-759E-3CA7-1173-DCF8709F0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83B85-96CB-2B88-D915-C62D22CC8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F87D1-B8C0-D904-8903-00E5F5902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621-A23C-CE41-BF40-0AAFB237D9C0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5254F-4931-489C-1F9B-55C8043CD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AC57F-B548-DFD2-54E8-4A8DF2A36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D916-42A8-FF4B-A1FE-7EAAB067E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62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28FA-1950-F6DB-EE41-A6CA914C0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E2F5C-9BCE-0CD8-28C9-45B317E58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88905-E6CB-DDCB-F3E9-910A5C5EE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C58D1-275B-7C9F-A634-9252ADB17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621-A23C-CE41-BF40-0AAFB237D9C0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E95B0-4E2D-83C7-2D24-81D15FBFB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4DE3A-E93E-1204-7CB3-79E09E365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D916-42A8-FF4B-A1FE-7EAAB067E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10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2A7B-AF7C-FB72-CBF9-02B13DAB9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D0B7B-4599-5A59-9C9D-9F6A8D072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0E2EFC-BD1D-2A09-B6B8-97929AB03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6FCA22-2730-B099-010F-266A993CD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AD4D48-2DC0-9C01-581B-34AD7A95C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A719D9-2D51-CD8A-3663-C1B70755E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621-A23C-CE41-BF40-0AAFB237D9C0}" type="datetimeFigureOut">
              <a:rPr lang="en-US" smtClean="0"/>
              <a:t>3/10/25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179825-0F6B-41AD-C985-AD06C1B8F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5D2ED6-CB3B-4B30-C992-F30A2382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D916-42A8-FF4B-A1FE-7EAAB067E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97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E4A5F-59BA-8621-6A1C-A4CF36C36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1FE63-E8DE-1A06-0B7E-97C51CD3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621-A23C-CE41-BF40-0AAFB237D9C0}" type="datetimeFigureOut">
              <a:rPr lang="en-US" smtClean="0"/>
              <a:t>3/10/25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32C4D0-B3F1-E4C8-307B-27E8B48B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2DCB83-AA7C-B66C-2D78-83C3E8B36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D916-42A8-FF4B-A1FE-7EAAB067E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82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B2655B-1632-8D94-859E-7FA4C600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621-A23C-CE41-BF40-0AAFB237D9C0}" type="datetimeFigureOut">
              <a:rPr lang="en-US" smtClean="0"/>
              <a:t>3/10/25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AD7AC-6D69-A6E8-17E2-45D0892F8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D162E-50D7-C8AA-2A9D-D02C08E6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D916-42A8-FF4B-A1FE-7EAAB067E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24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17552-5425-BC37-8C16-F5A35BF67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5A4C2-0B3A-A759-207F-80AB0A197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925A4-4C0B-DBC7-F5D7-C3A8B669D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A3E93-F71F-82F8-2DBC-CF25BA702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621-A23C-CE41-BF40-0AAFB237D9C0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C75F6-3BA8-B431-52BF-BF95BF50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EF8B2-3034-74D0-EF41-ACAD8AF3F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D916-42A8-FF4B-A1FE-7EAAB067E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74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A562-15C8-22EA-E669-7CF6338BC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86C15-FBA2-5B14-C374-71F28D3D0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22833-9104-55EE-FC45-7D11B2F86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3D072-9155-72BC-1639-2CE33A46A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621-A23C-CE41-BF40-0AAFB237D9C0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3410C-C80D-7FB2-1099-DF6B0318F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D8EFF-BA61-1C98-1239-BE120E44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D916-42A8-FF4B-A1FE-7EAAB067E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3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927F6-FAA8-F22C-1398-7ECE71AF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848F3-F1D4-A5D3-2464-C2E124C6A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F7586-8311-B9C5-C7DA-AA80EE17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621-A23C-CE41-BF40-0AAFB237D9C0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B9C3C-E238-C3C0-CBC4-70FC0AB70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64ABF-961A-791C-F73E-0338C940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D916-42A8-FF4B-A1FE-7EAAB067E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05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4D8969-5758-9F8E-B43F-52D40ACB94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5BFFC1-A491-D712-1E9E-8F861E4EB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6AC46-A9EE-A591-9D0B-AC1B083B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621-A23C-CE41-BF40-0AAFB237D9C0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884C4-B9F9-1BFE-9DD1-3B73EFF75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949FF-FFBC-D3B0-63DC-FF502529C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D916-42A8-FF4B-A1FE-7EAAB067E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28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84DB0A-F23A-10C1-75D6-38DE52C5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A34BC-F217-4468-BD8B-E41B20A65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57754-7E44-D419-8DD3-643B6CBE3F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E1F621-A23C-CE41-BF40-0AAFB237D9C0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A0C4-9D0E-EC7D-7F3C-04B3FAAAD6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D9AA6-53EC-0F5D-3293-D9F9CD74E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CD916-42A8-FF4B-A1FE-7EAAB067E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29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emf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B3C8-9C02-BA7D-47F2-56966FE456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Association of two variables</a:t>
            </a:r>
          </a:p>
        </p:txBody>
      </p:sp>
    </p:spTree>
    <p:extLst>
      <p:ext uri="{BB962C8B-B14F-4D97-AF65-F5344CB8AC3E}">
        <p14:creationId xmlns:p14="http://schemas.microsoft.com/office/powerpoint/2010/main" val="1928496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32CF-4834-8338-56DD-54AC7976F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Summarising</a:t>
            </a:r>
            <a:r>
              <a:rPr lang="en-US" dirty="0">
                <a:solidFill>
                  <a:srgbClr val="0070C0"/>
                </a:solidFill>
              </a:rPr>
              <a:t> distribution of two </a:t>
            </a:r>
            <a:r>
              <a:rPr lang="en-US" dirty="0">
                <a:solidFill>
                  <a:srgbClr val="00B050"/>
                </a:solidFill>
              </a:rPr>
              <a:t>discrete</a:t>
            </a:r>
            <a:r>
              <a:rPr lang="en-US" dirty="0">
                <a:solidFill>
                  <a:srgbClr val="0070C0"/>
                </a:solidFill>
              </a:rPr>
              <a:t> variables: </a:t>
            </a:r>
            <a:r>
              <a:rPr lang="en-US" dirty="0"/>
              <a:t>contingency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930E1D-FFB5-593C-4787-39D926326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822" y="1325563"/>
            <a:ext cx="5675625" cy="19715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F99B6B-57BF-8995-D06C-2A82BFF16341}"/>
              </a:ext>
            </a:extLst>
          </p:cNvPr>
          <p:cNvSpPr txBox="1"/>
          <p:nvPr/>
        </p:nvSpPr>
        <p:spPr>
          <a:xfrm>
            <a:off x="421579" y="2007949"/>
            <a:ext cx="83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survey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DF9A49-F9E8-10FF-E8D4-C5011E613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826" y="3429000"/>
            <a:ext cx="9256974" cy="31920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4F1D1C-659F-D168-A6DB-14F312D3ED2E}"/>
              </a:ext>
            </a:extLst>
          </p:cNvPr>
          <p:cNvSpPr txBox="1"/>
          <p:nvPr/>
        </p:nvSpPr>
        <p:spPr>
          <a:xfrm>
            <a:off x="421578" y="4655698"/>
            <a:ext cx="1447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contingency </a:t>
            </a:r>
          </a:p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852402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350298-1E9C-D6CB-52A3-4958F5592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95" y="1290107"/>
            <a:ext cx="11488561" cy="53985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C2BF72-CC0A-22EF-4227-25F0B954095A}"/>
              </a:ext>
            </a:extLst>
          </p:cNvPr>
          <p:cNvSpPr txBox="1"/>
          <p:nvPr/>
        </p:nvSpPr>
        <p:spPr>
          <a:xfrm>
            <a:off x="3380096" y="321733"/>
            <a:ext cx="48170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General contingency table</a:t>
            </a:r>
          </a:p>
        </p:txBody>
      </p:sp>
    </p:spTree>
    <p:extLst>
      <p:ext uri="{BB962C8B-B14F-4D97-AF65-F5344CB8AC3E}">
        <p14:creationId xmlns:p14="http://schemas.microsoft.com/office/powerpoint/2010/main" val="162250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966954-31D1-D003-BBC7-56F6FFAD3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085" y="342900"/>
            <a:ext cx="9657365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9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B0E208-0F02-36E9-D7FA-311308EEB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60" y="215804"/>
            <a:ext cx="11813480" cy="34554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9DE2E8-7A9A-0B89-5BF5-23E7B2E72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42" y="3671247"/>
            <a:ext cx="2280557" cy="5234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8BDDAA-CC51-2E6A-5B0A-ED06537C3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988" y="3629268"/>
            <a:ext cx="3677931" cy="60736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222CE7-3DF3-4F3F-8658-573BFB83C0F2}"/>
              </a:ext>
            </a:extLst>
          </p:cNvPr>
          <p:cNvCxnSpPr/>
          <p:nvPr/>
        </p:nvCxnSpPr>
        <p:spPr>
          <a:xfrm>
            <a:off x="3275463" y="3960246"/>
            <a:ext cx="36891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FDF6B69-55AE-8815-5B8B-2D099F1232B5}"/>
              </a:ext>
            </a:extLst>
          </p:cNvPr>
          <p:cNvSpPr txBox="1"/>
          <p:nvPr/>
        </p:nvSpPr>
        <p:spPr>
          <a:xfrm>
            <a:off x="8477208" y="4910661"/>
            <a:ext cx="3070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37.5% of passengers who rated the flight quality as good were flying economy.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BDFF55-36E0-B95C-2926-54AC21F19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542" y="4898787"/>
            <a:ext cx="1790966" cy="778681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D78245-B700-599C-4DDE-E047BBF3A12D}"/>
              </a:ext>
            </a:extLst>
          </p:cNvPr>
          <p:cNvCxnSpPr/>
          <p:nvPr/>
        </p:nvCxnSpPr>
        <p:spPr>
          <a:xfrm>
            <a:off x="3275463" y="5300001"/>
            <a:ext cx="36891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EF1BECE-7065-FB37-EABA-8257B6FA12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3417" y="4910661"/>
            <a:ext cx="3731175" cy="7786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672A944-8618-86FF-1ABA-F3FB530B11CC}"/>
              </a:ext>
            </a:extLst>
          </p:cNvPr>
          <p:cNvSpPr txBox="1"/>
          <p:nvPr/>
        </p:nvSpPr>
        <p:spPr>
          <a:xfrm>
            <a:off x="8477208" y="3673519"/>
            <a:ext cx="3070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16% of passengers flying economy rate the flight quality as poor.</a:t>
            </a:r>
          </a:p>
        </p:txBody>
      </p:sp>
    </p:spTree>
    <p:extLst>
      <p:ext uri="{BB962C8B-B14F-4D97-AF65-F5344CB8AC3E}">
        <p14:creationId xmlns:p14="http://schemas.microsoft.com/office/powerpoint/2010/main" val="2508619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097D0-CE0E-499F-DEEA-674754A52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Graphical representation of two nominal or ordinal 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3A9608-9837-7FE3-CB60-1F2F6085F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067" y="1747350"/>
            <a:ext cx="9398000" cy="474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08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C9F14-35DA-C8D9-F9C3-1168C2302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Independent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79C91-E40B-CD43-5B2D-4B01EB317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3736"/>
          </a:xfrm>
        </p:spPr>
        <p:txBody>
          <a:bodyPr/>
          <a:lstStyle/>
          <a:p>
            <a:r>
              <a:rPr lang="en-US" dirty="0"/>
              <a:t>Two variables are considered </a:t>
            </a:r>
            <a:r>
              <a:rPr lang="en-US" dirty="0">
                <a:solidFill>
                  <a:srgbClr val="00B0F0"/>
                </a:solidFill>
              </a:rPr>
              <a:t>independent </a:t>
            </a:r>
            <a:r>
              <a:rPr lang="en-US" dirty="0"/>
              <a:t>if the observations on one variable do not affect the observations on the other variable (e.g. two persons rolling a die separately).</a:t>
            </a:r>
          </a:p>
          <a:p>
            <a:r>
              <a:rPr lang="en-US" dirty="0"/>
              <a:t>If two variables are independent, then: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4352C0-EBEB-5646-30F8-7DEF321CD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691" y="3724298"/>
            <a:ext cx="1973834" cy="62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055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463E1-55C6-608A-311C-CD3458BBA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D29A9-F272-4E14-95EE-DAA84AFF0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Independent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AE5B3-2F28-2F0D-9D82-C33FA6024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3736"/>
          </a:xfrm>
        </p:spPr>
        <p:txBody>
          <a:bodyPr/>
          <a:lstStyle/>
          <a:p>
            <a:r>
              <a:rPr lang="en-US" dirty="0"/>
              <a:t>Two variables are considered </a:t>
            </a:r>
            <a:r>
              <a:rPr lang="en-US" dirty="0">
                <a:solidFill>
                  <a:srgbClr val="00B0F0"/>
                </a:solidFill>
              </a:rPr>
              <a:t>independent </a:t>
            </a:r>
            <a:r>
              <a:rPr lang="en-US" dirty="0"/>
              <a:t>if the observations on one variable do not affect the observations on the other variable (e.g. two persons rolling a die separately).</a:t>
            </a:r>
          </a:p>
          <a:p>
            <a:r>
              <a:rPr lang="en-US" dirty="0"/>
              <a:t>If two variables are independent, then: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4949CE-E397-E56E-A42F-77F79DCEE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691" y="3724298"/>
            <a:ext cx="1973834" cy="629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A39339-F82E-DC88-66D6-6AD783F67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27" y="4488573"/>
            <a:ext cx="7169909" cy="223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2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69F3-792F-B23E-C70C-24352F7E2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4D8EA-E8F3-8EAC-B89E-9B7CAE195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Independent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41655-B36A-5761-5499-8DFA351EA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3736"/>
          </a:xfrm>
        </p:spPr>
        <p:txBody>
          <a:bodyPr/>
          <a:lstStyle/>
          <a:p>
            <a:r>
              <a:rPr lang="en-US" dirty="0"/>
              <a:t>Two variables are considered </a:t>
            </a:r>
            <a:r>
              <a:rPr lang="en-US" dirty="0">
                <a:solidFill>
                  <a:srgbClr val="00B0F0"/>
                </a:solidFill>
              </a:rPr>
              <a:t>independent </a:t>
            </a:r>
            <a:r>
              <a:rPr lang="en-US" dirty="0"/>
              <a:t>if the observations on one variable do not affect the observations on the other variable (e.g. two persons rolling a die separately).</a:t>
            </a:r>
          </a:p>
          <a:p>
            <a:r>
              <a:rPr lang="en-US" dirty="0"/>
              <a:t>If two variables are independent, then: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D8975-7CC3-9F63-0E2C-F0E251D52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691" y="3724298"/>
            <a:ext cx="1973834" cy="629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2734E8-F4B8-92D1-7365-4AF25D1C2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27" y="4488573"/>
            <a:ext cx="7169909" cy="22352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E7FCA8-AD3F-2260-0659-63C894760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14" y="4846893"/>
            <a:ext cx="2669275" cy="5676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26CCD3-B8D5-98B7-ACB7-634958F22E78}"/>
              </a:ext>
            </a:extLst>
          </p:cNvPr>
          <p:cNvSpPr txBox="1"/>
          <p:nvPr/>
        </p:nvSpPr>
        <p:spPr>
          <a:xfrm>
            <a:off x="9075761" y="4353636"/>
            <a:ext cx="110498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expected</a:t>
            </a:r>
          </a:p>
        </p:txBody>
      </p:sp>
    </p:spTree>
    <p:extLst>
      <p:ext uri="{BB962C8B-B14F-4D97-AF65-F5344CB8AC3E}">
        <p14:creationId xmlns:p14="http://schemas.microsoft.com/office/powerpoint/2010/main" val="2288350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B9FE0-1FC4-884E-D52E-51A3C0B99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0BE84-0214-8E78-9E92-1CE9FCE61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Independent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0F4EF-8644-C374-2DD8-5ADA1469B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3736"/>
          </a:xfrm>
        </p:spPr>
        <p:txBody>
          <a:bodyPr/>
          <a:lstStyle/>
          <a:p>
            <a:r>
              <a:rPr lang="en-US" dirty="0"/>
              <a:t>Two variables are considered </a:t>
            </a:r>
            <a:r>
              <a:rPr lang="en-US" dirty="0">
                <a:solidFill>
                  <a:srgbClr val="00B0F0"/>
                </a:solidFill>
              </a:rPr>
              <a:t>independent </a:t>
            </a:r>
            <a:r>
              <a:rPr lang="en-US" dirty="0"/>
              <a:t>if the observations on one variable do not affect the observations on the other variable (e.g. two persons rolling a die separately).</a:t>
            </a:r>
          </a:p>
          <a:p>
            <a:r>
              <a:rPr lang="en-US" dirty="0"/>
              <a:t>If two variables are independent, then: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D3CB43-C5F7-4B4B-AC80-59F7EBDD7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691" y="3724298"/>
            <a:ext cx="1973834" cy="629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FBEEEA-995C-E932-168E-20E08039C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27" y="4488573"/>
            <a:ext cx="7169909" cy="22352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353BE2-51E7-D94E-7DA6-E20C8E6C7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14" y="4846893"/>
            <a:ext cx="2669275" cy="5676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885CDA-E937-1C25-1829-66FF39952538}"/>
              </a:ext>
            </a:extLst>
          </p:cNvPr>
          <p:cNvSpPr txBox="1"/>
          <p:nvPr/>
        </p:nvSpPr>
        <p:spPr>
          <a:xfrm>
            <a:off x="9075761" y="4353636"/>
            <a:ext cx="110498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expected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075753-A6DE-6993-A821-9B1C2BC71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14" y="6149858"/>
            <a:ext cx="1923466" cy="5739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C9CAD6-688A-AD24-902B-524C0AD969D5}"/>
              </a:ext>
            </a:extLst>
          </p:cNvPr>
          <p:cNvSpPr txBox="1"/>
          <p:nvPr/>
        </p:nvSpPr>
        <p:spPr>
          <a:xfrm>
            <a:off x="9075760" y="5623286"/>
            <a:ext cx="110921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observed</a:t>
            </a:r>
          </a:p>
        </p:txBody>
      </p:sp>
    </p:spTree>
    <p:extLst>
      <p:ext uri="{BB962C8B-B14F-4D97-AF65-F5344CB8AC3E}">
        <p14:creationId xmlns:p14="http://schemas.microsoft.com/office/powerpoint/2010/main" val="512174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85955-2108-D6A4-0F98-69C98730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81B1C-9C1A-89B3-72D4-7E6FF2C8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Independent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0FD85-4445-60E4-CCFB-09EC226B1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3736"/>
          </a:xfrm>
        </p:spPr>
        <p:txBody>
          <a:bodyPr/>
          <a:lstStyle/>
          <a:p>
            <a:r>
              <a:rPr lang="en-US" dirty="0"/>
              <a:t>Two variables are considered </a:t>
            </a:r>
            <a:r>
              <a:rPr lang="en-US" dirty="0">
                <a:solidFill>
                  <a:srgbClr val="00B0F0"/>
                </a:solidFill>
              </a:rPr>
              <a:t>independent </a:t>
            </a:r>
            <a:r>
              <a:rPr lang="en-US" dirty="0"/>
              <a:t>if the observations on one variable do not affect the observations on the other variable (e.g. two persons rolling a die separately).</a:t>
            </a:r>
          </a:p>
          <a:p>
            <a:r>
              <a:rPr lang="en-US" dirty="0"/>
              <a:t>If two variables are independent, then: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B68109-2BA8-32C1-4FDD-4DE55CA8A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691" y="3724298"/>
            <a:ext cx="1973834" cy="629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13D678-8301-AB59-3131-FD84DE1E0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28" y="4488573"/>
            <a:ext cx="9692095" cy="132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770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BE9AF-A33E-3096-406C-9A5739C24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0038-5C3F-77A0-23C7-19E77547C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Independent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AE3FF-5B3B-2A9C-042F-B01702B8B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3736"/>
          </a:xfrm>
        </p:spPr>
        <p:txBody>
          <a:bodyPr/>
          <a:lstStyle/>
          <a:p>
            <a:r>
              <a:rPr lang="en-US" dirty="0"/>
              <a:t>Two variables are considered </a:t>
            </a:r>
            <a:r>
              <a:rPr lang="en-US" dirty="0">
                <a:solidFill>
                  <a:srgbClr val="00B0F0"/>
                </a:solidFill>
              </a:rPr>
              <a:t>independent </a:t>
            </a:r>
            <a:r>
              <a:rPr lang="en-US" dirty="0"/>
              <a:t>if the observations on one variable do not affect the observations on the other variable (e.g. two persons rolling a die separately).</a:t>
            </a:r>
          </a:p>
          <a:p>
            <a:r>
              <a:rPr lang="en-US" dirty="0"/>
              <a:t>If two variables are independent, then: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58317B-D852-3BF2-1479-20338114D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691" y="3724298"/>
            <a:ext cx="1973834" cy="629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8C0E5B-5884-4A32-1CF8-BCF3711B9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297" y="3811405"/>
            <a:ext cx="2669275" cy="5676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04DA1D-6A81-C00B-CC8B-843463D90D10}"/>
              </a:ext>
            </a:extLst>
          </p:cNvPr>
          <p:cNvSpPr txBox="1"/>
          <p:nvPr/>
        </p:nvSpPr>
        <p:spPr>
          <a:xfrm>
            <a:off x="8969558" y="3244334"/>
            <a:ext cx="293432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Expected relative frequency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816E28-056D-2F8A-4A72-1163A0643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628" y="4488573"/>
            <a:ext cx="9692095" cy="13265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08856F-7C67-069F-2A17-F53976BBEC78}"/>
              </a:ext>
            </a:extLst>
          </p:cNvPr>
          <p:cNvSpPr txBox="1"/>
          <p:nvPr/>
        </p:nvSpPr>
        <p:spPr>
          <a:xfrm>
            <a:off x="8969558" y="5555377"/>
            <a:ext cx="308007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Expected absolute frequency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14FED8-C1C1-9960-2D21-124920636C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078" y="6204198"/>
            <a:ext cx="3749499" cy="27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80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F3DC-D550-142A-EC0D-5239EAD0D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Measures of association of two discrete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B67E-6A82-30D1-5C75-05A4DA578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two variables are not independent, we say they are associated.</a:t>
            </a:r>
          </a:p>
          <a:p>
            <a:r>
              <a:rPr lang="en-US" dirty="0"/>
              <a:t>Measures of association describe the strength of association, and they can have a direction too (except for nominal variables).</a:t>
            </a:r>
          </a:p>
        </p:txBody>
      </p:sp>
    </p:spTree>
    <p:extLst>
      <p:ext uri="{BB962C8B-B14F-4D97-AF65-F5344CB8AC3E}">
        <p14:creationId xmlns:p14="http://schemas.microsoft.com/office/powerpoint/2010/main" val="2533472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F21BA5-4260-23BB-A1C1-8410FE02527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70C0"/>
                    </a:solidFill>
                  </a:rPr>
                  <a:t>Pearson’s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statistic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F21BA5-4260-23BB-A1C1-8410FE0252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0A0D4D0-5632-E345-6B3E-30331D339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88" y="1690688"/>
            <a:ext cx="8068644" cy="13255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4AC00C-273E-E22D-32CA-21AD185196C9}"/>
              </a:ext>
            </a:extLst>
          </p:cNvPr>
          <p:cNvSpPr txBox="1"/>
          <p:nvPr/>
        </p:nvSpPr>
        <p:spPr>
          <a:xfrm>
            <a:off x="838200" y="3518584"/>
            <a:ext cx="11000095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It measures the </a:t>
            </a:r>
            <a:r>
              <a:rPr lang="en-US" dirty="0">
                <a:solidFill>
                  <a:srgbClr val="FF0000"/>
                </a:solidFill>
              </a:rPr>
              <a:t>deviation from independence</a:t>
            </a:r>
            <a:r>
              <a:rPr lang="en-US" dirty="0"/>
              <a:t>: the stronger the relationship between the variables, the higher the deviations between observed and expected frequencies under independence assumption.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9F9E0D-A6D8-8E84-3044-079668E83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57" y="4844147"/>
            <a:ext cx="4431977" cy="6463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769571-5830-1665-BE7B-855B535C468F}"/>
              </a:ext>
            </a:extLst>
          </p:cNvPr>
          <p:cNvSpPr txBox="1"/>
          <p:nvPr/>
        </p:nvSpPr>
        <p:spPr>
          <a:xfrm>
            <a:off x="6422915" y="4982646"/>
            <a:ext cx="2637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Range of possible 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AED371-0C52-1EFD-DDDA-C4FA57A84DB7}"/>
              </a:ext>
            </a:extLst>
          </p:cNvPr>
          <p:cNvSpPr txBox="1"/>
          <p:nvPr/>
        </p:nvSpPr>
        <p:spPr>
          <a:xfrm>
            <a:off x="8924742" y="2235304"/>
            <a:ext cx="2685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k x l contingency table</a:t>
            </a:r>
          </a:p>
        </p:txBody>
      </p:sp>
    </p:spTree>
    <p:extLst>
      <p:ext uri="{BB962C8B-B14F-4D97-AF65-F5344CB8AC3E}">
        <p14:creationId xmlns:p14="http://schemas.microsoft.com/office/powerpoint/2010/main" val="3131857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5A679-69CF-1291-C0CC-6E27390BF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AE700C-354A-67B6-1434-A1FEDA080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07" y="1690688"/>
            <a:ext cx="10017759" cy="245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743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0227F-ECE8-1DE7-E90A-70AA8ADE9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323A-24A4-9E44-68B1-8888AD520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70C1F-EF70-FDA5-4B6C-9EF150AFC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07" y="1690688"/>
            <a:ext cx="10017759" cy="2455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97692B-D47E-FF6E-1093-C30880B71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7" y="4253441"/>
            <a:ext cx="9993622" cy="91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379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793BB-4CFA-ED05-2744-7CA0377B5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35251-D100-92F2-96E9-50669FA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09E923-8A4C-AF42-34A5-6020A5EAB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07" y="1690688"/>
            <a:ext cx="10017759" cy="2455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6FA7AC-4A08-0AE3-FB3E-65482D410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7" y="4253441"/>
            <a:ext cx="9993622" cy="913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0DB40D-08FF-45FA-96E2-B913F0897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471584"/>
            <a:ext cx="895985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17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7A4CA-2454-210A-D404-31F42D23E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E4782-EEDF-05FE-944B-01A04494E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C32046-1F4A-E78E-FDCA-6E8C3EBDA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07" y="1690688"/>
            <a:ext cx="10017759" cy="2455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F8377B-F96A-2D8B-A70C-6ED42EE18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7" y="4253441"/>
            <a:ext cx="9993622" cy="913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FC4649-869B-02DF-BDE4-3DFBE0DE9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471584"/>
            <a:ext cx="8959850" cy="431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6366C1-33FB-A8A2-84B1-B4BEBFD463BB}"/>
              </a:ext>
            </a:extLst>
          </p:cNvPr>
          <p:cNvSpPr txBox="1"/>
          <p:nvPr/>
        </p:nvSpPr>
        <p:spPr>
          <a:xfrm>
            <a:off x="741359" y="6123543"/>
            <a:ext cx="9153531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Interpretation: moderate association between travel class and overall rating of flight quality.</a:t>
            </a:r>
          </a:p>
        </p:txBody>
      </p:sp>
    </p:spTree>
    <p:extLst>
      <p:ext uri="{BB962C8B-B14F-4D97-AF65-F5344CB8AC3E}">
        <p14:creationId xmlns:p14="http://schemas.microsoft.com/office/powerpoint/2010/main" val="1401262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4D23C-7462-0ED1-356B-034B4008F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Cramer’s V 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A7C96C-E759-4F13-9597-A69625D25A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Pearson’s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coefficient has the main disadvantage that the range of its maximum value depends on sample size and size of contingency table.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A7C96C-E759-4F13-9597-A69625D25A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  <a:blipFill>
                <a:blip r:embed="rId2"/>
                <a:stretch>
                  <a:fillRect l="-1206" t="-7547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366A0D2-9DB4-C5BA-A66F-4C6D08BC2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397" y="3286125"/>
            <a:ext cx="3205787" cy="11853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20F8F7B-CA31-EB8D-17DA-0AE7275563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788958"/>
                <a:ext cx="10515600" cy="13255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Cramer’s V statistic is a </a:t>
                </a:r>
                <a:r>
                  <a:rPr lang="en-US" dirty="0" err="1"/>
                  <a:t>standardised</a:t>
                </a:r>
                <a:r>
                  <a:rPr lang="en-US" dirty="0"/>
                  <a:t> version of Pearson’s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coefficient with maximal value 1. The closer V gets to 1, the stronger the association between the variables.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20F8F7B-CA31-EB8D-17DA-0AE727556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88958"/>
                <a:ext cx="10515600" cy="1325563"/>
              </a:xfrm>
              <a:prstGeom prst="rect">
                <a:avLst/>
              </a:prstGeom>
              <a:blipFill>
                <a:blip r:embed="rId4"/>
                <a:stretch>
                  <a:fillRect l="-1206" t="-7619" r="-1809" b="-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1313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A5C47-0ABE-0DC4-214D-4700E25F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Relative risks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6B07A5-2ED4-2206-6C7A-C69F4E39A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5748"/>
            <a:ext cx="9971022" cy="25421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498E43-B253-74AE-2A26-9B07C6D6A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98" y="4097865"/>
            <a:ext cx="3700570" cy="10773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843323-5520-C2AE-04DF-AF5E42016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459" y="5442384"/>
            <a:ext cx="3442084" cy="10626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CC74A6-40A1-D0FB-EA84-26EBCB98B0C4}"/>
              </a:ext>
            </a:extLst>
          </p:cNvPr>
          <p:cNvSpPr txBox="1"/>
          <p:nvPr/>
        </p:nvSpPr>
        <p:spPr>
          <a:xfrm>
            <a:off x="5110695" y="5103822"/>
            <a:ext cx="1426031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relative risks</a:t>
            </a:r>
          </a:p>
        </p:txBody>
      </p:sp>
    </p:spTree>
    <p:extLst>
      <p:ext uri="{BB962C8B-B14F-4D97-AF65-F5344CB8AC3E}">
        <p14:creationId xmlns:p14="http://schemas.microsoft.com/office/powerpoint/2010/main" val="1835083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D19931F-E231-FB56-63AD-9D46427D6DC7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Relative risks: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43BF79-4EF7-ADB2-F5D1-BE094F7D2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94366"/>
            <a:ext cx="5901267" cy="2432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DFEBCA-BA29-D1C3-9B91-4AC2F0CE2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50603"/>
            <a:ext cx="3436205" cy="11535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1479DB-921A-C62D-2CA5-4519D76C0508}"/>
              </a:ext>
            </a:extLst>
          </p:cNvPr>
          <p:cNvSpPr txBox="1"/>
          <p:nvPr/>
        </p:nvSpPr>
        <p:spPr>
          <a:xfrm>
            <a:off x="4448621" y="4142728"/>
            <a:ext cx="6537827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proportion of individuals with the disease is 1.69 times higher among smokers. </a:t>
            </a:r>
          </a:p>
        </p:txBody>
      </p:sp>
    </p:spTree>
    <p:extLst>
      <p:ext uri="{BB962C8B-B14F-4D97-AF65-F5344CB8AC3E}">
        <p14:creationId xmlns:p14="http://schemas.microsoft.com/office/powerpoint/2010/main" val="430939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BF9F4-C3EF-58AE-9672-6F1B76D98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A45BF63-9AAE-1A1D-C845-C0CCF510D7BF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Relative risks: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E9ACC6-AABA-CF6E-D6C3-E93532DA5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94366"/>
            <a:ext cx="5901267" cy="2432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ABB777-6017-7A86-93C3-FB26EB255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50603"/>
            <a:ext cx="3436205" cy="11535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69C437-C721-00D1-6324-DEF426926A1B}"/>
              </a:ext>
            </a:extLst>
          </p:cNvPr>
          <p:cNvSpPr txBox="1"/>
          <p:nvPr/>
        </p:nvSpPr>
        <p:spPr>
          <a:xfrm>
            <a:off x="4448621" y="4142728"/>
            <a:ext cx="6537827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proportion of individuals with the disease is 1.69 times higher among smokers.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32232B-38A9-B5C3-ABE6-41D3D8CBD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680" y="5103235"/>
            <a:ext cx="3040046" cy="10803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657A93-8F33-9610-A905-A9889A139C70}"/>
              </a:ext>
            </a:extLst>
          </p:cNvPr>
          <p:cNvSpPr txBox="1"/>
          <p:nvPr/>
        </p:nvSpPr>
        <p:spPr>
          <a:xfrm>
            <a:off x="4457493" y="5363634"/>
            <a:ext cx="6537827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proportion of healthy individuals is 0.61 times smaller among smokers. </a:t>
            </a:r>
          </a:p>
        </p:txBody>
      </p:sp>
    </p:spTree>
    <p:extLst>
      <p:ext uri="{BB962C8B-B14F-4D97-AF65-F5344CB8AC3E}">
        <p14:creationId xmlns:p14="http://schemas.microsoft.com/office/powerpoint/2010/main" val="1069100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B0874-C0C7-3641-574A-BC10DB85F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5769E-E2D2-837E-1CE2-9F9639801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Odds ratio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356D48-7BF0-7F76-DB79-8992D3AD4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5748"/>
            <a:ext cx="9971022" cy="25421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791D3E-B87F-8D8D-857B-C778F157D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108" y="4413250"/>
            <a:ext cx="5773559" cy="13255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888BF2-2FCC-40D7-AC32-68E664B86BB4}"/>
              </a:ext>
            </a:extLst>
          </p:cNvPr>
          <p:cNvSpPr txBox="1"/>
          <p:nvPr/>
        </p:nvSpPr>
        <p:spPr>
          <a:xfrm>
            <a:off x="8582028" y="5117586"/>
            <a:ext cx="117763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odds ratio</a:t>
            </a:r>
          </a:p>
        </p:txBody>
      </p:sp>
    </p:spTree>
    <p:extLst>
      <p:ext uri="{BB962C8B-B14F-4D97-AF65-F5344CB8AC3E}">
        <p14:creationId xmlns:p14="http://schemas.microsoft.com/office/powerpoint/2010/main" val="3214802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A65C9-132E-D9B2-A7D7-542EB71AB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41DC38-F892-6EB1-A304-FBDD4C1AF270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Odds ratio: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41FF07-614E-C1A6-75FC-5AF29824D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72243"/>
            <a:ext cx="5901267" cy="24329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6E8C24-7A31-2BA9-F5B0-4049D98B3CB7}"/>
              </a:ext>
            </a:extLst>
          </p:cNvPr>
          <p:cNvSpPr txBox="1"/>
          <p:nvPr/>
        </p:nvSpPr>
        <p:spPr>
          <a:xfrm>
            <a:off x="1284547" y="5374275"/>
            <a:ext cx="6537827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chances of having the disease is 2.76 times higher for smokers compared to non-smokers.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3377DA-DEC1-D52D-9AA9-2B99C330F16B}"/>
                  </a:ext>
                </a:extLst>
              </p:cNvPr>
              <p:cNvSpPr txBox="1"/>
              <p:nvPr/>
            </p:nvSpPr>
            <p:spPr>
              <a:xfrm>
                <a:off x="1196162" y="4199216"/>
                <a:ext cx="4452436" cy="7636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𝑂𝑅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34/22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66/118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34 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118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66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×22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=2.76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3377DA-DEC1-D52D-9AA9-2B99C330F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162" y="4199216"/>
                <a:ext cx="4452436" cy="763607"/>
              </a:xfrm>
              <a:prstGeom prst="rect">
                <a:avLst/>
              </a:prstGeom>
              <a:blipFill>
                <a:blip r:embed="rId3"/>
                <a:stretch>
                  <a:fillRect l="-1140" t="-8197" r="-1140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63554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56236-09B1-A358-36AF-CCF8CF93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Association between continuous variables: </a:t>
            </a:r>
            <a:r>
              <a:rPr lang="en-US" dirty="0">
                <a:solidFill>
                  <a:srgbClr val="00B050"/>
                </a:solidFill>
              </a:rPr>
              <a:t>scatter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DCD561-A3B9-10A6-19E4-BED32A311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696" y="2004588"/>
            <a:ext cx="9574852" cy="481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343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37C12-5AD5-81A0-F19F-6D3FDA6B1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90190-B036-DEE2-B871-4F00C6CCF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Association between continuous variables: </a:t>
            </a:r>
            <a:r>
              <a:rPr lang="en-US" dirty="0">
                <a:solidFill>
                  <a:srgbClr val="00B050"/>
                </a:solidFill>
              </a:rPr>
              <a:t>scatter plots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706273-800C-C237-1D23-77FBBBB58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524" y="1999965"/>
            <a:ext cx="9484735" cy="485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710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66022-E074-5E97-0EB9-149B180F1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F843C-1CC6-AB8B-C9A4-833CB48F0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Association between continuous variables: </a:t>
            </a:r>
            <a:r>
              <a:rPr lang="en-US" dirty="0">
                <a:solidFill>
                  <a:srgbClr val="00B050"/>
                </a:solidFill>
              </a:rPr>
              <a:t>scatter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0FEC3-43B3-FC83-B1DF-5FCB9C816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256" y="1933623"/>
            <a:ext cx="8852799" cy="480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9169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CCF5A7-CF1F-A0A8-375B-83AB5BB50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063" y="591626"/>
            <a:ext cx="7359874" cy="59467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DE7732-D657-5888-90D3-F49669F55A9C}"/>
              </a:ext>
            </a:extLst>
          </p:cNvPr>
          <p:cNvSpPr txBox="1"/>
          <p:nvPr/>
        </p:nvSpPr>
        <p:spPr>
          <a:xfrm>
            <a:off x="4995081" y="6073254"/>
            <a:ext cx="2593074" cy="36848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7570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CCF5A7-CF1F-A0A8-375B-83AB5BB50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063" y="591626"/>
            <a:ext cx="7359874" cy="594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596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9BE60-12E9-F7B6-B1BC-F607162B9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3A48512-6B08-89FD-DE6C-092E86038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07" y="2647"/>
            <a:ext cx="7886700" cy="473067"/>
          </a:xfrm>
        </p:spPr>
        <p:txBody>
          <a:bodyPr>
            <a:normAutofit fontScale="90000"/>
          </a:bodyPr>
          <a:lstStyle/>
          <a:p>
            <a:r>
              <a:rPr lang="en-GB" sz="3000" b="1" dirty="0">
                <a:latin typeface="Arial" panose="020B0604020202020204" pitchFamily="34" charset="0"/>
                <a:cs typeface="Arial" panose="020B0604020202020204" pitchFamily="34" charset="0"/>
              </a:rPr>
              <a:t>Correlation ≠ Causation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AB788D-D329-CF70-F57A-427AE98D3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063" y="591626"/>
            <a:ext cx="7359874" cy="594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090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A7943-375F-F3EC-9A62-0C9B467DA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2C2AC-1A0C-7B25-169C-0B5E28291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Bravais-Pearson correlation coefficient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7B5155-5F4A-A881-E09C-285441E1D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215" y="1716087"/>
            <a:ext cx="6968708" cy="173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87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273E-D1CF-9133-0BD1-D678795EC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Bravais-Pearson correlation coefficient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76E83B-FEC0-AA8F-F602-415C519C0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215" y="1716087"/>
            <a:ext cx="6968708" cy="1735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884D2E-5C1C-3405-20E1-AAB086FA7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358" y="3627935"/>
            <a:ext cx="6838128" cy="7939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BAB592-9357-950A-6C40-6A8688D33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397" y="4850972"/>
            <a:ext cx="5474267" cy="107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16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C0038-52D7-5E31-7FFE-4D2656EFC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Bravais-Pearson correlation coefficient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22A8DE-D423-4817-676C-CC2C4D534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215" y="1716087"/>
            <a:ext cx="6968708" cy="17350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34DECF-EF49-6F2B-0F32-CA0604E698E3}"/>
              </a:ext>
            </a:extLst>
          </p:cNvPr>
          <p:cNvSpPr txBox="1"/>
          <p:nvPr/>
        </p:nvSpPr>
        <p:spPr>
          <a:xfrm>
            <a:off x="1454582" y="3429000"/>
            <a:ext cx="98992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measures the degree of </a:t>
            </a:r>
            <a:r>
              <a:rPr lang="en-US" sz="2400" dirty="0">
                <a:solidFill>
                  <a:srgbClr val="00B0F0"/>
                </a:solidFill>
              </a:rPr>
              <a:t>linear relationship </a:t>
            </a:r>
            <a:r>
              <a:rPr lang="en-US" sz="2400" dirty="0"/>
              <a:t>between the variables X and 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is dimensionless (no units).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Result independent of units used to measure variables X and 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Limits of r: -1≤r ≤1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Perfect linear relationship (Y=</a:t>
            </a:r>
            <a:r>
              <a:rPr lang="en-US" sz="2400" dirty="0" err="1"/>
              <a:t>a+bX</a:t>
            </a:r>
            <a:r>
              <a:rPr lang="en-US" sz="2400" dirty="0"/>
              <a:t>) </a:t>
            </a:r>
            <a:r>
              <a:rPr lang="en-US" sz="2400" dirty="0">
                <a:sym typeface="Wingdings" pitchFamily="2" charset="2"/>
              </a:rPr>
              <a:t> r=1 (if b&gt;0) or r=-1 (if b&lt;0).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itchFamily="2" charset="2"/>
              </a:rPr>
              <a:t>Sign of r indicates direction of association.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itchFamily="2" charset="2"/>
              </a:rPr>
              <a:t>If r is close to 0, either X and Y are independent or the relationship between X and Y is not linear.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211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340A1-4D69-49C3-6C44-C65498118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Spearman’s rank correlation coefficient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E17F8-D313-17DC-D9BD-2F2F165CA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The talent competition:</a:t>
            </a:r>
          </a:p>
          <a:p>
            <a:pPr marL="0" indent="0">
              <a:buNone/>
            </a:pPr>
            <a:r>
              <a:rPr lang="en-US" dirty="0"/>
              <a:t>2 different judges mark and then rank the participants of the competition according to their performance (the worst participant is assigned rank 1, the second worst is assigned rank 2,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can we measure the degree of agreement between the judges?</a:t>
            </a:r>
          </a:p>
        </p:txBody>
      </p:sp>
    </p:spTree>
    <p:extLst>
      <p:ext uri="{BB962C8B-B14F-4D97-AF65-F5344CB8AC3E}">
        <p14:creationId xmlns:p14="http://schemas.microsoft.com/office/powerpoint/2010/main" val="703611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81552-D02A-D61B-9740-DD687075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Spearman’s rank correlation coefficient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927601-CD35-3753-CFD8-1C24AA2C4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253" y="2008186"/>
            <a:ext cx="1114036" cy="5968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E77C70-FC7C-F666-C972-C9DEE7C2D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93" y="2771689"/>
            <a:ext cx="1121296" cy="6573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9D3F14-DB0F-DD16-D0B6-A1AF167F9B68}"/>
              </a:ext>
            </a:extLst>
          </p:cNvPr>
          <p:cNvSpPr txBox="1"/>
          <p:nvPr/>
        </p:nvSpPr>
        <p:spPr>
          <a:xfrm>
            <a:off x="3330054" y="2169994"/>
            <a:ext cx="4401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Rank of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participant given by the 1</a:t>
            </a:r>
            <a:r>
              <a:rPr lang="en-US" baseline="30000" dirty="0"/>
              <a:t>st</a:t>
            </a:r>
            <a:r>
              <a:rPr lang="en-US" dirty="0"/>
              <a:t> judge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6CC7B-0E57-0A01-42CC-76ABF7820FA2}"/>
              </a:ext>
            </a:extLst>
          </p:cNvPr>
          <p:cNvSpPr txBox="1"/>
          <p:nvPr/>
        </p:nvSpPr>
        <p:spPr>
          <a:xfrm>
            <a:off x="3330054" y="2915678"/>
            <a:ext cx="443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Rank of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baseline="30000" dirty="0"/>
              <a:t> </a:t>
            </a:r>
            <a:r>
              <a:rPr lang="en-US" dirty="0"/>
              <a:t>participant given by the 2</a:t>
            </a:r>
            <a:r>
              <a:rPr lang="en-US" baseline="30000" dirty="0"/>
              <a:t>nd</a:t>
            </a:r>
            <a:r>
              <a:rPr lang="en-US" dirty="0"/>
              <a:t> judge</a:t>
            </a:r>
          </a:p>
        </p:txBody>
      </p:sp>
    </p:spTree>
    <p:extLst>
      <p:ext uri="{BB962C8B-B14F-4D97-AF65-F5344CB8AC3E}">
        <p14:creationId xmlns:p14="http://schemas.microsoft.com/office/powerpoint/2010/main" val="37933805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2E00A-36E1-6C17-BFE7-90814AEA1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C9F4A-4FB9-DEA4-60B6-9856D615D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Spearman’s rank correlation coefficient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26D40B-6981-2DD1-7E7F-94D7508B2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253" y="2008186"/>
            <a:ext cx="1114036" cy="5968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805493-31FA-55CE-7EC1-C4B453D71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93" y="2771689"/>
            <a:ext cx="1121296" cy="6573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41498E-9DFF-E3FE-E4DB-953DB457DA75}"/>
              </a:ext>
            </a:extLst>
          </p:cNvPr>
          <p:cNvSpPr txBox="1"/>
          <p:nvPr/>
        </p:nvSpPr>
        <p:spPr>
          <a:xfrm>
            <a:off x="3330054" y="2169994"/>
            <a:ext cx="371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Rank of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observation of variable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CE668-0541-2569-A70F-7351B6DC80D1}"/>
              </a:ext>
            </a:extLst>
          </p:cNvPr>
          <p:cNvSpPr txBox="1"/>
          <p:nvPr/>
        </p:nvSpPr>
        <p:spPr>
          <a:xfrm>
            <a:off x="3330054" y="2915678"/>
            <a:ext cx="364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Rank of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observation of variable 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5E53BD-666A-436E-7F14-8E64D8E20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995" y="3849548"/>
            <a:ext cx="3714094" cy="71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431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3D0F2-36FE-EC33-D81F-E790A18B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5D16-0108-A2E3-E7F7-FB9753A9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Spearman’s rank correlation coefficient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2742C2-BBBB-543B-1414-B03C460C1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253" y="2008186"/>
            <a:ext cx="1114036" cy="5968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5C5F21-D130-567C-BA39-96FB0A0E5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93" y="2771689"/>
            <a:ext cx="1121296" cy="6573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3A3A3F-7150-F0B1-C030-4C63A472F900}"/>
              </a:ext>
            </a:extLst>
          </p:cNvPr>
          <p:cNvSpPr txBox="1"/>
          <p:nvPr/>
        </p:nvSpPr>
        <p:spPr>
          <a:xfrm>
            <a:off x="3330054" y="2169994"/>
            <a:ext cx="371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Rank of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observation of variable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149845-C0AA-1C40-007F-6CF14CECE810}"/>
              </a:ext>
            </a:extLst>
          </p:cNvPr>
          <p:cNvSpPr txBox="1"/>
          <p:nvPr/>
        </p:nvSpPr>
        <p:spPr>
          <a:xfrm>
            <a:off x="3330054" y="2915678"/>
            <a:ext cx="364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Rank of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observation of variable 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744E91-8FAE-10B5-6780-637D25C14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995" y="3849548"/>
            <a:ext cx="3643562" cy="7052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CFF3B0-E8B5-5BB5-93B2-2F2DA6641D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945" y="4791510"/>
            <a:ext cx="4123612" cy="14698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F913C9-EF65-D1FC-C89D-F3215D7CB9FE}"/>
              </a:ext>
            </a:extLst>
          </p:cNvPr>
          <p:cNvSpPr txBox="1"/>
          <p:nvPr/>
        </p:nvSpPr>
        <p:spPr>
          <a:xfrm>
            <a:off x="6239302" y="5429120"/>
            <a:ext cx="408714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Spearman’s rank correlation coefficient</a:t>
            </a:r>
          </a:p>
        </p:txBody>
      </p:sp>
    </p:spTree>
    <p:extLst>
      <p:ext uri="{BB962C8B-B14F-4D97-AF65-F5344CB8AC3E}">
        <p14:creationId xmlns:p14="http://schemas.microsoft.com/office/powerpoint/2010/main" val="39752978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03D8-238E-7744-4F28-ECE645674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Spearman’s rank correlation coefficient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1B03-CC61-B588-AE37-8A7A47EB3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210" y="2020342"/>
            <a:ext cx="2993126" cy="11186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A9292D-66A5-E60E-E1BB-F453079D89CC}"/>
              </a:ext>
            </a:extLst>
          </p:cNvPr>
          <p:cNvSpPr txBox="1"/>
          <p:nvPr/>
        </p:nvSpPr>
        <p:spPr>
          <a:xfrm>
            <a:off x="1337481" y="3429000"/>
            <a:ext cx="1001631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measures the degree of correlation between the ranks of the variables X and 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Values of R are between -1 and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If we change from ascending to descending order, R remains the same.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If two or more observations take the same value (tie), their corresponding ranks are simply averaged. For example, if 2 participants in the talent competition have obtained the same score, we assign to each of them the rank 1.5 instead of 1 and 2.</a:t>
            </a:r>
          </a:p>
        </p:txBody>
      </p:sp>
    </p:spTree>
    <p:extLst>
      <p:ext uri="{BB962C8B-B14F-4D97-AF65-F5344CB8AC3E}">
        <p14:creationId xmlns:p14="http://schemas.microsoft.com/office/powerpoint/2010/main" val="382347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FDE3B-FB19-C692-E114-C72D8F23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Comparison of Bravais-Pearson and Spearman correlation coefficients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C656C-E4EC-447E-DF17-2B2E4497E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Bravais-Pearson can only be applied to continuous variables, but not to ordinal variables.</a:t>
            </a:r>
          </a:p>
          <a:p>
            <a:r>
              <a:rPr lang="en-US" dirty="0"/>
              <a:t>Spearman can be applied to two continuous variables, two ordinal variables, or to a combination or a continuous and an ordinal variable.</a:t>
            </a:r>
          </a:p>
          <a:p>
            <a:r>
              <a:rPr lang="en-US" dirty="0"/>
              <a:t>Spearman measures any type of relationship between the variables, whereas Pearson measures only linear relationships.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96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23216-F6F8-1AF7-E30E-4E18430E4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7C5E8B-FFD0-436D-F3A8-C6AD0895C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07147"/>
            <a:ext cx="9076709" cy="24998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3C2CC8-C622-EA86-2909-25222907C488}"/>
              </a:ext>
            </a:extLst>
          </p:cNvPr>
          <p:cNvSpPr txBox="1"/>
          <p:nvPr/>
        </p:nvSpPr>
        <p:spPr>
          <a:xfrm>
            <a:off x="6318913" y="2770496"/>
            <a:ext cx="1460311" cy="491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974EE4-474A-330F-74C2-701B5B782587}"/>
              </a:ext>
            </a:extLst>
          </p:cNvPr>
          <p:cNvSpPr txBox="1"/>
          <p:nvPr/>
        </p:nvSpPr>
        <p:spPr>
          <a:xfrm>
            <a:off x="5376554" y="3593069"/>
            <a:ext cx="1460311" cy="491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977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1834</TotalTime>
  <Words>972</Words>
  <Application>Microsoft Macintosh PowerPoint</Application>
  <PresentationFormat>Widescreen</PresentationFormat>
  <Paragraphs>98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Aptos</vt:lpstr>
      <vt:lpstr>Aptos Display</vt:lpstr>
      <vt:lpstr>Arial</vt:lpstr>
      <vt:lpstr>Cambria Math</vt:lpstr>
      <vt:lpstr>Wingdings</vt:lpstr>
      <vt:lpstr>Office Theme</vt:lpstr>
      <vt:lpstr>Association of two variables</vt:lpstr>
      <vt:lpstr>Summarising distribution of two discrete variables: contingency table</vt:lpstr>
      <vt:lpstr>PowerPoint Presentation</vt:lpstr>
      <vt:lpstr>PowerPoint Presentation</vt:lpstr>
      <vt:lpstr>PowerPoint Presentation</vt:lpstr>
      <vt:lpstr>Graphical representation of two nominal or ordinal variables</vt:lpstr>
      <vt:lpstr>Independent variables</vt:lpstr>
      <vt:lpstr>Independent variables</vt:lpstr>
      <vt:lpstr>Independent variables</vt:lpstr>
      <vt:lpstr>Independent variables</vt:lpstr>
      <vt:lpstr>Independent variables</vt:lpstr>
      <vt:lpstr>Independent variables</vt:lpstr>
      <vt:lpstr>Measures of association of two discrete variables</vt:lpstr>
      <vt:lpstr>Pearson’s χ^2statistic</vt:lpstr>
      <vt:lpstr>Example</vt:lpstr>
      <vt:lpstr>Example</vt:lpstr>
      <vt:lpstr>Example</vt:lpstr>
      <vt:lpstr>Example</vt:lpstr>
      <vt:lpstr>Cramer’s V statistic</vt:lpstr>
      <vt:lpstr>Relative risks</vt:lpstr>
      <vt:lpstr>PowerPoint Presentation</vt:lpstr>
      <vt:lpstr>PowerPoint Presentation</vt:lpstr>
      <vt:lpstr>Odds ratio</vt:lpstr>
      <vt:lpstr>PowerPoint Presentation</vt:lpstr>
      <vt:lpstr>Association between continuous variables: scatter plots</vt:lpstr>
      <vt:lpstr>Association between continuous variables: scatter plots</vt:lpstr>
      <vt:lpstr>Association between continuous variables: scatter plots</vt:lpstr>
      <vt:lpstr>PowerPoint Presentation</vt:lpstr>
      <vt:lpstr>PowerPoint Presentation</vt:lpstr>
      <vt:lpstr>Correlation ≠ Causation</vt:lpstr>
      <vt:lpstr>Bravais-Pearson correlation coefficient</vt:lpstr>
      <vt:lpstr>Bravais-Pearson correlation coefficient</vt:lpstr>
      <vt:lpstr>Bravais-Pearson correlation coefficient</vt:lpstr>
      <vt:lpstr>Spearman’s rank correlation coefficient</vt:lpstr>
      <vt:lpstr>Spearman’s rank correlation coefficient</vt:lpstr>
      <vt:lpstr>Spearman’s rank correlation coefficient</vt:lpstr>
      <vt:lpstr>Spearman’s rank correlation coefficient</vt:lpstr>
      <vt:lpstr>Spearman’s rank correlation coefficient</vt:lpstr>
      <vt:lpstr>Comparison of Bravais-Pearson and Spearman correlation coefficients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Carmen Romano</dc:creator>
  <cp:lastModifiedBy>Maria Carmen Romano</cp:lastModifiedBy>
  <cp:revision>1</cp:revision>
  <dcterms:created xsi:type="dcterms:W3CDTF">2025-01-28T05:43:56Z</dcterms:created>
  <dcterms:modified xsi:type="dcterms:W3CDTF">2025-03-10T17:27:19Z</dcterms:modified>
</cp:coreProperties>
</file>