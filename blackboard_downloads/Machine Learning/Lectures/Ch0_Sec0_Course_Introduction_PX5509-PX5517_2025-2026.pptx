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22"/>
  </p:notesMasterIdLst>
  <p:handoutMasterIdLst>
    <p:handoutMasterId r:id="rId23"/>
  </p:handoutMasterIdLst>
  <p:sldIdLst>
    <p:sldId id="256" r:id="rId2"/>
    <p:sldId id="284" r:id="rId3"/>
    <p:sldId id="258" r:id="rId4"/>
    <p:sldId id="257" r:id="rId5"/>
    <p:sldId id="260" r:id="rId6"/>
    <p:sldId id="259" r:id="rId7"/>
    <p:sldId id="265" r:id="rId8"/>
    <p:sldId id="266" r:id="rId9"/>
    <p:sldId id="277" r:id="rId10"/>
    <p:sldId id="282" r:id="rId11"/>
    <p:sldId id="268" r:id="rId12"/>
    <p:sldId id="286" r:id="rId13"/>
    <p:sldId id="261" r:id="rId14"/>
    <p:sldId id="262" r:id="rId15"/>
    <p:sldId id="287" r:id="rId16"/>
    <p:sldId id="269" r:id="rId17"/>
    <p:sldId id="275" r:id="rId18"/>
    <p:sldId id="283" r:id="rId19"/>
    <p:sldId id="271" r:id="rId20"/>
    <p:sldId id="270" r:id="rId21"/>
  </p:sldIdLst>
  <p:sldSz cx="9144000" cy="6858000" type="screen4x3"/>
  <p:notesSz cx="6858000" cy="9144000"/>
  <p:embeddedFontLst>
    <p:embeddedFont>
      <p:font typeface="Georgia" panose="02040502050405020303" pitchFamily="18" charset="0"/>
      <p:regular r:id="rId24"/>
      <p:bold r:id="rId25"/>
      <p:italic r:id="rId26"/>
      <p:boldItalic r:id="rId27"/>
    </p:embeddedFont>
    <p:embeddedFont>
      <p:font typeface="Open Sans" panose="020B0606030504020204" pitchFamily="34" charset="0"/>
      <p:regular r:id="rId28"/>
      <p:bold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1EE01D-5E73-4761-B37E-B2469E0E29B8}" v="9" dt="2026-03-09T15:48:58.8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autoAdjust="0"/>
  </p:normalViewPr>
  <p:slideViewPr>
    <p:cSldViewPr snapToGrid="0">
      <p:cViewPr varScale="1">
        <p:scale>
          <a:sx n="60" d="100"/>
          <a:sy n="60" d="100"/>
        </p:scale>
        <p:origin x="1412" y="4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52" d="100"/>
          <a:sy n="52" d="100"/>
        </p:scale>
        <p:origin x="286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1DFCE-B5B1-49A7-8EB1-1617888B633D}" type="datetimeFigureOut">
              <a:rPr lang="en-GB" smtClean="0"/>
              <a:t>15/03/2026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BF94AD-4E25-479B-8B00-2288195803AD}" type="slidenum">
              <a:rPr lang="en-GB" smtClean="0"/>
              <a:t>‹#›</a:t>
            </a:fld>
            <a:endParaRPr lang="en-GB"/>
          </a:p>
        </p:txBody>
      </p:sp>
    </p:spTree>
    <p:extLst>
      <p:ext uri="{BB962C8B-B14F-4D97-AF65-F5344CB8AC3E}">
        <p14:creationId xmlns:p14="http://schemas.microsoft.com/office/powerpoint/2010/main" val="17509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dirty="0"/>
              <a:t>PX1016 – Understanding the Physical World </a:t>
            </a:r>
          </a:p>
        </p:txBody>
      </p:sp>
      <p:sp>
        <p:nvSpPr>
          <p:cNvPr id="4" name="Slide Image Placeholder 3"/>
          <p:cNvSpPr>
            <a:spLocks noGrp="1" noRot="1" noChangeAspect="1"/>
          </p:cNvSpPr>
          <p:nvPr>
            <p:ph type="sldImg" idx="2"/>
          </p:nvPr>
        </p:nvSpPr>
        <p:spPr>
          <a:xfrm>
            <a:off x="1091685" y="615821"/>
            <a:ext cx="4817705" cy="3613279"/>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317241" y="4400549"/>
            <a:ext cx="6176865" cy="412763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3546DF-70F7-413E-BCF9-C3BD651B5001}" type="slidenum">
              <a:rPr lang="en-GB" smtClean="0"/>
              <a:t>‹#›</a:t>
            </a:fld>
            <a:endParaRPr lang="en-GB"/>
          </a:p>
        </p:txBody>
      </p:sp>
    </p:spTree>
    <p:extLst>
      <p:ext uri="{BB962C8B-B14F-4D97-AF65-F5344CB8AC3E}">
        <p14:creationId xmlns:p14="http://schemas.microsoft.com/office/powerpoint/2010/main" val="268570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310185" y="3697573"/>
            <a:ext cx="7816768"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Slide Number Placeholder 4"/>
          <p:cNvSpPr txBox="1">
            <a:spLocks/>
          </p:cNvSpPr>
          <p:nvPr userDrawn="1"/>
        </p:nvSpPr>
        <p:spPr>
          <a:xfrm>
            <a:off x="7072952" y="6492875"/>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CA7B4F7-A476-42F7-A60D-DDF653B117C9}" type="slidenum">
              <a:rPr lang="en-GB" smtClean="0"/>
              <a:pPr/>
              <a:t>‹#›</a:t>
            </a:fld>
            <a:endParaRPr lang="en-GB" dirty="0"/>
          </a:p>
        </p:txBody>
      </p:sp>
    </p:spTree>
    <p:extLst>
      <p:ext uri="{BB962C8B-B14F-4D97-AF65-F5344CB8AC3E}">
        <p14:creationId xmlns:p14="http://schemas.microsoft.com/office/powerpoint/2010/main" val="3420321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201303" y="646445"/>
            <a:ext cx="8751628" cy="5756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p:cNvSpPr txBox="1">
            <a:spLocks/>
          </p:cNvSpPr>
          <p:nvPr userDrawn="1"/>
        </p:nvSpPr>
        <p:spPr>
          <a:xfrm>
            <a:off x="7072952" y="6492875"/>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CA7B4F7-A476-42F7-A60D-DDF653B117C9}" type="slidenum">
              <a:rPr lang="en-GB" smtClean="0"/>
              <a:pPr/>
              <a:t>‹#›</a:t>
            </a:fld>
            <a:endParaRPr lang="en-GB" dirty="0"/>
          </a:p>
        </p:txBody>
      </p:sp>
    </p:spTree>
    <p:extLst>
      <p:ext uri="{BB962C8B-B14F-4D97-AF65-F5344CB8AC3E}">
        <p14:creationId xmlns:p14="http://schemas.microsoft.com/office/powerpoint/2010/main" val="3400741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Slide Number Placeholder 4"/>
          <p:cNvSpPr txBox="1">
            <a:spLocks/>
          </p:cNvSpPr>
          <p:nvPr userDrawn="1"/>
        </p:nvSpPr>
        <p:spPr>
          <a:xfrm>
            <a:off x="7072952" y="6492875"/>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CA7B4F7-A476-42F7-A60D-DDF653B117C9}" type="slidenum">
              <a:rPr lang="en-GB" smtClean="0"/>
              <a:pPr/>
              <a:t>‹#›</a:t>
            </a:fld>
            <a:endParaRPr lang="en-GB" dirty="0"/>
          </a:p>
        </p:txBody>
      </p:sp>
    </p:spTree>
    <p:extLst>
      <p:ext uri="{BB962C8B-B14F-4D97-AF65-F5344CB8AC3E}">
        <p14:creationId xmlns:p14="http://schemas.microsoft.com/office/powerpoint/2010/main" val="3493180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endParaRPr lang="en-US" dirty="0"/>
          </a:p>
        </p:txBody>
      </p:sp>
      <p:sp>
        <p:nvSpPr>
          <p:cNvPr id="3" name="Content Placeholder 2"/>
          <p:cNvSpPr>
            <a:spLocks noGrp="1"/>
          </p:cNvSpPr>
          <p:nvPr>
            <p:ph sz="half" idx="1"/>
          </p:nvPr>
        </p:nvSpPr>
        <p:spPr>
          <a:xfrm>
            <a:off x="313899" y="725299"/>
            <a:ext cx="4200951" cy="5451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725299"/>
            <a:ext cx="4282838" cy="5451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4"/>
          <p:cNvSpPr txBox="1">
            <a:spLocks/>
          </p:cNvSpPr>
          <p:nvPr userDrawn="1"/>
        </p:nvSpPr>
        <p:spPr>
          <a:xfrm>
            <a:off x="7072952" y="6492875"/>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CA7B4F7-A476-42F7-A60D-DDF653B117C9}" type="slidenum">
              <a:rPr lang="en-GB" smtClean="0"/>
              <a:pPr/>
              <a:t>‹#›</a:t>
            </a:fld>
            <a:endParaRPr lang="en-GB"/>
          </a:p>
        </p:txBody>
      </p:sp>
    </p:spTree>
    <p:extLst>
      <p:ext uri="{BB962C8B-B14F-4D97-AF65-F5344CB8AC3E}">
        <p14:creationId xmlns:p14="http://schemas.microsoft.com/office/powerpoint/2010/main" val="2648487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1"/>
          <p:cNvSpPr>
            <a:spLocks noGrp="1"/>
          </p:cNvSpPr>
          <p:nvPr>
            <p:ph type="title"/>
          </p:nvPr>
        </p:nvSpPr>
        <p:spPr>
          <a:xfrm>
            <a:off x="0" y="1"/>
            <a:ext cx="9144000" cy="545910"/>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4"/>
          <p:cNvSpPr>
            <a:spLocks noGrp="1"/>
          </p:cNvSpPr>
          <p:nvPr>
            <p:ph type="sldNum" sz="quarter" idx="12"/>
          </p:nvPr>
        </p:nvSpPr>
        <p:spPr>
          <a:xfrm>
            <a:off x="7072952" y="6492875"/>
            <a:ext cx="2057400" cy="365125"/>
          </a:xfrm>
          <a:prstGeom prst="rect">
            <a:avLst/>
          </a:prstGeom>
        </p:spPr>
        <p:txBody>
          <a:bodyPr/>
          <a:lstStyle/>
          <a:p>
            <a:fld id="{7CA7B4F7-A476-42F7-A60D-DDF653B117C9}" type="slidenum">
              <a:rPr lang="en-GB" smtClean="0"/>
              <a:t>‹#›</a:t>
            </a:fld>
            <a:endParaRPr lang="en-GB"/>
          </a:p>
        </p:txBody>
      </p:sp>
    </p:spTree>
    <p:extLst>
      <p:ext uri="{BB962C8B-B14F-4D97-AF65-F5344CB8AC3E}">
        <p14:creationId xmlns:p14="http://schemas.microsoft.com/office/powerpoint/2010/main" val="3942543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p:cNvSpPr>
            <a:spLocks noGrp="1"/>
          </p:cNvSpPr>
          <p:nvPr>
            <p:ph type="title"/>
          </p:nvPr>
        </p:nvSpPr>
        <p:spPr>
          <a:xfrm>
            <a:off x="0" y="1"/>
            <a:ext cx="9144000" cy="545910"/>
          </a:xfrm>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981709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8580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709684"/>
            <a:ext cx="4847176" cy="51513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06948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680069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7261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9696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9144000" cy="545910"/>
          </a:xfrm>
          <a:prstGeom prst="rect">
            <a:avLst/>
          </a:prstGeom>
          <a:solidFill>
            <a:schemeClr val="tx2">
              <a:lumMod val="20000"/>
              <a:lumOff val="80000"/>
            </a:schemeClr>
          </a:solidFill>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201303" y="646446"/>
            <a:ext cx="8669741" cy="5686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4"/>
          <p:cNvSpPr txBox="1">
            <a:spLocks/>
          </p:cNvSpPr>
          <p:nvPr userDrawn="1"/>
        </p:nvSpPr>
        <p:spPr>
          <a:xfrm>
            <a:off x="7072952" y="6492875"/>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CA7B4F7-A476-42F7-A60D-DDF653B117C9}" type="slidenum">
              <a:rPr lang="en-GB" smtClean="0"/>
              <a:pPr/>
              <a:t>‹#›</a:t>
            </a:fld>
            <a:endParaRPr lang="en-GB" dirty="0"/>
          </a:p>
        </p:txBody>
      </p:sp>
    </p:spTree>
    <p:extLst>
      <p:ext uri="{BB962C8B-B14F-4D97-AF65-F5344CB8AC3E}">
        <p14:creationId xmlns:p14="http://schemas.microsoft.com/office/powerpoint/2010/main" val="34663863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fperez-reche@abdn.ac.u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abdn.primo.exlibrisgroup.com/permalink/44ABE_INST/1jd70l9/alma9918477297305941" TargetMode="External"/><Relationship Id="rId2" Type="http://schemas.openxmlformats.org/officeDocument/2006/relationships/hyperlink" Target="https://www.wolfram-media.com/products/introduction-to-machine-learning.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bdn.primo.exlibrisgroup.com/permalink/44ABE_INST/1jd70l9/alma990016075260205941" TargetMode="External"/><Relationship Id="rId2" Type="http://schemas.openxmlformats.org/officeDocument/2006/relationships/hyperlink" Target="https://abdn.primo.exlibrisgroup.com/permalink/44ABE_INST/tvkctg/cdi_askewsholts_vlebooks_9781316402276"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mailto:p.boar.23@abdn.ac.uk" TargetMode="External"/><Relationship Id="rId2" Type="http://schemas.openxmlformats.org/officeDocument/2006/relationships/hyperlink" Target="mailto:fperez-reche@abdn.ac.uk" TargetMode="External"/><Relationship Id="rId1" Type="http://schemas.openxmlformats.org/officeDocument/2006/relationships/slideLayout" Target="../slideLayouts/slideLayout2.xml"/><Relationship Id="rId4" Type="http://schemas.openxmlformats.org/officeDocument/2006/relationships/hyperlink" Target="mailto:ncspgt@abdn.ac.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Machine Learning (MSc in Data Science)</a:t>
            </a:r>
          </a:p>
        </p:txBody>
      </p:sp>
      <p:sp>
        <p:nvSpPr>
          <p:cNvPr id="3" name="Subtitle 2"/>
          <p:cNvSpPr>
            <a:spLocks noGrp="1"/>
          </p:cNvSpPr>
          <p:nvPr>
            <p:ph type="subTitle" idx="1"/>
          </p:nvPr>
        </p:nvSpPr>
        <p:spPr>
          <a:xfrm>
            <a:off x="1247775" y="3795544"/>
            <a:ext cx="7896225" cy="2252831"/>
          </a:xfrm>
        </p:spPr>
        <p:txBody>
          <a:bodyPr>
            <a:normAutofit/>
          </a:bodyPr>
          <a:lstStyle/>
          <a:p>
            <a:r>
              <a:rPr lang="en-GB" dirty="0"/>
              <a:t>Paco  (Francisco Perez-Reche)</a:t>
            </a:r>
          </a:p>
          <a:p>
            <a:r>
              <a:rPr lang="en-GB" dirty="0">
                <a:hlinkClick r:id="rId2"/>
              </a:rPr>
              <a:t>fperez-reche@abdn.ac.uk</a:t>
            </a:r>
            <a:endParaRPr lang="en-GB" dirty="0"/>
          </a:p>
        </p:txBody>
      </p:sp>
    </p:spTree>
    <p:extLst>
      <p:ext uri="{BB962C8B-B14F-4D97-AF65-F5344CB8AC3E}">
        <p14:creationId xmlns:p14="http://schemas.microsoft.com/office/powerpoint/2010/main" val="3040914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420630-387E-8E92-DCC2-839983A9BCA3}"/>
              </a:ext>
            </a:extLst>
          </p:cNvPr>
          <p:cNvPicPr>
            <a:picLocks noChangeAspect="1"/>
          </p:cNvPicPr>
          <p:nvPr/>
        </p:nvPicPr>
        <p:blipFill>
          <a:blip r:embed="rId2"/>
          <a:stretch>
            <a:fillRect/>
          </a:stretch>
        </p:blipFill>
        <p:spPr>
          <a:xfrm>
            <a:off x="103431" y="1928252"/>
            <a:ext cx="8668195" cy="3867349"/>
          </a:xfrm>
          <a:prstGeom prst="rect">
            <a:avLst/>
          </a:prstGeom>
        </p:spPr>
      </p:pic>
      <p:sp>
        <p:nvSpPr>
          <p:cNvPr id="2" name="Title 1">
            <a:extLst>
              <a:ext uri="{FF2B5EF4-FFF2-40B4-BE49-F238E27FC236}">
                <a16:creationId xmlns:a16="http://schemas.microsoft.com/office/drawing/2014/main" id="{A3AA98C7-9A2A-4F5A-8ACB-EDB90452031F}"/>
              </a:ext>
            </a:extLst>
          </p:cNvPr>
          <p:cNvSpPr>
            <a:spLocks noGrp="1"/>
          </p:cNvSpPr>
          <p:nvPr>
            <p:ph type="title"/>
          </p:nvPr>
        </p:nvSpPr>
        <p:spPr/>
        <p:txBody>
          <a:bodyPr/>
          <a:lstStyle/>
          <a:p>
            <a:r>
              <a:rPr lang="en-GB" dirty="0"/>
              <a:t>Course guide</a:t>
            </a:r>
          </a:p>
        </p:txBody>
      </p:sp>
      <p:sp>
        <p:nvSpPr>
          <p:cNvPr id="3" name="Content Placeholder 2">
            <a:extLst>
              <a:ext uri="{FF2B5EF4-FFF2-40B4-BE49-F238E27FC236}">
                <a16:creationId xmlns:a16="http://schemas.microsoft.com/office/drawing/2014/main" id="{93BC7A90-559F-44AD-84E4-F04CC29BAF46}"/>
              </a:ext>
            </a:extLst>
          </p:cNvPr>
          <p:cNvSpPr>
            <a:spLocks noGrp="1"/>
          </p:cNvSpPr>
          <p:nvPr>
            <p:ph idx="1"/>
          </p:nvPr>
        </p:nvSpPr>
        <p:spPr/>
        <p:txBody>
          <a:bodyPr/>
          <a:lstStyle/>
          <a:p>
            <a:pPr marL="0" indent="0">
              <a:buNone/>
            </a:pPr>
            <a:r>
              <a:rPr lang="en-GB" dirty="0"/>
              <a:t>This presentation mostly covers information that is also available in the course guide of </a:t>
            </a:r>
            <a:r>
              <a:rPr lang="en-GB" dirty="0" err="1"/>
              <a:t>MyAberdeen</a:t>
            </a:r>
            <a:endParaRPr lang="en-GB" dirty="0"/>
          </a:p>
        </p:txBody>
      </p:sp>
      <p:sp>
        <p:nvSpPr>
          <p:cNvPr id="8" name="Rectangle: Rounded Corners 7">
            <a:extLst>
              <a:ext uri="{FF2B5EF4-FFF2-40B4-BE49-F238E27FC236}">
                <a16:creationId xmlns:a16="http://schemas.microsoft.com/office/drawing/2014/main" id="{9585F93F-2633-036F-38A3-69B2EA353B56}"/>
              </a:ext>
            </a:extLst>
          </p:cNvPr>
          <p:cNvSpPr/>
          <p:nvPr/>
        </p:nvSpPr>
        <p:spPr>
          <a:xfrm>
            <a:off x="566457" y="5113204"/>
            <a:ext cx="4426883" cy="657225"/>
          </a:xfrm>
          <a:prstGeom prst="roundRect">
            <a:avLst/>
          </a:prstGeom>
          <a:solidFill>
            <a:srgbClr val="FFFF00">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38289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EBE6F-D071-4A1F-AEB3-A659975AD206}"/>
              </a:ext>
            </a:extLst>
          </p:cNvPr>
          <p:cNvSpPr>
            <a:spLocks noGrp="1"/>
          </p:cNvSpPr>
          <p:nvPr>
            <p:ph type="title"/>
          </p:nvPr>
        </p:nvSpPr>
        <p:spPr>
          <a:xfrm>
            <a:off x="623888" y="3590924"/>
            <a:ext cx="7886700" cy="998539"/>
          </a:xfrm>
        </p:spPr>
        <p:txBody>
          <a:bodyPr/>
          <a:lstStyle/>
          <a:p>
            <a:r>
              <a:rPr lang="en-GB" sz="4000" dirty="0"/>
              <a:t>Aims and Learning Outcomes</a:t>
            </a:r>
          </a:p>
        </p:txBody>
      </p:sp>
      <p:sp>
        <p:nvSpPr>
          <p:cNvPr id="3" name="Text Placeholder 2">
            <a:extLst>
              <a:ext uri="{FF2B5EF4-FFF2-40B4-BE49-F238E27FC236}">
                <a16:creationId xmlns:a16="http://schemas.microsoft.com/office/drawing/2014/main" id="{5ED93D90-A086-4835-9EEE-FD49DEF61606}"/>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037040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846D9-EB1F-42F7-A803-B713DF860F3A}"/>
              </a:ext>
            </a:extLst>
          </p:cNvPr>
          <p:cNvSpPr>
            <a:spLocks noGrp="1"/>
          </p:cNvSpPr>
          <p:nvPr>
            <p:ph type="title"/>
          </p:nvPr>
        </p:nvSpPr>
        <p:spPr/>
        <p:txBody>
          <a:bodyPr/>
          <a:lstStyle/>
          <a:p>
            <a:r>
              <a:rPr lang="en-GB" dirty="0"/>
              <a:t>Aims of the course</a:t>
            </a:r>
          </a:p>
        </p:txBody>
      </p:sp>
      <p:sp>
        <p:nvSpPr>
          <p:cNvPr id="3" name="Content Placeholder 2">
            <a:extLst>
              <a:ext uri="{FF2B5EF4-FFF2-40B4-BE49-F238E27FC236}">
                <a16:creationId xmlns:a16="http://schemas.microsoft.com/office/drawing/2014/main" id="{4CC889A1-150A-4422-BBB9-6110C036D53A}"/>
              </a:ext>
            </a:extLst>
          </p:cNvPr>
          <p:cNvSpPr>
            <a:spLocks noGrp="1"/>
          </p:cNvSpPr>
          <p:nvPr>
            <p:ph idx="1"/>
          </p:nvPr>
        </p:nvSpPr>
        <p:spPr>
          <a:xfrm>
            <a:off x="201303" y="1284620"/>
            <a:ext cx="8751628" cy="3354055"/>
          </a:xfrm>
        </p:spPr>
        <p:txBody>
          <a:bodyPr>
            <a:normAutofit lnSpcReduction="10000"/>
          </a:bodyPr>
          <a:lstStyle/>
          <a:p>
            <a:pPr marL="0" indent="0">
              <a:buNone/>
            </a:pPr>
            <a:r>
              <a:rPr lang="en-GB" b="1" dirty="0"/>
              <a:t>Main aim</a:t>
            </a:r>
            <a:r>
              <a:rPr lang="en-GB" dirty="0"/>
              <a:t>: understand how computers can be taught to learn from data</a:t>
            </a:r>
          </a:p>
          <a:p>
            <a:r>
              <a:rPr lang="en-GB" dirty="0"/>
              <a:t>Train you to be able to use machine learning to address many important questions that can be addressed using data</a:t>
            </a:r>
          </a:p>
          <a:p>
            <a:r>
              <a:rPr lang="en-GB" dirty="0"/>
              <a:t>What is machine learning?</a:t>
            </a:r>
          </a:p>
          <a:p>
            <a:r>
              <a:rPr lang="en-GB" dirty="0"/>
              <a:t>What can machine learning do?</a:t>
            </a:r>
          </a:p>
          <a:p>
            <a:r>
              <a:rPr lang="en-GB" dirty="0"/>
              <a:t>… and what it cannot do</a:t>
            </a:r>
          </a:p>
        </p:txBody>
      </p:sp>
    </p:spTree>
    <p:extLst>
      <p:ext uri="{BB962C8B-B14F-4D97-AF65-F5344CB8AC3E}">
        <p14:creationId xmlns:p14="http://schemas.microsoft.com/office/powerpoint/2010/main" val="469019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846D9-EB1F-42F7-A803-B713DF860F3A}"/>
              </a:ext>
            </a:extLst>
          </p:cNvPr>
          <p:cNvSpPr>
            <a:spLocks noGrp="1"/>
          </p:cNvSpPr>
          <p:nvPr>
            <p:ph type="title"/>
          </p:nvPr>
        </p:nvSpPr>
        <p:spPr/>
        <p:txBody>
          <a:bodyPr/>
          <a:lstStyle/>
          <a:p>
            <a:r>
              <a:rPr lang="en-GB" dirty="0"/>
              <a:t>Aims of the course</a:t>
            </a:r>
          </a:p>
        </p:txBody>
      </p:sp>
      <p:sp>
        <p:nvSpPr>
          <p:cNvPr id="3" name="Content Placeholder 2">
            <a:extLst>
              <a:ext uri="{FF2B5EF4-FFF2-40B4-BE49-F238E27FC236}">
                <a16:creationId xmlns:a16="http://schemas.microsoft.com/office/drawing/2014/main" id="{4CC889A1-150A-4422-BBB9-6110C036D53A}"/>
              </a:ext>
            </a:extLst>
          </p:cNvPr>
          <p:cNvSpPr>
            <a:spLocks noGrp="1"/>
          </p:cNvSpPr>
          <p:nvPr>
            <p:ph idx="1"/>
          </p:nvPr>
        </p:nvSpPr>
        <p:spPr/>
        <p:txBody>
          <a:bodyPr/>
          <a:lstStyle/>
          <a:p>
            <a:endParaRPr lang="en-GB" dirty="0"/>
          </a:p>
          <a:p>
            <a:r>
              <a:rPr lang="en-GB" dirty="0"/>
              <a:t>Probability and probability distributions. </a:t>
            </a:r>
          </a:p>
          <a:p>
            <a:pPr lvl="1"/>
            <a:r>
              <a:rPr lang="en-GB" dirty="0"/>
              <a:t>We can teach machines from data but predictions will often be probabilistic.</a:t>
            </a:r>
          </a:p>
          <a:p>
            <a:pPr lvl="1"/>
            <a:r>
              <a:rPr lang="en-GB" dirty="0"/>
              <a:t>In fact, humans also make probabilistic predictions. For instance, "it might rain", "I might win the lottery" often have an associated probability (chance).</a:t>
            </a:r>
          </a:p>
          <a:p>
            <a:r>
              <a:rPr lang="en-GB" dirty="0"/>
              <a:t>Machine learning in practice. The course has a marked practical focus.</a:t>
            </a:r>
          </a:p>
          <a:p>
            <a:r>
              <a:rPr lang="en-GB" dirty="0"/>
              <a:t>How does machine learning work? </a:t>
            </a:r>
          </a:p>
          <a:p>
            <a:pPr lvl="1"/>
            <a:r>
              <a:rPr lang="en-GB" dirty="0"/>
              <a:t>What are the methods by which computers learn? </a:t>
            </a:r>
          </a:p>
          <a:p>
            <a:pPr lvl="1"/>
            <a:r>
              <a:rPr lang="en-GB" dirty="0"/>
              <a:t>Despite the practical focus, we will look at key methods in some detail. </a:t>
            </a:r>
          </a:p>
        </p:txBody>
      </p:sp>
    </p:spTree>
    <p:extLst>
      <p:ext uri="{BB962C8B-B14F-4D97-AF65-F5344CB8AC3E}">
        <p14:creationId xmlns:p14="http://schemas.microsoft.com/office/powerpoint/2010/main" val="1838002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251A-7BA8-442A-A5A1-8C251648A341}"/>
              </a:ext>
            </a:extLst>
          </p:cNvPr>
          <p:cNvSpPr>
            <a:spLocks noGrp="1"/>
          </p:cNvSpPr>
          <p:nvPr>
            <p:ph type="title"/>
          </p:nvPr>
        </p:nvSpPr>
        <p:spPr/>
        <p:txBody>
          <a:bodyPr/>
          <a:lstStyle/>
          <a:p>
            <a:r>
              <a:rPr lang="en-GB" dirty="0"/>
              <a:t>Spirit of the course</a:t>
            </a:r>
          </a:p>
        </p:txBody>
      </p:sp>
      <p:sp>
        <p:nvSpPr>
          <p:cNvPr id="3" name="Content Placeholder 2">
            <a:extLst>
              <a:ext uri="{FF2B5EF4-FFF2-40B4-BE49-F238E27FC236}">
                <a16:creationId xmlns:a16="http://schemas.microsoft.com/office/drawing/2014/main" id="{E88B1128-0DDD-439F-802C-B23F9638A88C}"/>
              </a:ext>
            </a:extLst>
          </p:cNvPr>
          <p:cNvSpPr>
            <a:spLocks noGrp="1"/>
          </p:cNvSpPr>
          <p:nvPr>
            <p:ph idx="1"/>
          </p:nvPr>
        </p:nvSpPr>
        <p:spPr/>
        <p:txBody>
          <a:bodyPr/>
          <a:lstStyle/>
          <a:p>
            <a:r>
              <a:rPr lang="en-GB" dirty="0"/>
              <a:t>To cover </a:t>
            </a:r>
            <a:r>
              <a:rPr lang="en-GB" b="1" dirty="0"/>
              <a:t>many aspects </a:t>
            </a:r>
            <a:r>
              <a:rPr lang="en-GB" dirty="0"/>
              <a:t>of machine learning.</a:t>
            </a:r>
          </a:p>
          <a:p>
            <a:r>
              <a:rPr lang="en-GB" dirty="0"/>
              <a:t>To </a:t>
            </a:r>
            <a:r>
              <a:rPr lang="en-GB" b="1" dirty="0"/>
              <a:t>understand</a:t>
            </a:r>
            <a:r>
              <a:rPr lang="en-GB" dirty="0"/>
              <a:t> well what we do, not to cover all and every aspect of machine learning (impossible in a single course and would require a lot of maths and statistics...). </a:t>
            </a:r>
          </a:p>
          <a:p>
            <a:r>
              <a:rPr lang="en-GB" b="1" dirty="0"/>
              <a:t>Practical</a:t>
            </a:r>
            <a:r>
              <a:rPr lang="en-GB" dirty="0"/>
              <a:t> focus is emphasised (but key theoretical aspects will be covered as well).</a:t>
            </a:r>
          </a:p>
          <a:p>
            <a:r>
              <a:rPr lang="en-GB" dirty="0"/>
              <a:t>Typically illustrate concepts with </a:t>
            </a:r>
            <a:r>
              <a:rPr lang="en-GB" b="1" dirty="0"/>
              <a:t>examples</a:t>
            </a:r>
            <a:r>
              <a:rPr lang="en-GB" dirty="0"/>
              <a:t> and build up a more general understanding in a gradual manner.</a:t>
            </a:r>
          </a:p>
          <a:p>
            <a:r>
              <a:rPr lang="en-GB" dirty="0"/>
              <a:t>We will </a:t>
            </a:r>
            <a:r>
              <a:rPr lang="en-GB" b="1" dirty="0"/>
              <a:t>mostly use clean datasets</a:t>
            </a:r>
            <a:r>
              <a:rPr lang="en-GB" dirty="0"/>
              <a:t> since the main goal of this course is to do machine learning, not data preparation.</a:t>
            </a:r>
          </a:p>
        </p:txBody>
      </p:sp>
    </p:spTree>
    <p:extLst>
      <p:ext uri="{BB962C8B-B14F-4D97-AF65-F5344CB8AC3E}">
        <p14:creationId xmlns:p14="http://schemas.microsoft.com/office/powerpoint/2010/main" val="2568217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EBE6F-D071-4A1F-AEB3-A659975AD206}"/>
              </a:ext>
            </a:extLst>
          </p:cNvPr>
          <p:cNvSpPr>
            <a:spLocks noGrp="1"/>
          </p:cNvSpPr>
          <p:nvPr>
            <p:ph type="title"/>
          </p:nvPr>
        </p:nvSpPr>
        <p:spPr>
          <a:xfrm>
            <a:off x="623888" y="3267076"/>
            <a:ext cx="7886700" cy="1322388"/>
          </a:xfrm>
        </p:spPr>
        <p:txBody>
          <a:bodyPr/>
          <a:lstStyle/>
          <a:p>
            <a:r>
              <a:rPr lang="en-GB" sz="4000" dirty="0"/>
              <a:t>Teaching organisation &amp; assessment</a:t>
            </a:r>
          </a:p>
        </p:txBody>
      </p:sp>
      <p:sp>
        <p:nvSpPr>
          <p:cNvPr id="3" name="Text Placeholder 2">
            <a:extLst>
              <a:ext uri="{FF2B5EF4-FFF2-40B4-BE49-F238E27FC236}">
                <a16:creationId xmlns:a16="http://schemas.microsoft.com/office/drawing/2014/main" id="{5ED93D90-A086-4835-9EEE-FD49DEF61606}"/>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248154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251A-7BA8-442A-A5A1-8C251648A341}"/>
              </a:ext>
            </a:extLst>
          </p:cNvPr>
          <p:cNvSpPr>
            <a:spLocks noGrp="1"/>
          </p:cNvSpPr>
          <p:nvPr>
            <p:ph type="title"/>
          </p:nvPr>
        </p:nvSpPr>
        <p:spPr/>
        <p:txBody>
          <a:bodyPr/>
          <a:lstStyle/>
          <a:p>
            <a:r>
              <a:rPr lang="en-GB" dirty="0"/>
              <a:t>Teaching organisation</a:t>
            </a:r>
          </a:p>
        </p:txBody>
      </p:sp>
      <p:grpSp>
        <p:nvGrpSpPr>
          <p:cNvPr id="8" name="Group 7">
            <a:extLst>
              <a:ext uri="{FF2B5EF4-FFF2-40B4-BE49-F238E27FC236}">
                <a16:creationId xmlns:a16="http://schemas.microsoft.com/office/drawing/2014/main" id="{2D6B62D8-99D4-7102-F490-5A430991D37A}"/>
              </a:ext>
            </a:extLst>
          </p:cNvPr>
          <p:cNvGrpSpPr/>
          <p:nvPr/>
        </p:nvGrpSpPr>
        <p:grpSpPr>
          <a:xfrm>
            <a:off x="942975" y="2190722"/>
            <a:ext cx="7258050" cy="1882399"/>
            <a:chOff x="3209925" y="1186114"/>
            <a:chExt cx="7258050" cy="1882399"/>
          </a:xfrm>
        </p:grpSpPr>
        <p:sp>
          <p:nvSpPr>
            <p:cNvPr id="4" name="Rectangle 3">
              <a:extLst>
                <a:ext uri="{FF2B5EF4-FFF2-40B4-BE49-F238E27FC236}">
                  <a16:creationId xmlns:a16="http://schemas.microsoft.com/office/drawing/2014/main" id="{2882C436-EE49-493B-22D2-598A0AC6F6A9}"/>
                </a:ext>
              </a:extLst>
            </p:cNvPr>
            <p:cNvSpPr/>
            <p:nvPr/>
          </p:nvSpPr>
          <p:spPr>
            <a:xfrm>
              <a:off x="3209925" y="1186114"/>
              <a:ext cx="3629025" cy="9364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4000" dirty="0"/>
                <a:t>Lectures</a:t>
              </a:r>
            </a:p>
            <a:p>
              <a:pPr marL="342900" indent="-342900">
                <a:buFontTx/>
                <a:buChar char="-"/>
              </a:pPr>
              <a:r>
                <a:rPr lang="en-GB" sz="2000" dirty="0"/>
                <a:t>On-campus or online</a:t>
              </a:r>
            </a:p>
          </p:txBody>
        </p:sp>
        <p:sp>
          <p:nvSpPr>
            <p:cNvPr id="6" name="Rectangle 5">
              <a:extLst>
                <a:ext uri="{FF2B5EF4-FFF2-40B4-BE49-F238E27FC236}">
                  <a16:creationId xmlns:a16="http://schemas.microsoft.com/office/drawing/2014/main" id="{7E538D89-7423-767F-1FC0-43523734CE60}"/>
                </a:ext>
              </a:extLst>
            </p:cNvPr>
            <p:cNvSpPr/>
            <p:nvPr/>
          </p:nvSpPr>
          <p:spPr>
            <a:xfrm>
              <a:off x="6838950" y="1186114"/>
              <a:ext cx="3629025" cy="936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600" dirty="0" err="1"/>
                <a:t>Practicals</a:t>
              </a:r>
              <a:endParaRPr lang="en-GB" sz="3600" dirty="0"/>
            </a:p>
            <a:p>
              <a:pPr marL="571500" indent="-571500">
                <a:buFontTx/>
                <a:buChar char="-"/>
              </a:pPr>
              <a:r>
                <a:rPr lang="en-GB" sz="2000" dirty="0"/>
                <a:t>On-campus or online</a:t>
              </a:r>
            </a:p>
          </p:txBody>
        </p:sp>
        <p:sp>
          <p:nvSpPr>
            <p:cNvPr id="7" name="Rectangle 6">
              <a:extLst>
                <a:ext uri="{FF2B5EF4-FFF2-40B4-BE49-F238E27FC236}">
                  <a16:creationId xmlns:a16="http://schemas.microsoft.com/office/drawing/2014/main" id="{8574ABF2-2073-B5D9-3754-83D6BEAB8869}"/>
                </a:ext>
              </a:extLst>
            </p:cNvPr>
            <p:cNvSpPr/>
            <p:nvPr/>
          </p:nvSpPr>
          <p:spPr>
            <a:xfrm>
              <a:off x="5024437" y="2132076"/>
              <a:ext cx="3629025" cy="936437"/>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GB" sz="3600" dirty="0"/>
                <a:t>Assessments</a:t>
              </a:r>
            </a:p>
            <a:p>
              <a:pPr algn="ctr"/>
              <a:r>
                <a:rPr lang="en-GB" sz="2000" dirty="0"/>
                <a:t>Online</a:t>
              </a:r>
              <a:endParaRPr lang="en-GB" sz="3600" dirty="0"/>
            </a:p>
          </p:txBody>
        </p:sp>
      </p:grpSp>
      <p:sp>
        <p:nvSpPr>
          <p:cNvPr id="9" name="Content Placeholder 2">
            <a:extLst>
              <a:ext uri="{FF2B5EF4-FFF2-40B4-BE49-F238E27FC236}">
                <a16:creationId xmlns:a16="http://schemas.microsoft.com/office/drawing/2014/main" id="{697C2C2A-7F07-A559-FFA2-EEA22B7831B9}"/>
              </a:ext>
            </a:extLst>
          </p:cNvPr>
          <p:cNvSpPr txBox="1">
            <a:spLocks/>
          </p:cNvSpPr>
          <p:nvPr/>
        </p:nvSpPr>
        <p:spPr>
          <a:xfrm>
            <a:off x="281276" y="827215"/>
            <a:ext cx="8751628" cy="5459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Course components</a:t>
            </a:r>
          </a:p>
        </p:txBody>
      </p:sp>
    </p:spTree>
    <p:extLst>
      <p:ext uri="{BB962C8B-B14F-4D97-AF65-F5344CB8AC3E}">
        <p14:creationId xmlns:p14="http://schemas.microsoft.com/office/powerpoint/2010/main" val="77933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B573E4-3D23-DF22-A243-07063393DDCA}"/>
              </a:ext>
            </a:extLst>
          </p:cNvPr>
          <p:cNvPicPr>
            <a:picLocks noChangeAspect="1"/>
          </p:cNvPicPr>
          <p:nvPr/>
        </p:nvPicPr>
        <p:blipFill>
          <a:blip r:embed="rId2"/>
          <a:stretch>
            <a:fillRect/>
          </a:stretch>
        </p:blipFill>
        <p:spPr>
          <a:xfrm>
            <a:off x="66475" y="1613241"/>
            <a:ext cx="6401129" cy="2895376"/>
          </a:xfrm>
          <a:prstGeom prst="rect">
            <a:avLst/>
          </a:prstGeom>
        </p:spPr>
      </p:pic>
      <p:sp>
        <p:nvSpPr>
          <p:cNvPr id="2" name="Title 1">
            <a:extLst>
              <a:ext uri="{FF2B5EF4-FFF2-40B4-BE49-F238E27FC236}">
                <a16:creationId xmlns:a16="http://schemas.microsoft.com/office/drawing/2014/main" id="{A062E22A-EB05-4C54-BEAF-02F848DEF8B4}"/>
              </a:ext>
            </a:extLst>
          </p:cNvPr>
          <p:cNvSpPr>
            <a:spLocks noGrp="1"/>
          </p:cNvSpPr>
          <p:nvPr>
            <p:ph type="title"/>
          </p:nvPr>
        </p:nvSpPr>
        <p:spPr/>
        <p:txBody>
          <a:bodyPr/>
          <a:lstStyle/>
          <a:p>
            <a:r>
              <a:rPr lang="en-GB" dirty="0"/>
              <a:t>Lectures</a:t>
            </a:r>
          </a:p>
        </p:txBody>
      </p:sp>
      <p:sp>
        <p:nvSpPr>
          <p:cNvPr id="4" name="TextBox 3">
            <a:extLst>
              <a:ext uri="{FF2B5EF4-FFF2-40B4-BE49-F238E27FC236}">
                <a16:creationId xmlns:a16="http://schemas.microsoft.com/office/drawing/2014/main" id="{010138E2-0305-427F-9AC0-1E55E32F3E93}"/>
              </a:ext>
            </a:extLst>
          </p:cNvPr>
          <p:cNvSpPr txBox="1"/>
          <p:nvPr/>
        </p:nvSpPr>
        <p:spPr>
          <a:xfrm>
            <a:off x="200025" y="782243"/>
            <a:ext cx="4829175" cy="830997"/>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Tx/>
              <a:buChar char="-"/>
            </a:pPr>
            <a:r>
              <a:rPr lang="en-GB" sz="2400" dirty="0"/>
              <a:t>Explain concepts</a:t>
            </a:r>
          </a:p>
          <a:p>
            <a:pPr marL="285750" indent="-285750">
              <a:buFontTx/>
              <a:buChar char="-"/>
            </a:pPr>
            <a:r>
              <a:rPr lang="en-GB" sz="2400" dirty="0"/>
              <a:t>On-campus and recorded</a:t>
            </a:r>
          </a:p>
        </p:txBody>
      </p:sp>
      <p:pic>
        <p:nvPicPr>
          <p:cNvPr id="7" name="Picture 6">
            <a:extLst>
              <a:ext uri="{FF2B5EF4-FFF2-40B4-BE49-F238E27FC236}">
                <a16:creationId xmlns:a16="http://schemas.microsoft.com/office/drawing/2014/main" id="{86260ACC-26A2-FDF0-9BA2-3875A9ACB866}"/>
              </a:ext>
            </a:extLst>
          </p:cNvPr>
          <p:cNvPicPr>
            <a:picLocks noChangeAspect="1"/>
          </p:cNvPicPr>
          <p:nvPr/>
        </p:nvPicPr>
        <p:blipFill>
          <a:blip r:embed="rId3"/>
          <a:stretch>
            <a:fillRect/>
          </a:stretch>
        </p:blipFill>
        <p:spPr>
          <a:xfrm>
            <a:off x="2457285" y="3882953"/>
            <a:ext cx="6401129" cy="2806844"/>
          </a:xfrm>
          <a:prstGeom prst="rect">
            <a:avLst/>
          </a:prstGeom>
        </p:spPr>
      </p:pic>
      <p:sp>
        <p:nvSpPr>
          <p:cNvPr id="9" name="Freeform: Shape 8">
            <a:extLst>
              <a:ext uri="{FF2B5EF4-FFF2-40B4-BE49-F238E27FC236}">
                <a16:creationId xmlns:a16="http://schemas.microsoft.com/office/drawing/2014/main" id="{BBD6D40D-1D2D-393A-7B3A-E670936E833A}"/>
              </a:ext>
            </a:extLst>
          </p:cNvPr>
          <p:cNvSpPr/>
          <p:nvPr/>
        </p:nvSpPr>
        <p:spPr>
          <a:xfrm>
            <a:off x="4329953" y="3039035"/>
            <a:ext cx="2289922" cy="856690"/>
          </a:xfrm>
          <a:custGeom>
            <a:avLst/>
            <a:gdLst>
              <a:gd name="connsiteX0" fmla="*/ 0 w 1162050"/>
              <a:gd name="connsiteY0" fmla="*/ 0 h 819150"/>
              <a:gd name="connsiteX1" fmla="*/ 790575 w 1162050"/>
              <a:gd name="connsiteY1" fmla="*/ 180975 h 819150"/>
              <a:gd name="connsiteX2" fmla="*/ 1162050 w 1162050"/>
              <a:gd name="connsiteY2" fmla="*/ 819150 h 819150"/>
            </a:gdLst>
            <a:ahLst/>
            <a:cxnLst>
              <a:cxn ang="0">
                <a:pos x="connsiteX0" y="connsiteY0"/>
              </a:cxn>
              <a:cxn ang="0">
                <a:pos x="connsiteX1" y="connsiteY1"/>
              </a:cxn>
              <a:cxn ang="0">
                <a:pos x="connsiteX2" y="connsiteY2"/>
              </a:cxn>
            </a:cxnLst>
            <a:rect l="l" t="t" r="r" b="b"/>
            <a:pathLst>
              <a:path w="1162050" h="819150">
                <a:moveTo>
                  <a:pt x="0" y="0"/>
                </a:moveTo>
                <a:cubicBezTo>
                  <a:pt x="298450" y="22225"/>
                  <a:pt x="596900" y="44450"/>
                  <a:pt x="790575" y="180975"/>
                </a:cubicBezTo>
                <a:cubicBezTo>
                  <a:pt x="984250" y="317500"/>
                  <a:pt x="1073150" y="568325"/>
                  <a:pt x="1162050" y="819150"/>
                </a:cubicBezTo>
              </a:path>
            </a:pathLst>
          </a:custGeom>
          <a:noFill/>
          <a:ln>
            <a:solidFill>
              <a:srgbClr val="FF0000"/>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181B2878-D8F7-3CF4-7F28-47BCDC381740}"/>
              </a:ext>
            </a:extLst>
          </p:cNvPr>
          <p:cNvSpPr txBox="1"/>
          <p:nvPr/>
        </p:nvSpPr>
        <p:spPr>
          <a:xfrm>
            <a:off x="400050" y="5286375"/>
            <a:ext cx="1752403" cy="707886"/>
          </a:xfrm>
          <a:prstGeom prst="rect">
            <a:avLst/>
          </a:prstGeom>
          <a:noFill/>
        </p:spPr>
        <p:txBody>
          <a:bodyPr wrap="none" rtlCol="0">
            <a:spAutoFit/>
          </a:bodyPr>
          <a:lstStyle/>
          <a:p>
            <a:pPr marL="285750" indent="-285750">
              <a:buFont typeface="Arial" panose="020B0604020202020204" pitchFamily="34" charset="0"/>
              <a:buChar char="•"/>
            </a:pPr>
            <a:r>
              <a:rPr lang="en-GB" sz="2000" dirty="0"/>
              <a:t>Notebooks</a:t>
            </a:r>
          </a:p>
          <a:p>
            <a:pPr marL="285750" indent="-285750">
              <a:buFont typeface="Arial" panose="020B0604020202020204" pitchFamily="34" charset="0"/>
              <a:buChar char="•"/>
            </a:pPr>
            <a:r>
              <a:rPr lang="en-GB" sz="2000" dirty="0"/>
              <a:t>Recordings</a:t>
            </a:r>
          </a:p>
        </p:txBody>
      </p:sp>
    </p:spTree>
    <p:extLst>
      <p:ext uri="{BB962C8B-B14F-4D97-AF65-F5344CB8AC3E}">
        <p14:creationId xmlns:p14="http://schemas.microsoft.com/office/powerpoint/2010/main" val="313929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2E22A-EB05-4C54-BEAF-02F848DEF8B4}"/>
              </a:ext>
            </a:extLst>
          </p:cNvPr>
          <p:cNvSpPr>
            <a:spLocks noGrp="1"/>
          </p:cNvSpPr>
          <p:nvPr>
            <p:ph type="title"/>
          </p:nvPr>
        </p:nvSpPr>
        <p:spPr/>
        <p:txBody>
          <a:bodyPr/>
          <a:lstStyle/>
          <a:p>
            <a:r>
              <a:rPr lang="en-GB" dirty="0" err="1"/>
              <a:t>Practicals</a:t>
            </a:r>
            <a:endParaRPr lang="en-GB" dirty="0"/>
          </a:p>
        </p:txBody>
      </p:sp>
      <p:sp>
        <p:nvSpPr>
          <p:cNvPr id="4" name="TextBox 3">
            <a:extLst>
              <a:ext uri="{FF2B5EF4-FFF2-40B4-BE49-F238E27FC236}">
                <a16:creationId xmlns:a16="http://schemas.microsoft.com/office/drawing/2014/main" id="{010138E2-0305-427F-9AC0-1E55E32F3E93}"/>
              </a:ext>
            </a:extLst>
          </p:cNvPr>
          <p:cNvSpPr txBox="1"/>
          <p:nvPr/>
        </p:nvSpPr>
        <p:spPr>
          <a:xfrm>
            <a:off x="200025" y="1096568"/>
            <a:ext cx="7658100" cy="46166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Tx/>
              <a:buChar char="-"/>
            </a:pPr>
            <a:r>
              <a:rPr lang="en-GB" sz="2400" dirty="0"/>
              <a:t>After following lectures, you do practical work</a:t>
            </a:r>
          </a:p>
        </p:txBody>
      </p:sp>
      <p:sp>
        <p:nvSpPr>
          <p:cNvPr id="8" name="TextBox 7">
            <a:extLst>
              <a:ext uri="{FF2B5EF4-FFF2-40B4-BE49-F238E27FC236}">
                <a16:creationId xmlns:a16="http://schemas.microsoft.com/office/drawing/2014/main" id="{72DD26C1-BBEC-6234-DDDF-FFC0165985EE}"/>
              </a:ext>
            </a:extLst>
          </p:cNvPr>
          <p:cNvSpPr txBox="1"/>
          <p:nvPr/>
        </p:nvSpPr>
        <p:spPr>
          <a:xfrm>
            <a:off x="266700" y="5382818"/>
            <a:ext cx="7658100" cy="46166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Tx/>
              <a:buChar char="-"/>
            </a:pPr>
            <a:r>
              <a:rPr lang="en-GB" sz="2400" dirty="0"/>
              <a:t>Also “TASKS FOR YOU” in lecture notebooks</a:t>
            </a:r>
          </a:p>
        </p:txBody>
      </p:sp>
      <p:pic>
        <p:nvPicPr>
          <p:cNvPr id="5" name="Picture 4">
            <a:extLst>
              <a:ext uri="{FF2B5EF4-FFF2-40B4-BE49-F238E27FC236}">
                <a16:creationId xmlns:a16="http://schemas.microsoft.com/office/drawing/2014/main" id="{9AB60FD8-28C4-CB3A-374C-4DEF965898FE}"/>
              </a:ext>
            </a:extLst>
          </p:cNvPr>
          <p:cNvPicPr>
            <a:picLocks noChangeAspect="1"/>
          </p:cNvPicPr>
          <p:nvPr/>
        </p:nvPicPr>
        <p:blipFill>
          <a:blip r:embed="rId2"/>
          <a:stretch>
            <a:fillRect/>
          </a:stretch>
        </p:blipFill>
        <p:spPr>
          <a:xfrm>
            <a:off x="1111072" y="1730287"/>
            <a:ext cx="6921856" cy="3397425"/>
          </a:xfrm>
          <a:prstGeom prst="rect">
            <a:avLst/>
          </a:prstGeom>
        </p:spPr>
      </p:pic>
    </p:spTree>
    <p:extLst>
      <p:ext uri="{BB962C8B-B14F-4D97-AF65-F5344CB8AC3E}">
        <p14:creationId xmlns:p14="http://schemas.microsoft.com/office/powerpoint/2010/main" val="2729463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251A-7BA8-442A-A5A1-8C251648A341}"/>
              </a:ext>
            </a:extLst>
          </p:cNvPr>
          <p:cNvSpPr>
            <a:spLocks noGrp="1"/>
          </p:cNvSpPr>
          <p:nvPr>
            <p:ph type="title"/>
          </p:nvPr>
        </p:nvSpPr>
        <p:spPr>
          <a:xfrm>
            <a:off x="0" y="0"/>
            <a:ext cx="9144000" cy="545910"/>
          </a:xfrm>
        </p:spPr>
        <p:txBody>
          <a:bodyPr/>
          <a:lstStyle/>
          <a:p>
            <a:r>
              <a:rPr lang="en-GB" dirty="0"/>
              <a:t>Assessment</a:t>
            </a:r>
          </a:p>
        </p:txBody>
      </p:sp>
      <p:sp>
        <p:nvSpPr>
          <p:cNvPr id="3" name="Content Placeholder 2">
            <a:extLst>
              <a:ext uri="{FF2B5EF4-FFF2-40B4-BE49-F238E27FC236}">
                <a16:creationId xmlns:a16="http://schemas.microsoft.com/office/drawing/2014/main" id="{E88B1128-0DDD-439F-802C-B23F9638A88C}"/>
              </a:ext>
            </a:extLst>
          </p:cNvPr>
          <p:cNvSpPr>
            <a:spLocks noGrp="1"/>
          </p:cNvSpPr>
          <p:nvPr>
            <p:ph idx="1"/>
          </p:nvPr>
        </p:nvSpPr>
        <p:spPr>
          <a:xfrm>
            <a:off x="201303" y="646446"/>
            <a:ext cx="8751628" cy="6021054"/>
          </a:xfrm>
        </p:spPr>
        <p:txBody>
          <a:bodyPr>
            <a:normAutofit fontScale="92500" lnSpcReduction="20000"/>
          </a:bodyPr>
          <a:lstStyle/>
          <a:p>
            <a:pPr marL="0" indent="0">
              <a:lnSpc>
                <a:spcPct val="200000"/>
              </a:lnSpc>
              <a:spcBef>
                <a:spcPts val="0"/>
              </a:spcBef>
              <a:buNone/>
            </a:pPr>
            <a:r>
              <a:rPr lang="en-GB" b="1" u="sng" dirty="0"/>
              <a:t>Assessment 1:</a:t>
            </a:r>
            <a:r>
              <a:rPr lang="en-GB" dirty="0"/>
              <a:t> </a:t>
            </a:r>
          </a:p>
          <a:p>
            <a:pPr>
              <a:lnSpc>
                <a:spcPct val="200000"/>
              </a:lnSpc>
              <a:spcBef>
                <a:spcPts val="0"/>
              </a:spcBef>
            </a:pPr>
            <a:r>
              <a:rPr lang="en-GB" dirty="0"/>
              <a:t>Contribution to final mark: 1/2</a:t>
            </a:r>
          </a:p>
          <a:p>
            <a:pPr>
              <a:lnSpc>
                <a:spcPct val="100000"/>
              </a:lnSpc>
            </a:pPr>
            <a:r>
              <a:rPr lang="en-GB" dirty="0"/>
              <a:t>Online</a:t>
            </a:r>
          </a:p>
          <a:p>
            <a:pPr>
              <a:lnSpc>
                <a:spcPct val="100000"/>
              </a:lnSpc>
            </a:pPr>
            <a:r>
              <a:rPr lang="en-GB" dirty="0"/>
              <a:t>It is about supervised learning (Chapters 3, 4 and 5).</a:t>
            </a:r>
          </a:p>
          <a:p>
            <a:pPr>
              <a:lnSpc>
                <a:spcPct val="100000"/>
              </a:lnSpc>
            </a:pPr>
            <a:r>
              <a:rPr lang="en-GB" dirty="0"/>
              <a:t>Open for 3 days. To be completed in </a:t>
            </a:r>
            <a:r>
              <a:rPr lang="en-GB" b="1" dirty="0"/>
              <a:t>a time window of 3.5 hours </a:t>
            </a:r>
            <a:r>
              <a:rPr lang="en-GB" dirty="0"/>
              <a:t>once you start it.</a:t>
            </a:r>
          </a:p>
          <a:p>
            <a:pPr marL="0" indent="0">
              <a:lnSpc>
                <a:spcPct val="100000"/>
              </a:lnSpc>
              <a:buNone/>
            </a:pPr>
            <a:endParaRPr lang="en-GB" dirty="0"/>
          </a:p>
          <a:p>
            <a:pPr marL="0" indent="0">
              <a:buNone/>
            </a:pPr>
            <a:r>
              <a:rPr lang="en-GB" b="1" u="sng" dirty="0"/>
              <a:t>Assessment 2:</a:t>
            </a:r>
            <a:r>
              <a:rPr lang="en-GB" b="1" dirty="0"/>
              <a:t> </a:t>
            </a:r>
          </a:p>
          <a:p>
            <a:r>
              <a:rPr lang="en-GB" dirty="0"/>
              <a:t>Contribution to final mark: 1/2</a:t>
            </a:r>
          </a:p>
          <a:p>
            <a:r>
              <a:rPr lang="en-GB" dirty="0"/>
              <a:t>Covers </a:t>
            </a:r>
            <a:r>
              <a:rPr lang="en-GB" b="1" dirty="0"/>
              <a:t>all chapters</a:t>
            </a:r>
            <a:r>
              <a:rPr lang="en-GB" dirty="0"/>
              <a:t> (registered in the </a:t>
            </a:r>
            <a:r>
              <a:rPr lang="en-GB" b="1" dirty="0"/>
              <a:t>logbook</a:t>
            </a:r>
            <a:r>
              <a:rPr lang="en-GB" dirty="0"/>
              <a:t> by the end of the course).</a:t>
            </a:r>
          </a:p>
          <a:p>
            <a:r>
              <a:rPr lang="en-GB" dirty="0"/>
              <a:t>Open for 3 days. To be completed in a </a:t>
            </a:r>
            <a:r>
              <a:rPr lang="en-GB" b="1" dirty="0"/>
              <a:t>time window of 3 hours </a:t>
            </a:r>
            <a:r>
              <a:rPr lang="en-GB" dirty="0"/>
              <a:t>once you start it.</a:t>
            </a:r>
          </a:p>
        </p:txBody>
      </p:sp>
    </p:spTree>
    <p:extLst>
      <p:ext uri="{BB962C8B-B14F-4D97-AF65-F5344CB8AC3E}">
        <p14:creationId xmlns:p14="http://schemas.microsoft.com/office/powerpoint/2010/main" val="912821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251A-7BA8-442A-A5A1-8C251648A341}"/>
              </a:ext>
            </a:extLst>
          </p:cNvPr>
          <p:cNvSpPr>
            <a:spLocks noGrp="1"/>
          </p:cNvSpPr>
          <p:nvPr>
            <p:ph type="title"/>
          </p:nvPr>
        </p:nvSpPr>
        <p:spPr/>
        <p:txBody>
          <a:bodyPr/>
          <a:lstStyle/>
          <a:p>
            <a:r>
              <a:rPr lang="en-GB" dirty="0"/>
              <a:t>Assessment – Dates</a:t>
            </a:r>
          </a:p>
        </p:txBody>
      </p:sp>
      <p:sp>
        <p:nvSpPr>
          <p:cNvPr id="3" name="Content Placeholder 2">
            <a:extLst>
              <a:ext uri="{FF2B5EF4-FFF2-40B4-BE49-F238E27FC236}">
                <a16:creationId xmlns:a16="http://schemas.microsoft.com/office/drawing/2014/main" id="{E88B1128-0DDD-439F-802C-B23F9638A88C}"/>
              </a:ext>
            </a:extLst>
          </p:cNvPr>
          <p:cNvSpPr>
            <a:spLocks noGrp="1"/>
          </p:cNvSpPr>
          <p:nvPr>
            <p:ph idx="1"/>
          </p:nvPr>
        </p:nvSpPr>
        <p:spPr>
          <a:xfrm>
            <a:off x="201303" y="969177"/>
            <a:ext cx="8751628" cy="1449054"/>
          </a:xfrm>
        </p:spPr>
        <p:txBody>
          <a:bodyPr>
            <a:normAutofit/>
          </a:bodyPr>
          <a:lstStyle/>
          <a:p>
            <a:pPr marL="0" indent="0">
              <a:buNone/>
            </a:pPr>
            <a:r>
              <a:rPr lang="en-GB" sz="2400" b="1" u="sng" dirty="0"/>
              <a:t>Assessment 1: </a:t>
            </a:r>
            <a:endParaRPr lang="en-GB" sz="2400" dirty="0"/>
          </a:p>
          <a:p>
            <a:r>
              <a:rPr lang="en-GB" sz="2400" b="0" i="0" dirty="0">
                <a:solidFill>
                  <a:srgbClr val="262626"/>
                </a:solidFill>
                <a:effectLst/>
              </a:rPr>
              <a:t> From Thursday 30 April at 00:00 to Saturday 2 May at 23:59.</a:t>
            </a:r>
            <a:endParaRPr lang="en-GB" sz="2400" b="1" u="sng" dirty="0"/>
          </a:p>
        </p:txBody>
      </p:sp>
      <p:sp>
        <p:nvSpPr>
          <p:cNvPr id="5" name="TextBox 4">
            <a:extLst>
              <a:ext uri="{FF2B5EF4-FFF2-40B4-BE49-F238E27FC236}">
                <a16:creationId xmlns:a16="http://schemas.microsoft.com/office/drawing/2014/main" id="{7C4CC2F9-54D8-573F-E599-46BE6DDA67C4}"/>
              </a:ext>
            </a:extLst>
          </p:cNvPr>
          <p:cNvSpPr txBox="1"/>
          <p:nvPr/>
        </p:nvSpPr>
        <p:spPr>
          <a:xfrm>
            <a:off x="201303" y="3228976"/>
            <a:ext cx="8495022" cy="830997"/>
          </a:xfrm>
          <a:prstGeom prst="rect">
            <a:avLst/>
          </a:prstGeom>
          <a:noFill/>
        </p:spPr>
        <p:txBody>
          <a:bodyPr wrap="square">
            <a:spAutoFit/>
          </a:bodyPr>
          <a:lstStyle/>
          <a:p>
            <a:pPr marL="0" indent="0">
              <a:buNone/>
            </a:pPr>
            <a:r>
              <a:rPr lang="en-GB" sz="2400" b="1" u="sng" dirty="0"/>
              <a:t>Assessment 2:</a:t>
            </a:r>
          </a:p>
          <a:p>
            <a:pPr marL="342900" indent="-342900">
              <a:buFont typeface="Arial" panose="020B0604020202020204" pitchFamily="34" charset="0"/>
              <a:buChar char="•"/>
            </a:pPr>
            <a:r>
              <a:rPr lang="en-GB" sz="2400" dirty="0">
                <a:solidFill>
                  <a:srgbClr val="262626"/>
                </a:solidFill>
              </a:rPr>
              <a:t>From Friday 15 May at 00:00 to Sunday 17 May at 23:59.</a:t>
            </a:r>
            <a:endParaRPr lang="en-GB" sz="2400" dirty="0"/>
          </a:p>
        </p:txBody>
      </p:sp>
      <p:sp>
        <p:nvSpPr>
          <p:cNvPr id="4" name="TextBox 3">
            <a:extLst>
              <a:ext uri="{FF2B5EF4-FFF2-40B4-BE49-F238E27FC236}">
                <a16:creationId xmlns:a16="http://schemas.microsoft.com/office/drawing/2014/main" id="{0CC217D7-2629-AAFF-5870-7B75976A5F85}"/>
              </a:ext>
            </a:extLst>
          </p:cNvPr>
          <p:cNvSpPr txBox="1"/>
          <p:nvPr/>
        </p:nvSpPr>
        <p:spPr>
          <a:xfrm>
            <a:off x="201303" y="5369859"/>
            <a:ext cx="8222123" cy="461665"/>
          </a:xfrm>
          <a:prstGeom prst="rect">
            <a:avLst/>
          </a:prstGeom>
          <a:noFill/>
        </p:spPr>
        <p:txBody>
          <a:bodyPr wrap="none" rtlCol="0">
            <a:spAutoFit/>
          </a:bodyPr>
          <a:lstStyle/>
          <a:p>
            <a:r>
              <a:rPr lang="en-GB" sz="2400" b="1" dirty="0"/>
              <a:t>Remark: </a:t>
            </a:r>
            <a:r>
              <a:rPr lang="en-GB" sz="2400" dirty="0"/>
              <a:t>These dates apply to </a:t>
            </a:r>
            <a:r>
              <a:rPr lang="en-GB" sz="2400" b="1" dirty="0"/>
              <a:t>all students </a:t>
            </a:r>
            <a:r>
              <a:rPr lang="en-GB" sz="2400" dirty="0"/>
              <a:t>in the course.</a:t>
            </a:r>
          </a:p>
        </p:txBody>
      </p:sp>
    </p:spTree>
    <p:extLst>
      <p:ext uri="{BB962C8B-B14F-4D97-AF65-F5344CB8AC3E}">
        <p14:creationId xmlns:p14="http://schemas.microsoft.com/office/powerpoint/2010/main" val="3680698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EBE6F-D071-4A1F-AEB3-A659975AD206}"/>
              </a:ext>
            </a:extLst>
          </p:cNvPr>
          <p:cNvSpPr>
            <a:spLocks noGrp="1"/>
          </p:cNvSpPr>
          <p:nvPr>
            <p:ph type="title"/>
          </p:nvPr>
        </p:nvSpPr>
        <p:spPr>
          <a:xfrm>
            <a:off x="623888" y="3590924"/>
            <a:ext cx="7886700" cy="998539"/>
          </a:xfrm>
        </p:spPr>
        <p:txBody>
          <a:bodyPr/>
          <a:lstStyle/>
          <a:p>
            <a:r>
              <a:rPr lang="en-GB" sz="4000" dirty="0"/>
              <a:t>Course contents</a:t>
            </a:r>
          </a:p>
        </p:txBody>
      </p:sp>
      <p:sp>
        <p:nvSpPr>
          <p:cNvPr id="3" name="Text Placeholder 2">
            <a:extLst>
              <a:ext uri="{FF2B5EF4-FFF2-40B4-BE49-F238E27FC236}">
                <a16:creationId xmlns:a16="http://schemas.microsoft.com/office/drawing/2014/main" id="{5ED93D90-A086-4835-9EEE-FD49DEF61606}"/>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35870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251A-7BA8-442A-A5A1-8C251648A341}"/>
              </a:ext>
            </a:extLst>
          </p:cNvPr>
          <p:cNvSpPr>
            <a:spLocks noGrp="1"/>
          </p:cNvSpPr>
          <p:nvPr>
            <p:ph type="title"/>
          </p:nvPr>
        </p:nvSpPr>
        <p:spPr/>
        <p:txBody>
          <a:bodyPr/>
          <a:lstStyle/>
          <a:p>
            <a:r>
              <a:rPr lang="en-GB" dirty="0"/>
              <a:t>Course contents</a:t>
            </a:r>
          </a:p>
        </p:txBody>
      </p:sp>
      <p:sp>
        <p:nvSpPr>
          <p:cNvPr id="9" name="TextBox 8">
            <a:extLst>
              <a:ext uri="{FF2B5EF4-FFF2-40B4-BE49-F238E27FC236}">
                <a16:creationId xmlns:a16="http://schemas.microsoft.com/office/drawing/2014/main" id="{F473B99B-1422-8D87-F4D6-1F114D6942D0}"/>
              </a:ext>
            </a:extLst>
          </p:cNvPr>
          <p:cNvSpPr txBox="1"/>
          <p:nvPr/>
        </p:nvSpPr>
        <p:spPr>
          <a:xfrm>
            <a:off x="357187" y="1296098"/>
            <a:ext cx="8429625" cy="4752391"/>
          </a:xfrm>
          <a:prstGeom prst="rect">
            <a:avLst/>
          </a:prstGeom>
          <a:noFill/>
        </p:spPr>
        <p:txBody>
          <a:bodyPr wrap="square">
            <a:spAutoFit/>
          </a:bodyPr>
          <a:lstStyle/>
          <a:p>
            <a:pPr>
              <a:lnSpc>
                <a:spcPct val="107000"/>
              </a:lnSpc>
              <a:spcAft>
                <a:spcPts val="800"/>
              </a:spcAft>
            </a:pPr>
            <a:r>
              <a:rPr lang="en-GB" sz="1800" b="1" u="sng"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Weeks 1,2:</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Lectures:</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262626"/>
                </a:solidFill>
                <a:effectLst/>
                <a:latin typeface="Open Sans" panose="020B0606030504020204" pitchFamily="34" charset="0"/>
                <a:ea typeface="Times New Roman" panose="02020603050405020304" pitchFamily="18" charset="0"/>
                <a:cs typeface="Times New Roman" panose="02020603050405020304" pitchFamily="18" charset="0"/>
              </a:rPr>
              <a:t>Chapter 1 - Introduction to Machine Learning</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Chapter 2 - A brief introduction to probability (a reminder, mostly covered in previous courses so not covered in detail in our lectures)</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Chapter 3.1 - Supervised learning: Wolfram Language built-in functions for classification (a reminder, mostly covered in previous courses so not covered in detail in our lectures)</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262626"/>
                </a:solidFill>
                <a:effectLst/>
                <a:latin typeface="Open Sans" panose="020B0606030504020204" pitchFamily="34" charset="0"/>
                <a:ea typeface="Times New Roman" panose="02020603050405020304" pitchFamily="18" charset="0"/>
                <a:cs typeface="Times New Roman" panose="02020603050405020304" pitchFamily="18" charset="0"/>
              </a:rPr>
              <a:t>Chapter 3.2 - Training a classifier with labelled inputs</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262626"/>
                </a:solidFill>
                <a:effectLst/>
                <a:latin typeface="Open Sans" panose="020B0606030504020204" pitchFamily="34" charset="0"/>
                <a:ea typeface="Times New Roman" panose="02020603050405020304" pitchFamily="18" charset="0"/>
                <a:cs typeface="Times New Roman" panose="02020603050405020304" pitchFamily="18" charset="0"/>
              </a:rPr>
              <a:t>Chapter 3.3 - Classification with K Nearest Neighbours (KNN)</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GB" sz="1800"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GB" sz="1800"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Practical exercises: Practical notebooks 1 and 2. Also “Tasks for you” set in lectures.</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79179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251A-7BA8-442A-A5A1-8C251648A341}"/>
              </a:ext>
            </a:extLst>
          </p:cNvPr>
          <p:cNvSpPr>
            <a:spLocks noGrp="1"/>
          </p:cNvSpPr>
          <p:nvPr>
            <p:ph type="title"/>
          </p:nvPr>
        </p:nvSpPr>
        <p:spPr/>
        <p:txBody>
          <a:bodyPr/>
          <a:lstStyle/>
          <a:p>
            <a:r>
              <a:rPr lang="en-GB" dirty="0"/>
              <a:t>Course contents</a:t>
            </a:r>
          </a:p>
        </p:txBody>
      </p:sp>
      <p:sp>
        <p:nvSpPr>
          <p:cNvPr id="4" name="TextBox 3">
            <a:extLst>
              <a:ext uri="{FF2B5EF4-FFF2-40B4-BE49-F238E27FC236}">
                <a16:creationId xmlns:a16="http://schemas.microsoft.com/office/drawing/2014/main" id="{5B1E8A20-8394-182A-273E-B597FC1B68EC}"/>
              </a:ext>
            </a:extLst>
          </p:cNvPr>
          <p:cNvSpPr txBox="1"/>
          <p:nvPr/>
        </p:nvSpPr>
        <p:spPr>
          <a:xfrm>
            <a:off x="357187" y="865972"/>
            <a:ext cx="8429625" cy="3129768"/>
          </a:xfrm>
          <a:prstGeom prst="rect">
            <a:avLst/>
          </a:prstGeom>
          <a:noFill/>
        </p:spPr>
        <p:txBody>
          <a:bodyPr wrap="square">
            <a:spAutoFit/>
          </a:bodyPr>
          <a:lstStyle/>
          <a:p>
            <a:pPr>
              <a:lnSpc>
                <a:spcPct val="107000"/>
              </a:lnSpc>
              <a:spcAft>
                <a:spcPts val="800"/>
              </a:spcAft>
            </a:pPr>
            <a:r>
              <a:rPr lang="en-GB" sz="1800" b="1" u="sng"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Week</a:t>
            </a:r>
            <a:r>
              <a:rPr lang="en-GB" b="1" u="sng" kern="0" dirty="0">
                <a:solidFill>
                  <a:srgbClr val="000000"/>
                </a:solidFill>
                <a:latin typeface="Open Sans" panose="020B0606030504020204" pitchFamily="34" charset="0"/>
                <a:ea typeface="Times New Roman" panose="02020603050405020304" pitchFamily="18" charset="0"/>
                <a:cs typeface="Times New Roman" panose="02020603050405020304" pitchFamily="18" charset="0"/>
              </a:rPr>
              <a:t>s</a:t>
            </a:r>
            <a:r>
              <a:rPr lang="en-GB" sz="1800" b="1" u="sng"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 </a:t>
            </a:r>
            <a:r>
              <a:rPr lang="en-GB" b="1" u="sng" kern="0" dirty="0">
                <a:solidFill>
                  <a:srgbClr val="000000"/>
                </a:solidFill>
                <a:latin typeface="Open Sans" panose="020B0606030504020204" pitchFamily="34" charset="0"/>
                <a:ea typeface="Times New Roman" panose="02020603050405020304" pitchFamily="18" charset="0"/>
                <a:cs typeface="Times New Roman" panose="02020603050405020304" pitchFamily="18" charset="0"/>
              </a:rPr>
              <a:t>3,4</a:t>
            </a:r>
            <a:r>
              <a:rPr lang="en-GB" sz="1800" b="1" u="sng"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Lectures:</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262626"/>
                </a:solidFill>
                <a:effectLst/>
                <a:latin typeface="Open Sans" panose="020B0606030504020204" pitchFamily="34" charset="0"/>
                <a:ea typeface="Times New Roman" panose="02020603050405020304" pitchFamily="18" charset="0"/>
                <a:cs typeface="Times New Roman" panose="02020603050405020304" pitchFamily="18" charset="0"/>
              </a:rPr>
              <a:t>Chapter 4 – Learning probability distributions </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262626"/>
                </a:solidFill>
                <a:effectLst/>
                <a:latin typeface="Open Sans" panose="020B0606030504020204" pitchFamily="34" charset="0"/>
                <a:ea typeface="Times New Roman" panose="02020603050405020304" pitchFamily="18" charset="0"/>
                <a:cs typeface="Times New Roman" panose="02020603050405020304" pitchFamily="18" charset="0"/>
              </a:rPr>
              <a:t>Chapter 5.1 - Predicting numerical values</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262626"/>
                </a:solidFill>
                <a:effectLst/>
                <a:latin typeface="Open Sans" panose="020B0606030504020204" pitchFamily="34" charset="0"/>
                <a:ea typeface="Times New Roman" panose="02020603050405020304" pitchFamily="18" charset="0"/>
                <a:cs typeface="Times New Roman" panose="02020603050405020304" pitchFamily="18" charset="0"/>
              </a:rPr>
              <a:t>Chapter 5.2 - Predicting sequences</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262626"/>
                </a:solidFill>
                <a:effectLst/>
                <a:latin typeface="Open Sans" panose="020B0606030504020204" pitchFamily="34" charset="0"/>
                <a:ea typeface="Times New Roman" panose="02020603050405020304" pitchFamily="18" charset="0"/>
                <a:cs typeface="Times New Roman" panose="02020603050405020304" pitchFamily="18" charset="0"/>
              </a:rPr>
              <a:t>Chapter 6 - Unsupervised learning: Clustering</a:t>
            </a:r>
            <a:r>
              <a:rPr lang="en-GB" sz="1800"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 </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Practical exercises: Practical notebooks 2, 3</a:t>
            </a:r>
            <a:r>
              <a:rPr lang="en-GB" kern="0" dirty="0">
                <a:solidFill>
                  <a:srgbClr val="000000"/>
                </a:solidFill>
                <a:latin typeface="Open Sans" panose="020B0606030504020204" pitchFamily="34" charset="0"/>
                <a:ea typeface="Times New Roman" panose="02020603050405020304" pitchFamily="18" charset="0"/>
                <a:cs typeface="Times New Roman" panose="02020603050405020304" pitchFamily="18" charset="0"/>
              </a:rPr>
              <a:t> and 4. </a:t>
            </a:r>
            <a:r>
              <a:rPr lang="en-GB"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Also “Tasks for you” set in lectures.</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E46460B6-3709-81A7-D05F-F4B75479625E}"/>
              </a:ext>
            </a:extLst>
          </p:cNvPr>
          <p:cNvSpPr txBox="1"/>
          <p:nvPr/>
        </p:nvSpPr>
        <p:spPr>
          <a:xfrm>
            <a:off x="252411" y="4307281"/>
            <a:ext cx="8429625" cy="2370072"/>
          </a:xfrm>
          <a:prstGeom prst="rect">
            <a:avLst/>
          </a:prstGeom>
          <a:noFill/>
        </p:spPr>
        <p:txBody>
          <a:bodyPr wrap="square">
            <a:spAutoFit/>
          </a:bodyPr>
          <a:lstStyle/>
          <a:p>
            <a:pPr>
              <a:lnSpc>
                <a:spcPct val="107000"/>
              </a:lnSpc>
              <a:spcAft>
                <a:spcPts val="800"/>
              </a:spcAft>
            </a:pPr>
            <a:r>
              <a:rPr lang="en-GB" sz="1800" b="1" u="sng"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Weeks </a:t>
            </a:r>
            <a:r>
              <a:rPr lang="en-GB" b="1" u="sng" kern="0" dirty="0">
                <a:solidFill>
                  <a:srgbClr val="000000"/>
                </a:solidFill>
                <a:latin typeface="Open Sans" panose="020B0606030504020204" pitchFamily="34" charset="0"/>
                <a:ea typeface="Times New Roman" panose="02020603050405020304" pitchFamily="18" charset="0"/>
                <a:cs typeface="Times New Roman" panose="02020603050405020304" pitchFamily="18" charset="0"/>
              </a:rPr>
              <a:t>5,6</a:t>
            </a:r>
            <a:r>
              <a:rPr lang="en-GB" sz="1800" b="1" u="sng"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a:t>
            </a:r>
            <a:r>
              <a:rPr lang="en-GB" sz="1800"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 </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Lectures:</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262626"/>
                </a:solidFill>
                <a:effectLst/>
                <a:latin typeface="Open Sans" panose="020B0606030504020204" pitchFamily="34" charset="0"/>
                <a:ea typeface="Times New Roman" panose="02020603050405020304" pitchFamily="18" charset="0"/>
                <a:cs typeface="Times New Roman" panose="02020603050405020304" pitchFamily="18" charset="0"/>
              </a:rPr>
              <a:t>Chapter 7 - Logistic regression</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262626"/>
                </a:solidFill>
                <a:effectLst/>
                <a:latin typeface="Open Sans" panose="020B0606030504020204" pitchFamily="34" charset="0"/>
                <a:ea typeface="Times New Roman" panose="02020603050405020304" pitchFamily="18" charset="0"/>
                <a:cs typeface="Times New Roman" panose="02020603050405020304" pitchFamily="18" charset="0"/>
              </a:rPr>
              <a:t>Chapter 8 - Artificial Neural networks</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800" kern="0" dirty="0">
                <a:solidFill>
                  <a:srgbClr val="262626"/>
                </a:solidFill>
                <a:effectLst/>
                <a:latin typeface="Open Sans" panose="020B0606030504020204" pitchFamily="34" charset="0"/>
                <a:ea typeface="Times New Roman" panose="02020603050405020304" pitchFamily="18" charset="0"/>
                <a:cs typeface="Times New Roman" panose="02020603050405020304" pitchFamily="18" charset="0"/>
              </a:rPr>
              <a:t>Chapter 9 – Machine learning with Python</a:t>
            </a:r>
            <a:endParaRPr lang="en-GB" sz="2000" kern="100" dirty="0">
              <a:solidFill>
                <a:srgbClr val="262626"/>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kern="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Practical exercises: Practical notebooks 4 and 5. </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73710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EBE6F-D071-4A1F-AEB3-A659975AD206}"/>
              </a:ext>
            </a:extLst>
          </p:cNvPr>
          <p:cNvSpPr>
            <a:spLocks noGrp="1"/>
          </p:cNvSpPr>
          <p:nvPr>
            <p:ph type="title"/>
          </p:nvPr>
        </p:nvSpPr>
        <p:spPr>
          <a:xfrm>
            <a:off x="623888" y="3267076"/>
            <a:ext cx="7886700" cy="1322388"/>
          </a:xfrm>
        </p:spPr>
        <p:txBody>
          <a:bodyPr/>
          <a:lstStyle/>
          <a:p>
            <a:r>
              <a:rPr lang="en-GB" sz="4000" dirty="0"/>
              <a:t>Bibliography</a:t>
            </a:r>
          </a:p>
        </p:txBody>
      </p:sp>
      <p:sp>
        <p:nvSpPr>
          <p:cNvPr id="3" name="Text Placeholder 2">
            <a:extLst>
              <a:ext uri="{FF2B5EF4-FFF2-40B4-BE49-F238E27FC236}">
                <a16:creationId xmlns:a16="http://schemas.microsoft.com/office/drawing/2014/main" id="{5ED93D90-A086-4835-9EEE-FD49DEF61606}"/>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918007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251A-7BA8-442A-A5A1-8C251648A341}"/>
              </a:ext>
            </a:extLst>
          </p:cNvPr>
          <p:cNvSpPr>
            <a:spLocks noGrp="1"/>
          </p:cNvSpPr>
          <p:nvPr>
            <p:ph type="title"/>
          </p:nvPr>
        </p:nvSpPr>
        <p:spPr/>
        <p:txBody>
          <a:bodyPr/>
          <a:lstStyle/>
          <a:p>
            <a:r>
              <a:rPr lang="en-GB" dirty="0"/>
              <a:t>Bibliography</a:t>
            </a:r>
          </a:p>
        </p:txBody>
      </p:sp>
      <p:sp>
        <p:nvSpPr>
          <p:cNvPr id="3" name="Content Placeholder 2">
            <a:extLst>
              <a:ext uri="{FF2B5EF4-FFF2-40B4-BE49-F238E27FC236}">
                <a16:creationId xmlns:a16="http://schemas.microsoft.com/office/drawing/2014/main" id="{E88B1128-0DDD-439F-802C-B23F9638A88C}"/>
              </a:ext>
            </a:extLst>
          </p:cNvPr>
          <p:cNvSpPr>
            <a:spLocks noGrp="1"/>
          </p:cNvSpPr>
          <p:nvPr>
            <p:ph idx="1"/>
          </p:nvPr>
        </p:nvSpPr>
        <p:spPr>
          <a:xfrm>
            <a:off x="201303" y="646446"/>
            <a:ext cx="8751628" cy="5982954"/>
          </a:xfrm>
        </p:spPr>
        <p:txBody>
          <a:bodyPr>
            <a:normAutofit lnSpcReduction="10000"/>
          </a:bodyPr>
          <a:lstStyle/>
          <a:p>
            <a:pPr marL="0" indent="0">
              <a:buNone/>
            </a:pPr>
            <a:r>
              <a:rPr lang="en-GB" sz="2000" b="1" dirty="0"/>
              <a:t>No specific book is followed in the course</a:t>
            </a:r>
            <a:r>
              <a:rPr lang="en-GB" sz="2000" dirty="0"/>
              <a:t>. However, you may find some books in this list useful:</a:t>
            </a:r>
          </a:p>
          <a:p>
            <a:endParaRPr lang="en-GB" sz="2000" dirty="0"/>
          </a:p>
          <a:p>
            <a:r>
              <a:rPr lang="en-GB" sz="2000" dirty="0"/>
              <a:t>Paul Wilmott "Machine Learning: An Applied Mathematics Introduction", Panda </a:t>
            </a:r>
            <a:r>
              <a:rPr lang="en-GB" sz="2000" dirty="0" err="1"/>
              <a:t>Ohana</a:t>
            </a:r>
            <a:r>
              <a:rPr lang="en-GB" sz="2000" dirty="0"/>
              <a:t> (2019)</a:t>
            </a:r>
          </a:p>
          <a:p>
            <a:pPr marL="0" indent="0">
              <a:spcBef>
                <a:spcPts val="600"/>
              </a:spcBef>
              <a:buNone/>
            </a:pPr>
            <a:r>
              <a:rPr lang="en-GB" sz="1800" dirty="0">
                <a:effectLst/>
              </a:rPr>
              <a:t>Explains how some key methods work. Gives mathematical details but they are introduced in a pedagogical way. Contains interesting examples. Very enjoyable.</a:t>
            </a:r>
            <a:endParaRPr lang="en-GB" sz="1800" dirty="0"/>
          </a:p>
          <a:p>
            <a:pPr marL="0" indent="0">
              <a:buNone/>
            </a:pPr>
            <a:r>
              <a:rPr lang="en-GB" sz="1800" dirty="0"/>
              <a:t>Not available online but in print version is not too expensive.</a:t>
            </a:r>
          </a:p>
          <a:p>
            <a:pPr marL="0" indent="0">
              <a:buNone/>
            </a:pPr>
            <a:endParaRPr lang="en-GB" sz="2000" dirty="0"/>
          </a:p>
          <a:p>
            <a:r>
              <a:rPr lang="en-GB" sz="2000" dirty="0"/>
              <a:t>Etienne Bernard “Introduction to Machine Learning” Wolfram Media (2021).</a:t>
            </a:r>
          </a:p>
          <a:p>
            <a:pPr marL="0" indent="0">
              <a:buNone/>
            </a:pPr>
            <a:r>
              <a:rPr lang="en-GB" sz="1800" dirty="0"/>
              <a:t>Based on Wolfram Language. Covers well the basics of machine learning. </a:t>
            </a:r>
          </a:p>
          <a:p>
            <a:pPr marL="0" indent="0">
              <a:buNone/>
            </a:pPr>
            <a:r>
              <a:rPr lang="en-GB" sz="1800" dirty="0">
                <a:hlinkClick r:id="rId2"/>
              </a:rPr>
              <a:t>https://www.wolfram-media.com/products/introduction-to-machine-learning.html</a:t>
            </a:r>
            <a:endParaRPr lang="en-GB" sz="1800" dirty="0"/>
          </a:p>
          <a:p>
            <a:endParaRPr lang="en-GB" sz="2000" b="0" i="0" dirty="0">
              <a:solidFill>
                <a:srgbClr val="262626"/>
              </a:solidFill>
              <a:effectLst/>
            </a:endParaRPr>
          </a:p>
          <a:p>
            <a:r>
              <a:rPr lang="en-GB" sz="2000" b="0" i="0" dirty="0" err="1">
                <a:solidFill>
                  <a:srgbClr val="262626"/>
                </a:solidFill>
                <a:effectLst/>
              </a:rPr>
              <a:t>Aurélien</a:t>
            </a:r>
            <a:r>
              <a:rPr lang="en-GB" sz="2000" b="0" i="0" dirty="0">
                <a:solidFill>
                  <a:srgbClr val="262626"/>
                </a:solidFill>
                <a:effectLst/>
              </a:rPr>
              <a:t> </a:t>
            </a:r>
            <a:r>
              <a:rPr lang="en-GB" sz="2000" b="0" i="0" dirty="0" err="1">
                <a:solidFill>
                  <a:srgbClr val="262626"/>
                </a:solidFill>
                <a:effectLst/>
              </a:rPr>
              <a:t>Géron</a:t>
            </a:r>
            <a:r>
              <a:rPr lang="en-GB" sz="2000" b="0" i="0" dirty="0">
                <a:solidFill>
                  <a:srgbClr val="262626"/>
                </a:solidFill>
                <a:effectLst/>
              </a:rPr>
              <a:t> "Hands-on Machine Learning with Scikit-Learn, </a:t>
            </a:r>
            <a:r>
              <a:rPr lang="en-GB" sz="2000" b="0" i="0" dirty="0" err="1">
                <a:solidFill>
                  <a:srgbClr val="262626"/>
                </a:solidFill>
                <a:effectLst/>
              </a:rPr>
              <a:t>Keras</a:t>
            </a:r>
            <a:r>
              <a:rPr lang="en-GB" sz="2000" b="0" i="0" dirty="0">
                <a:solidFill>
                  <a:srgbClr val="262626"/>
                </a:solidFill>
                <a:effectLst/>
              </a:rPr>
              <a:t> &amp; TensorFlow", O'Reilly (2019)</a:t>
            </a:r>
          </a:p>
          <a:p>
            <a:pPr marL="0" indent="0">
              <a:buNone/>
            </a:pPr>
            <a:r>
              <a:rPr lang="en-GB" sz="2000" dirty="0">
                <a:solidFill>
                  <a:srgbClr val="262626"/>
                </a:solidFill>
              </a:rPr>
              <a:t>Machine learning with Python. [</a:t>
            </a:r>
            <a:r>
              <a:rPr lang="en-GB" sz="2000" dirty="0">
                <a:solidFill>
                  <a:srgbClr val="262626"/>
                </a:solidFill>
                <a:hlinkClick r:id="rId3"/>
              </a:rPr>
              <a:t>https://abdn.primo.exlibrisgroup.com/permalink/44ABE_INST/1jd70l9/alma9918477297305941</a:t>
            </a:r>
            <a:r>
              <a:rPr lang="en-GB" sz="2000" dirty="0">
                <a:solidFill>
                  <a:srgbClr val="262626"/>
                </a:solidFill>
              </a:rPr>
              <a:t>]</a:t>
            </a:r>
            <a:endParaRPr lang="en-GB" sz="3200" dirty="0"/>
          </a:p>
          <a:p>
            <a:pPr marL="0" indent="0">
              <a:buNone/>
            </a:pPr>
            <a:endParaRPr lang="en-GB" sz="2000" dirty="0"/>
          </a:p>
          <a:p>
            <a:pPr marL="0" indent="0">
              <a:buNone/>
            </a:pPr>
            <a:endParaRPr lang="en-GB" sz="2000" dirty="0"/>
          </a:p>
        </p:txBody>
      </p:sp>
    </p:spTree>
    <p:extLst>
      <p:ext uri="{BB962C8B-B14F-4D97-AF65-F5344CB8AC3E}">
        <p14:creationId xmlns:p14="http://schemas.microsoft.com/office/powerpoint/2010/main" val="4275773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251A-7BA8-442A-A5A1-8C251648A341}"/>
              </a:ext>
            </a:extLst>
          </p:cNvPr>
          <p:cNvSpPr>
            <a:spLocks noGrp="1"/>
          </p:cNvSpPr>
          <p:nvPr>
            <p:ph type="title"/>
          </p:nvPr>
        </p:nvSpPr>
        <p:spPr/>
        <p:txBody>
          <a:bodyPr/>
          <a:lstStyle/>
          <a:p>
            <a:r>
              <a:rPr lang="en-GB" dirty="0"/>
              <a:t>Bibliography</a:t>
            </a:r>
          </a:p>
        </p:txBody>
      </p:sp>
      <p:sp>
        <p:nvSpPr>
          <p:cNvPr id="3" name="Content Placeholder 2">
            <a:extLst>
              <a:ext uri="{FF2B5EF4-FFF2-40B4-BE49-F238E27FC236}">
                <a16:creationId xmlns:a16="http://schemas.microsoft.com/office/drawing/2014/main" id="{E88B1128-0DDD-439F-802C-B23F9638A88C}"/>
              </a:ext>
            </a:extLst>
          </p:cNvPr>
          <p:cNvSpPr>
            <a:spLocks noGrp="1"/>
          </p:cNvSpPr>
          <p:nvPr>
            <p:ph idx="1"/>
          </p:nvPr>
        </p:nvSpPr>
        <p:spPr>
          <a:xfrm>
            <a:off x="201303" y="646446"/>
            <a:ext cx="8751628" cy="6211554"/>
          </a:xfrm>
        </p:spPr>
        <p:txBody>
          <a:bodyPr>
            <a:normAutofit/>
          </a:bodyPr>
          <a:lstStyle/>
          <a:p>
            <a:r>
              <a:rPr lang="en-GB" sz="2400" dirty="0"/>
              <a:t>Jeremy Watt, Reza </a:t>
            </a:r>
            <a:r>
              <a:rPr lang="en-GB" sz="2400" dirty="0" err="1"/>
              <a:t>Borhani</a:t>
            </a:r>
            <a:r>
              <a:rPr lang="en-GB" sz="2400" dirty="0"/>
              <a:t>, </a:t>
            </a:r>
            <a:r>
              <a:rPr lang="en-GB" sz="2400" dirty="0" err="1"/>
              <a:t>Aggelos</a:t>
            </a:r>
            <a:r>
              <a:rPr lang="en-GB" sz="2400" dirty="0"/>
              <a:t> K. </a:t>
            </a:r>
            <a:r>
              <a:rPr lang="en-GB" sz="2400" dirty="0" err="1"/>
              <a:t>Katsaggelos</a:t>
            </a:r>
            <a:r>
              <a:rPr lang="en-GB" sz="2400" dirty="0"/>
              <a:t> "Machine Learning Refined: Foundations, Algorithms, and Applications" Cambridge University Press, 2nd Edition (2020)</a:t>
            </a:r>
          </a:p>
          <a:p>
            <a:pPr marL="0" indent="0">
              <a:buNone/>
            </a:pPr>
            <a:r>
              <a:rPr lang="en-GB" sz="2000" dirty="0"/>
              <a:t>More in depth coverage of key mathematical concepts such as optimization. The algorithms used in the course involve these methods but we will not focus on these mathematical details in depth.</a:t>
            </a:r>
          </a:p>
          <a:p>
            <a:pPr marL="0" indent="0">
              <a:buNone/>
            </a:pPr>
            <a:r>
              <a:rPr lang="en-GB" sz="2000" dirty="0"/>
              <a:t>[</a:t>
            </a:r>
            <a:r>
              <a:rPr lang="en-GB" sz="2000" dirty="0">
                <a:hlinkClick r:id="rId2"/>
              </a:rPr>
              <a:t>https://abdn.primo.exlibrisgroup.com/permalink/44ABE_INST/tvkctg/cdi_askewsholts_vlebooks_9781316402276</a:t>
            </a:r>
            <a:r>
              <a:rPr lang="en-GB" sz="2000" dirty="0"/>
              <a:t> ]</a:t>
            </a:r>
          </a:p>
          <a:p>
            <a:pPr marL="0" indent="0">
              <a:buNone/>
            </a:pPr>
            <a:endParaRPr lang="en-GB" sz="2000" dirty="0"/>
          </a:p>
          <a:p>
            <a:r>
              <a:rPr lang="en-GB" sz="2400" dirty="0"/>
              <a:t>Kevin P. Murphy "Machine Learning: A Probabilistic Perspective" The MIT Press (2012)</a:t>
            </a:r>
          </a:p>
          <a:p>
            <a:pPr marL="0" indent="0">
              <a:buNone/>
            </a:pPr>
            <a:r>
              <a:rPr lang="en-GB" sz="2000" dirty="0"/>
              <a:t>Very complete. It might be mathematically challenging. Goes well beyond this course.</a:t>
            </a:r>
          </a:p>
          <a:p>
            <a:pPr marL="0" indent="0">
              <a:buNone/>
            </a:pPr>
            <a:r>
              <a:rPr lang="en-GB" sz="2000" dirty="0"/>
              <a:t>Available online from library: </a:t>
            </a:r>
            <a:r>
              <a:rPr lang="en-GB" sz="2000" dirty="0">
                <a:hlinkClick r:id="rId3"/>
              </a:rPr>
              <a:t>https://abdn.primo.exlibrisgroup.com/permalink/44ABE_INST/1jd70l9/alma990016075260205941</a:t>
            </a:r>
            <a:r>
              <a:rPr lang="en-GB" sz="2000" dirty="0"/>
              <a:t> </a:t>
            </a:r>
          </a:p>
          <a:p>
            <a:pPr marL="0" indent="0">
              <a:buNone/>
            </a:pPr>
            <a:endParaRPr lang="en-GB" sz="2000" dirty="0"/>
          </a:p>
          <a:p>
            <a:pPr marL="0" indent="0">
              <a:buNone/>
            </a:pPr>
            <a:endParaRPr lang="en-GB" sz="2400" dirty="0"/>
          </a:p>
          <a:p>
            <a:pPr marL="0" indent="0">
              <a:buNone/>
            </a:pPr>
            <a:endParaRPr lang="en-GB" sz="2400" dirty="0"/>
          </a:p>
        </p:txBody>
      </p:sp>
    </p:spTree>
    <p:extLst>
      <p:ext uri="{BB962C8B-B14F-4D97-AF65-F5344CB8AC3E}">
        <p14:creationId xmlns:p14="http://schemas.microsoft.com/office/powerpoint/2010/main" val="1437175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EBE6F-D071-4A1F-AEB3-A659975AD206}"/>
              </a:ext>
            </a:extLst>
          </p:cNvPr>
          <p:cNvSpPr>
            <a:spLocks noGrp="1"/>
          </p:cNvSpPr>
          <p:nvPr>
            <p:ph type="title"/>
          </p:nvPr>
        </p:nvSpPr>
        <p:spPr>
          <a:xfrm>
            <a:off x="623888" y="3267076"/>
            <a:ext cx="7886700" cy="1322388"/>
          </a:xfrm>
        </p:spPr>
        <p:txBody>
          <a:bodyPr/>
          <a:lstStyle/>
          <a:p>
            <a:r>
              <a:rPr lang="en-GB" sz="4000" dirty="0"/>
              <a:t>Assistance - Contact</a:t>
            </a:r>
          </a:p>
        </p:txBody>
      </p:sp>
      <p:sp>
        <p:nvSpPr>
          <p:cNvPr id="3" name="Text Placeholder 2">
            <a:extLst>
              <a:ext uri="{FF2B5EF4-FFF2-40B4-BE49-F238E27FC236}">
                <a16:creationId xmlns:a16="http://schemas.microsoft.com/office/drawing/2014/main" id="{5ED93D90-A086-4835-9EEE-FD49DEF61606}"/>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870491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251A-7BA8-442A-A5A1-8C251648A341}"/>
              </a:ext>
            </a:extLst>
          </p:cNvPr>
          <p:cNvSpPr>
            <a:spLocks noGrp="1"/>
          </p:cNvSpPr>
          <p:nvPr>
            <p:ph type="title"/>
          </p:nvPr>
        </p:nvSpPr>
        <p:spPr/>
        <p:txBody>
          <a:bodyPr/>
          <a:lstStyle/>
          <a:p>
            <a:r>
              <a:rPr lang="en-GB" dirty="0"/>
              <a:t>Assistance - Contact</a:t>
            </a:r>
          </a:p>
        </p:txBody>
      </p:sp>
      <p:sp>
        <p:nvSpPr>
          <p:cNvPr id="3" name="Content Placeholder 2">
            <a:extLst>
              <a:ext uri="{FF2B5EF4-FFF2-40B4-BE49-F238E27FC236}">
                <a16:creationId xmlns:a16="http://schemas.microsoft.com/office/drawing/2014/main" id="{E88B1128-0DDD-439F-802C-B23F9638A88C}"/>
              </a:ext>
            </a:extLst>
          </p:cNvPr>
          <p:cNvSpPr>
            <a:spLocks noGrp="1"/>
          </p:cNvSpPr>
          <p:nvPr>
            <p:ph idx="1"/>
          </p:nvPr>
        </p:nvSpPr>
        <p:spPr>
          <a:xfrm>
            <a:off x="201303" y="646446"/>
            <a:ext cx="8695047" cy="5249529"/>
          </a:xfrm>
        </p:spPr>
        <p:txBody>
          <a:bodyPr>
            <a:normAutofit/>
          </a:bodyPr>
          <a:lstStyle/>
          <a:p>
            <a:pPr>
              <a:lnSpc>
                <a:spcPct val="100000"/>
              </a:lnSpc>
            </a:pPr>
            <a:r>
              <a:rPr lang="en-GB" dirty="0"/>
              <a:t>Do not hesitate to get in touch if you have questions</a:t>
            </a:r>
          </a:p>
          <a:p>
            <a:pPr>
              <a:lnSpc>
                <a:spcPct val="100000"/>
              </a:lnSpc>
            </a:pPr>
            <a:r>
              <a:rPr lang="en-GB" dirty="0"/>
              <a:t>Important: Talk to us before you get lost or utterly disappointed :-) </a:t>
            </a:r>
          </a:p>
          <a:p>
            <a:pPr>
              <a:lnSpc>
                <a:spcPct val="100000"/>
              </a:lnSpc>
            </a:pPr>
            <a:r>
              <a:rPr lang="en-GB" dirty="0"/>
              <a:t>Practical sessions are ideal to ask questions and discuss</a:t>
            </a:r>
          </a:p>
          <a:p>
            <a:pPr>
              <a:lnSpc>
                <a:spcPct val="100000"/>
              </a:lnSpc>
            </a:pPr>
            <a:r>
              <a:rPr lang="en-GB" dirty="0"/>
              <a:t>Contact:</a:t>
            </a:r>
          </a:p>
          <a:p>
            <a:pPr lvl="1">
              <a:lnSpc>
                <a:spcPct val="100000"/>
              </a:lnSpc>
            </a:pPr>
            <a:r>
              <a:rPr lang="en-GB" dirty="0"/>
              <a:t>Lecturer: Paco Perez-Reche (</a:t>
            </a:r>
            <a:r>
              <a:rPr lang="en-GB" dirty="0">
                <a:hlinkClick r:id="rId2"/>
              </a:rPr>
              <a:t>fperez-reche@abdn.ac.uk</a:t>
            </a:r>
            <a:r>
              <a:rPr lang="en-GB" dirty="0"/>
              <a:t>). 158 Fraser Noble.</a:t>
            </a:r>
          </a:p>
          <a:p>
            <a:pPr lvl="1">
              <a:lnSpc>
                <a:spcPct val="100000"/>
              </a:lnSpc>
            </a:pPr>
            <a:r>
              <a:rPr lang="en-GB" dirty="0" err="1"/>
              <a:t>Practicals</a:t>
            </a:r>
            <a:r>
              <a:rPr lang="en-GB" dirty="0"/>
              <a:t>: Pakayal Boar (</a:t>
            </a:r>
            <a:r>
              <a:rPr lang="en-GB" dirty="0">
                <a:hlinkClick r:id="rId3"/>
              </a:rPr>
              <a:t>p.boar.23@abdn.ac.uk</a:t>
            </a:r>
            <a:r>
              <a:rPr lang="en-GB" dirty="0"/>
              <a:t>). </a:t>
            </a:r>
          </a:p>
          <a:p>
            <a:pPr lvl="1">
              <a:lnSpc>
                <a:spcPct val="100000"/>
              </a:lnSpc>
            </a:pPr>
            <a:r>
              <a:rPr lang="en-GB" dirty="0"/>
              <a:t>School office: Rowena Hardy (</a:t>
            </a:r>
            <a:r>
              <a:rPr lang="en-GB" dirty="0">
                <a:hlinkClick r:id="rId4"/>
              </a:rPr>
              <a:t>ncspgt@abdn.ac.uk</a:t>
            </a:r>
            <a:r>
              <a:rPr lang="en-GB" dirty="0"/>
              <a:t>)</a:t>
            </a:r>
          </a:p>
        </p:txBody>
      </p:sp>
    </p:spTree>
    <p:extLst>
      <p:ext uri="{BB962C8B-B14F-4D97-AF65-F5344CB8AC3E}">
        <p14:creationId xmlns:p14="http://schemas.microsoft.com/office/powerpoint/2010/main" val="39742660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ctures_PX1016.potx" id="{06F4455D-F171-4B18-92F6-044908AB7198}" vid="{50C30539-7741-47FB-AAF9-6BE0B08A6F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Lectures_PX1016_Template</Template>
  <TotalTime>739</TotalTime>
  <Words>1064</Words>
  <Application>Microsoft Office PowerPoint</Application>
  <PresentationFormat>On-screen Show (4:3)</PresentationFormat>
  <Paragraphs>118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Open Sans</vt:lpstr>
      <vt:lpstr>Symbol</vt:lpstr>
      <vt:lpstr>Georgia</vt:lpstr>
      <vt:lpstr>Office Theme</vt:lpstr>
      <vt:lpstr>Machine Learning (MSc in Data Science)</vt:lpstr>
      <vt:lpstr>Course guide</vt:lpstr>
      <vt:lpstr>Aims and Learning Outcomes</vt:lpstr>
      <vt:lpstr>Aims of the course</vt:lpstr>
      <vt:lpstr>Aims of the course</vt:lpstr>
      <vt:lpstr>Spirit of the course</vt:lpstr>
      <vt:lpstr>Teaching organisation &amp; assessment</vt:lpstr>
      <vt:lpstr>Teaching organisation</vt:lpstr>
      <vt:lpstr>Lectures</vt:lpstr>
      <vt:lpstr>Practicals</vt:lpstr>
      <vt:lpstr>Assessment</vt:lpstr>
      <vt:lpstr>Assessment – Dates</vt:lpstr>
      <vt:lpstr>Course contents</vt:lpstr>
      <vt:lpstr>Course contents</vt:lpstr>
      <vt:lpstr>Course contents</vt:lpstr>
      <vt:lpstr>Bibliography</vt:lpstr>
      <vt:lpstr>Bibliography</vt:lpstr>
      <vt:lpstr>Bibliography</vt:lpstr>
      <vt:lpstr>Assistance - Contact</vt:lpstr>
      <vt:lpstr>Assistance - Contact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PX5009, PX5017 - Machine Learning</dc:title>
  <dc:creator>Perez-Reche, Francisco</dc:creator>
  <cp:lastModifiedBy>Perez-Reche, Francisco</cp:lastModifiedBy>
  <cp:revision>31</cp:revision>
  <dcterms:created xsi:type="dcterms:W3CDTF">2021-11-06T17:25:03Z</dcterms:created>
  <dcterms:modified xsi:type="dcterms:W3CDTF">2026-03-15T11:13:54Z</dcterms:modified>
</cp:coreProperties>
</file>